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26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27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340" r:id="rId4"/>
    <p:sldId id="359" r:id="rId5"/>
    <p:sldId id="360" r:id="rId6"/>
    <p:sldId id="361" r:id="rId7"/>
    <p:sldId id="362" r:id="rId8"/>
    <p:sldId id="312" r:id="rId9"/>
    <p:sldId id="332" r:id="rId10"/>
    <p:sldId id="345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373" r:id="rId22"/>
    <p:sldId id="374" r:id="rId23"/>
    <p:sldId id="375" r:id="rId24"/>
    <p:sldId id="376" r:id="rId25"/>
    <p:sldId id="377" r:id="rId26"/>
    <p:sldId id="378" r:id="rId27"/>
    <p:sldId id="379" r:id="rId28"/>
    <p:sldId id="281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gSE3pmRORSF/beTMrWOScEMNow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43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05:17:13.55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0 345 24575,'4'-1'0,"0"0"0,0-1 0,-1 1 0,1-1 0,-1 0 0,1 0 0,-1 0 0,0-1 0,0 1 0,0-1 0,0 1 0,0-1 0,4-6 0,2 0 0,21-18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05:17:44.71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273 12 21684,'5'-11'-5300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05:17:44.71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680 232 23150,'41'-57'0,"16"-23"463,-19 22-463,-18 21-7229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05:41:47.48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0 541 24575,'10'-8'0,"0"0"0,0 0 0,1 1 0,-1 1 0,2-1 0,21-7 0,3-3 0,199-108 0,54-26 0,-66 35 0,-212 110 32,-1-1 1,0 0-1,13-11 0,11-9-1526,-20 18-5332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05:42:02.41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0 391 24575,'0'-10'0,"15"-8"0,14-10 0,7-11 0,3 2 0,-6 2 0,-3 2 0,-7 2 0,-3 1 0,0 7 0,-3 1 0,-4 0 0,0 3 0,-2 1 0,2 3 0,-1 4-8191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05:42:27.42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1019 24575,'614'-568'0,"-496"470"0,3 5 0,153-88 0,-178 116-1365,-77 52-5461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05:42:56.27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0 872 24575,'91'-130'0,"-39"53"0,3 3 0,4 3 0,100-97 0,-98 104 0,-7 7 0,-41 43 0,-1 0 0,12-17 0,16-18 0,-7 13-23,-13 14-648,31-28 0,-33 36-6155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05:43:16.41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0 387 24575,'1'-4'0,"-1"-1"0,1 1 0,0 1 0,0-1 0,0 0 0,0 0 0,1 0 0,0 0 0,-1 1 0,5-6 0,26-34 0,-19 27 0,37-42 0,105-93 0,-120 111 3,-22 23-1371,-1 3-5458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05:43:38.71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0 343 24575,'3'-1'0,"0"1"0,0-1 0,0 0 0,0 1 0,0-1 0,-1 0 0,1-1 0,0 1 0,-1-1 0,1 1 0,3-4 0,28-25 0,-22 19 0,35-34 0,29-24 0,17 8 0,-4 2 0,-85 55-195,0 1 0,0 0 0,-1-1 0,1 0 0,-1 0 0,6-9 0,-1-4-6631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04:44:52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05:59:25.59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1465 1 24575,'-8'0'0,"0"1"0,0 0 0,-1 0 0,2 1 0,-1 0 0,0 1 0,-11 4 0,-49 30 0,53-27 0,-187 131 0,12 18 0,144-120 0,-160 158 0,-4 3 0,114-109 0,49-45 0,32-30 0,1 1 0,-20 31 0,3-5 0,-25 33-46,20-26-613,-71 78-1,90-112-6166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05:59:26.81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0 24575,'4'0'0,"0"0"0,0 1 0,0-1 0,0 1 0,0 0 0,0 0 0,0 0 0,0 1 0,-1-1 0,1 1 0,0 0 0,-1 0 0,5 3 0,11 6 0,1036 527-2293,-1030-526 2293,632 287 35,-311-142 248,-317-144-423,-7-4-5936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05:59:42.13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05:59:42.69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1007 0 24575,'-7'5'0,"-1"0"0,1 1 0,0-1 0,1 1 0,-1 1 0,1-1 0,0 1 0,-6 11 0,-8 7 0,-280 297 0,258-278 0,28-28 0,-27 23 0,-8 10 0,36-36 0,1-1 0,0 2 0,1-1 0,0 2 0,-17 30 0,7-11 0,-30 42 0,-4-2 0,-2-3 0,-98 94 0,122-130-1365,18-19-5461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05:59:44.08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 24575,'22'40'0,"2"0"0,2-2 0,49 57 0,-47-60 0,447 479 0,-346-381 0,-104-108 0,1-1 0,1-1 0,1-1 0,32 19 0,-51-35 0,-1-1 0,0 2 0,0-1 0,0 1 0,-1 0 0,0 0 0,0 1 0,-1 0 0,0 1 0,0-1 0,-1 1 0,0 0 0,-1 0 0,0 1 0,6 18 0,-8-23 0,0 1 0,0-1 0,1 0 0,0 0 0,0 0 0,1 0 0,-1 0 0,8 6 0,39 33 0,-11-11 0,-23-18-1365,-1-3-5461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06:00:02.31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1 623 24575,'20'15'0,"-1"1"0,0 1 0,26 30 0,-12-12 0,17 17 0,9 10 0,78 64 0,-131-122 0,1 1 0,-1-1 0,1 1 0,0-2 0,0 1 0,9 2 0,-13-5 0,0 0 0,0 0 0,1-1 0,-1 1 0,0-1 0,1 0 0,-1 1 0,0-2 0,1 1 0,-1 0 0,0-1 0,1 1 0,-1-1 0,0 0 0,0 0 0,5-3 0,10-6 0,0-1 0,-1-1 0,-1-1 0,23-21 0,54-66 0,-56 58 0,6-5 0,5-4 0,45-64 0,-62 76 0,1 0 0,60-53 0,-32 32 0,73-97 0,-106 119 0,-22 28 0,1 2 0,0-1 0,0 1 0,1-1 0,0 2 0,0-1 0,1 1 0,0 0 0,13-8 0,2 2 0,33-26 0,-39 28-1365,-1 3-5461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06:05:34.02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10BFD5F-4660-048A-07F9-B14B7ECB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C971283-068E-1525-124F-EAE47DBA4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06513BF-0D2E-4682-7097-43AE60EEA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0890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D88FEF53-EA93-4C22-0818-D8A77A9B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EF55E81D-F177-9C71-5F0F-ADD48DE11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D0E796D-B717-E179-6228-DA22C41A4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7259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D41E346-0589-0599-F055-7BADA3A2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3D385925-DC50-CF19-BC42-DB1A2026B5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ADBA1CE-D362-F970-4F4E-9EC4B0249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1990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DCB4B84-A468-F9B6-AC1C-7ED34E23F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02F0D66C-715E-604A-969A-808EE55BA1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5DFF9EB-F303-4FB9-8CD0-DEEFAB5F8C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3017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0301E4A-1195-FD73-5629-AEB01276C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59150AF-1B2D-F25D-9ADB-CB0FF7EAEA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AF17BC5C-24AB-4F89-BB43-EDE6439721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5297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FA0B2C1-CDEC-FBE1-9131-2D8D1BD21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40F54BC-4CE0-E0BA-D2FC-941EE51030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CA48E19C-A97D-8925-D22C-F669F2910B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5651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19660BA-3977-377F-B215-FBB2AA2C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A563F7B1-383D-A3B0-8720-6C62C9D6D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0BCE0C7-18C4-B367-3D24-459DA3702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653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5B04DCB-9346-A03B-B359-FAE66E965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E1374B8-78BE-18BB-A3E0-3644C88EA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0BAEC707-D526-1BFD-5D20-53C8C780B4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3572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1D3B2A5-A285-3CCD-227F-457936825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16D5BE1-5C71-74C4-A087-DF0A73CF84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38D296A0-7143-623E-7A11-75A92FFFC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33920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8AE6BA3-83F9-07EF-4730-57C489F79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01F9CE24-5F4A-4E7E-0B96-8550B528FD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A3B4F6C-DD98-D2B1-B222-789A991DFD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4307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5B566CD5-D7A0-9A4A-6B21-F834C22EE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D589190-455D-77EC-A0C6-2AE5ECEBF0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87A1624F-82CE-8099-1BE6-02AAD0E2E8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38934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0D56FA1-2C28-6D2F-F325-FFCB456E3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D98E864E-2B24-8613-0B91-2B3F5AB335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A567C77-C559-1E81-BE81-48128F44C5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954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FCB72EA-334C-48D8-B9AA-536548CB6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D3DE979B-8857-2914-0781-047C52A0C8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B457C2AE-F10F-ECCD-D8BE-6848CEEA86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6970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D937B076-C5F2-E3C2-8CA6-361639788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D14EF3B-CAEA-6598-E306-14AFF647C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A180FF50-3F6E-1958-00E0-3332B5326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43744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23C94F26-03BF-DD7B-D73F-2B64E4B4E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CAFFA7D4-0F02-9CF6-1797-69D9DA0703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097E6810-2657-A062-27B5-A1FD8B796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34606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14DCD307-016B-C7F4-FF3C-C7480EDA4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7BC13F0A-D89A-F9EB-2FBD-B117C5E779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83EACF0E-0DC1-6A78-EE27-1A56A3DFA5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48157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F44CE8A-9B68-B8AC-B94E-487950FD3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DBD9362B-9F37-E60E-13A4-5499F5627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23D6AAC-F4D5-2958-9F15-8CD9C8CC74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29134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E28B667-7B9B-3E35-365B-B3A102722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9107D10-B157-0E9B-9FD9-07CFA6ADB9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3D813F59-D614-1801-7895-F6E0BE1124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69747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2B46E059-59BC-A71B-0FE9-269A17935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14A9A1D8-6775-DDF6-217D-9810A79123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050FD2AC-9BBD-CCE3-F94A-81E165B81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08483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0168805-7079-1FF2-8A36-258F5B1FD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9D91764-E594-8BC0-A83F-04DE82CAF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34AD370B-08FF-EF97-B08A-EF3A2F1162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45056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0D4493AD-85F7-E4ED-577D-83B146DCD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253DA4D9-E8B1-3E87-300B-97E4A9A048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DCE7BB2-C1DC-5BB6-EB8E-272B2E44D5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00681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E7F1E17-EE01-A78E-F3A8-63FF615E1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23FA6C19-05B9-EE7B-B64E-2DF4021465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42CE2CA-F873-E78B-5462-BBF76CB2A8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57525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A4B55F3-A7AF-B723-4351-F1A2F5D12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CCA0413E-3AEE-7522-60E4-89CBC068D5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3C80DBDC-AF4D-41B1-C0F4-25AD797D81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01371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BBA1867-CC27-1D9A-1956-F3506DF9B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583D695-C8A0-7841-4BDE-B480C70A26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583FF52D-FC76-C563-8142-39BC9E5527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41589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900694D-51DA-580F-F591-B632DAE1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30F2E96-5296-32B6-08FB-4F43B3159A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A0B860E-D0F2-B745-1DE8-418F9C8555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0311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7.xml"/><Relationship Id="rId18" Type="http://schemas.openxmlformats.org/officeDocument/2006/relationships/image" Target="../media/image9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6.png"/><Relationship Id="rId17" Type="http://schemas.openxmlformats.org/officeDocument/2006/relationships/customXml" Target="../ink/ink9.xml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5.xml"/><Relationship Id="rId1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11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14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17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701421" y="1484029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Calibri"/>
              <a:buNone/>
            </a:pPr>
            <a:r>
              <a:rPr lang="en-US" sz="5400" b="1" dirty="0">
                <a:solidFill>
                  <a:srgbClr val="833C0B"/>
                </a:solidFill>
              </a:rPr>
              <a:t>Greedy Techniques</a:t>
            </a:r>
            <a:endParaRPr dirty="0">
              <a:solidFill>
                <a:srgbClr val="833C0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Introduction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/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 greedy method is a problem-solving strategy where decisions are made by selecting the best option available at the moment, without considering future consequences.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It builds up a solution piece by piece, always choosing the next piece that offers the most obvious and immediate benefit. 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Greedy algorithms are used for optimization problems.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1ADC790-FEE6-2223-BE48-990EC0BA3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6FF9B83B-1C3A-0ED8-67A0-4C7EF41222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Introduction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E7181BB6-55DD-C490-7CEA-5E51E4104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510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However, it's important to note that not all problems are suitable for greedy algorithms. They work best when the problem exhibits the following properties: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Greedy Choice Property: </a:t>
            </a:r>
            <a:r>
              <a:rPr lang="en-SG" sz="2500" dirty="0">
                <a:solidFill>
                  <a:schemeClr val="tx1"/>
                </a:solidFill>
              </a:rPr>
              <a:t>The optimal solution can be constructed by making the best local choice at each step.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Optimal Substructure: </a:t>
            </a:r>
            <a:r>
              <a:rPr lang="en-SG" sz="2500" dirty="0">
                <a:solidFill>
                  <a:schemeClr val="tx1"/>
                </a:solidFill>
              </a:rPr>
              <a:t>The optimal solution to the problem contains the optimal solutions to its sub-problems.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98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7F61842-3198-2826-2ADF-765421AB5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05AE5844-45DC-D45C-05F0-383D87DAE2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Greedy Algorithm: Working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D3F4FF96-048B-CB16-FAF0-A12EF3C937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510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Start with the initial state of the problem.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Consider all the options available at that specific moment.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Choose the option that seems best at that moment, regardless of future consequences. This is the "greedy" part - you take the best option available now, even if it might not be the best in the long run.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Move to the new state based on your chosen option. This becomes your new starting point for the next iteration.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Repeat steps 2-4 until you reach the goal state or no further progress is possible.</a:t>
            </a:r>
          </a:p>
        </p:txBody>
      </p:sp>
    </p:spTree>
    <p:extLst>
      <p:ext uri="{BB962C8B-B14F-4D97-AF65-F5344CB8AC3E}">
        <p14:creationId xmlns:p14="http://schemas.microsoft.com/office/powerpoint/2010/main" val="265065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EF5DFB8-D3E5-B0E7-4BB9-A7763B85C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EF0E29D0-F09B-0542-20A3-6A171FC255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Greedy Isn't Always Good!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7DF7DD19-7E41-E071-5BE9-C41DD6045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510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Greedy algorithms do not always give the best solution. For example, in coin change and 0/1 knapsack problems, we get the best solution using Dynamic Programming.</a:t>
            </a:r>
          </a:p>
        </p:txBody>
      </p:sp>
    </p:spTree>
    <p:extLst>
      <p:ext uri="{BB962C8B-B14F-4D97-AF65-F5344CB8AC3E}">
        <p14:creationId xmlns:p14="http://schemas.microsoft.com/office/powerpoint/2010/main" val="1534866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D92CE1A-2CB6-537F-41B1-5FA52DE31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487DC2BB-0D47-F312-2705-FA828E8F8E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Greedy Isn't Always Good! (Example)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A16079A5-6600-D6A5-BA49-83ECD3506B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510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You need to make change for 30 cents using the fewest coins possible. Available coins: 25, 10, 5, 1.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At each step, you always pick the largest coin that fits.</a:t>
            </a:r>
          </a:p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  <a:buFont typeface="Wingdings" panose="05000000000000000000" pitchFamily="2" charset="2"/>
              <a:buChar char="Ø"/>
            </a:pPr>
            <a:r>
              <a:rPr lang="en-SG" sz="2500" dirty="0">
                <a:solidFill>
                  <a:schemeClr val="tx1"/>
                </a:solidFill>
              </a:rPr>
              <a:t>Step 1: Largest coin ≤ 30 → pick 25 → remaining: 5</a:t>
            </a:r>
          </a:p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  <a:buFont typeface="Wingdings" panose="05000000000000000000" pitchFamily="2" charset="2"/>
              <a:buChar char="Ø"/>
            </a:pPr>
            <a:r>
              <a:rPr lang="en-SG" sz="2500" dirty="0">
                <a:solidFill>
                  <a:schemeClr val="tx1"/>
                </a:solidFill>
              </a:rPr>
              <a:t>Step 2: Largest coin ≤ 5 → pick 5 → remaining: 0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Done in 2 coins! And that is the optimal answer.</a:t>
            </a:r>
          </a:p>
        </p:txBody>
      </p:sp>
    </p:spTree>
    <p:extLst>
      <p:ext uri="{BB962C8B-B14F-4D97-AF65-F5344CB8AC3E}">
        <p14:creationId xmlns:p14="http://schemas.microsoft.com/office/powerpoint/2010/main" val="423001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97B2BA9-DBD8-5A5C-DF51-AEFC8FCBD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AA2289AC-AFBF-ADD0-3185-A250A922B9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Greedy Isn't Always Good! (Example)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43D17AD9-5BA1-BB82-22F9-4F8F57400D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510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You need to make change for 14 cents using the fewest coins possible. Available coins: 10, 7, 1.</a:t>
            </a:r>
          </a:p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Greedy picks: 10 + 1 + 1 + 1 + 1 = 5 coins.</a:t>
            </a:r>
          </a:p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But the real answer is: 7 + 7 = 2 coins.</a:t>
            </a:r>
          </a:p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Here, greedy fails because the problem lacks the greedy choice property with these coin values.</a:t>
            </a:r>
          </a:p>
        </p:txBody>
      </p:sp>
    </p:spTree>
    <p:extLst>
      <p:ext uri="{BB962C8B-B14F-4D97-AF65-F5344CB8AC3E}">
        <p14:creationId xmlns:p14="http://schemas.microsoft.com/office/powerpoint/2010/main" val="2046238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3DDDE96-754A-CA9B-1721-5B869575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D828F278-3A07-E46C-DD35-9CBAD3DC34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Applications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0B99449F-37C8-3C62-8102-DB48542AE2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275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Fractional Knapsack Problem</a:t>
            </a:r>
          </a:p>
          <a:p>
            <a:pPr marL="41275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Job Scheduling</a:t>
            </a:r>
          </a:p>
        </p:txBody>
      </p:sp>
    </p:spTree>
    <p:extLst>
      <p:ext uri="{BB962C8B-B14F-4D97-AF65-F5344CB8AC3E}">
        <p14:creationId xmlns:p14="http://schemas.microsoft.com/office/powerpoint/2010/main" val="1215118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F26C980-F035-1AEA-D835-94492E6A2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6A3F347-89A1-EC70-FE7D-3C98851A63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Fractional Knapsack Problem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050A5451-7EC5-3DD0-23EF-AE38964390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Given two arrays, profit[] and weight[], where each element represents the profit and weight of an item respectively, also given an integer W representing the maximum capacity of the knapsack (the total weight it can hold).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Put the items into the knapsack such that the sum of profits associated with them is the maximum possible, without exceeding the capacity W.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Items can also be taken in fractional parts if required.</a:t>
            </a: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704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16E75D9-11AD-97EE-C6C2-67B0F6647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389C159F-C72D-2608-9559-4C86237545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SG" b="1" dirty="0">
                <a:solidFill>
                  <a:srgbClr val="833C0B"/>
                </a:solidFill>
              </a:rPr>
              <a:t>Picking the items with smaller weights first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F2248C63-1DC6-D7D5-5FE2-548BD5B194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109610"/>
            <a:ext cx="10515600" cy="442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  Items={1,    2,     3,   4,   5,   6,   7}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Given weights={1,     3,     5,   4,   1,   3,   2}                      maximum capacity, W=15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Profits={5,   10,    15, 7,    8,   9,  4}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                          </a:t>
            </a: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40E718-84AB-77E6-4B8D-C13DC972E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484370"/>
              </p:ext>
            </p:extLst>
          </p:nvPr>
        </p:nvGraphicFramePr>
        <p:xfrm>
          <a:off x="1597559" y="2339847"/>
          <a:ext cx="9187952" cy="4545541"/>
        </p:xfrm>
        <a:graphic>
          <a:graphicData uri="http://schemas.openxmlformats.org/drawingml/2006/table">
            <a:tbl>
              <a:tblPr firstRow="1" bandRow="1"/>
              <a:tblGrid>
                <a:gridCol w="2194247">
                  <a:extLst>
                    <a:ext uri="{9D8B030D-6E8A-4147-A177-3AD203B41FA5}">
                      <a16:colId xmlns:a16="http://schemas.microsoft.com/office/drawing/2014/main" val="384385614"/>
                    </a:ext>
                  </a:extLst>
                </a:gridCol>
                <a:gridCol w="2194247">
                  <a:extLst>
                    <a:ext uri="{9D8B030D-6E8A-4147-A177-3AD203B41FA5}">
                      <a16:colId xmlns:a16="http://schemas.microsoft.com/office/drawing/2014/main" val="2671054810"/>
                    </a:ext>
                  </a:extLst>
                </a:gridCol>
                <a:gridCol w="2194247">
                  <a:extLst>
                    <a:ext uri="{9D8B030D-6E8A-4147-A177-3AD203B41FA5}">
                      <a16:colId xmlns:a16="http://schemas.microsoft.com/office/drawing/2014/main" val="1103797250"/>
                    </a:ext>
                  </a:extLst>
                </a:gridCol>
                <a:gridCol w="2605211">
                  <a:extLst>
                    <a:ext uri="{9D8B030D-6E8A-4147-A177-3AD203B41FA5}">
                      <a16:colId xmlns:a16="http://schemas.microsoft.com/office/drawing/2014/main" val="1346894772"/>
                    </a:ext>
                  </a:extLst>
                </a:gridCol>
              </a:tblGrid>
              <a:tr h="766021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Profit(P)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Remaining 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76063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15-1=14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42136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14-1=13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383241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13-2=11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9947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11-3=8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424840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8-3=5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915293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5-4=1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4130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15*1/5=3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1-1=0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415926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Tp</a:t>
                      </a:r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0124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0E07147-15AD-A369-99A8-E42B21BE42DF}"/>
                  </a:ext>
                </a:extLst>
              </p14:cNvPr>
              <p14:cNvContentPartPr/>
              <p14:nvPr/>
            </p14:nvContentPartPr>
            <p14:xfrm>
              <a:off x="4900894" y="1556498"/>
              <a:ext cx="32400" cy="25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0E07147-15AD-A369-99A8-E42B21BE42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94774" y="1550378"/>
                <a:ext cx="44640" cy="3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112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8461C00-EE20-063E-3A30-F27EC93A2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7793F624-753F-D85A-AC73-9BE92B5EBC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SG" b="1" dirty="0">
                <a:solidFill>
                  <a:srgbClr val="833C0B"/>
                </a:solidFill>
              </a:rPr>
              <a:t>Picking items with larger profit first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A0049184-EE3F-39B4-E8D8-7C3B0806E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15093"/>
            <a:ext cx="10515600" cy="442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  Items={1,    2,     3,   4,   5,   6,   7}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Given weights={1,     3,     5,   4,   1,   3,   2}                      maximum capacity, W=15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Profits={5,   10,    15, 7,    8,   9,  4}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                          </a:t>
            </a: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63A6E8-B869-30C8-F1CC-0D47AB3D3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546076"/>
              </p:ext>
            </p:extLst>
          </p:nvPr>
        </p:nvGraphicFramePr>
        <p:xfrm>
          <a:off x="1597559" y="2640656"/>
          <a:ext cx="9187952" cy="4073101"/>
        </p:xfrm>
        <a:graphic>
          <a:graphicData uri="http://schemas.openxmlformats.org/drawingml/2006/table">
            <a:tbl>
              <a:tblPr firstRow="1" bandRow="1"/>
              <a:tblGrid>
                <a:gridCol w="2194247">
                  <a:extLst>
                    <a:ext uri="{9D8B030D-6E8A-4147-A177-3AD203B41FA5}">
                      <a16:colId xmlns:a16="http://schemas.microsoft.com/office/drawing/2014/main" val="384385614"/>
                    </a:ext>
                  </a:extLst>
                </a:gridCol>
                <a:gridCol w="2194247">
                  <a:extLst>
                    <a:ext uri="{9D8B030D-6E8A-4147-A177-3AD203B41FA5}">
                      <a16:colId xmlns:a16="http://schemas.microsoft.com/office/drawing/2014/main" val="2671054810"/>
                    </a:ext>
                  </a:extLst>
                </a:gridCol>
                <a:gridCol w="2194247">
                  <a:extLst>
                    <a:ext uri="{9D8B030D-6E8A-4147-A177-3AD203B41FA5}">
                      <a16:colId xmlns:a16="http://schemas.microsoft.com/office/drawing/2014/main" val="1103797250"/>
                    </a:ext>
                  </a:extLst>
                </a:gridCol>
                <a:gridCol w="2605211">
                  <a:extLst>
                    <a:ext uri="{9D8B030D-6E8A-4147-A177-3AD203B41FA5}">
                      <a16:colId xmlns:a16="http://schemas.microsoft.com/office/drawing/2014/main" val="1346894772"/>
                    </a:ext>
                  </a:extLst>
                </a:gridCol>
              </a:tblGrid>
              <a:tr h="766021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Profit(P)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Remaining 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76063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15-5=10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42136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10-3=7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383241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7-3=4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9947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4-1=3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424840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7*3/4=5.25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3-3=0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915293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Tp</a:t>
                      </a:r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=47.25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4130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41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205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294EA34-94FE-C77E-3B9B-4B0D270C4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A7F7D369-9175-C480-BED3-72B25715C1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-104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SG" b="1" dirty="0">
                <a:solidFill>
                  <a:srgbClr val="833C0B"/>
                </a:solidFill>
              </a:rPr>
              <a:t> Selecting Items by profit/weight Ratio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DA2E5C8B-A5F6-737C-F17E-FA206101A5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037690"/>
            <a:ext cx="10515600" cy="442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  Items={1,    2,     3,   4,   5,   6,   7}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Given weights={1,     3,     5,   4,   1,   3,   2}                      maximum capacity, W=15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Profits={5,   10,    15, 7,    8,   9,  4}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   P/W= {5,   3.3,    3, 1.75, 8, 3,  2}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                          </a:t>
            </a: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5A8CA2-09D0-37F7-C6F6-D6201DCEE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783470"/>
              </p:ext>
            </p:extLst>
          </p:nvPr>
        </p:nvGraphicFramePr>
        <p:xfrm>
          <a:off x="1825945" y="2615873"/>
          <a:ext cx="9187952" cy="4073101"/>
        </p:xfrm>
        <a:graphic>
          <a:graphicData uri="http://schemas.openxmlformats.org/drawingml/2006/table">
            <a:tbl>
              <a:tblPr firstRow="1" bandRow="1"/>
              <a:tblGrid>
                <a:gridCol w="2194247">
                  <a:extLst>
                    <a:ext uri="{9D8B030D-6E8A-4147-A177-3AD203B41FA5}">
                      <a16:colId xmlns:a16="http://schemas.microsoft.com/office/drawing/2014/main" val="384385614"/>
                    </a:ext>
                  </a:extLst>
                </a:gridCol>
                <a:gridCol w="2194247">
                  <a:extLst>
                    <a:ext uri="{9D8B030D-6E8A-4147-A177-3AD203B41FA5}">
                      <a16:colId xmlns:a16="http://schemas.microsoft.com/office/drawing/2014/main" val="2671054810"/>
                    </a:ext>
                  </a:extLst>
                </a:gridCol>
                <a:gridCol w="2194247">
                  <a:extLst>
                    <a:ext uri="{9D8B030D-6E8A-4147-A177-3AD203B41FA5}">
                      <a16:colId xmlns:a16="http://schemas.microsoft.com/office/drawing/2014/main" val="1103797250"/>
                    </a:ext>
                  </a:extLst>
                </a:gridCol>
                <a:gridCol w="2605211">
                  <a:extLst>
                    <a:ext uri="{9D8B030D-6E8A-4147-A177-3AD203B41FA5}">
                      <a16:colId xmlns:a16="http://schemas.microsoft.com/office/drawing/2014/main" val="1346894772"/>
                    </a:ext>
                  </a:extLst>
                </a:gridCol>
              </a:tblGrid>
              <a:tr h="766021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Profit(P)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Remaining 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76063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15-1=14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42136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14-1=13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383241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13-3=10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9947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10-5=5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424840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5-3=2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915293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2-2=0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4130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Tp</a:t>
                      </a:r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4159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066E0E4-0CAB-993B-DA3A-CAC6D923E911}"/>
                  </a:ext>
                </a:extLst>
              </p14:cNvPr>
              <p14:cNvContentPartPr/>
              <p14:nvPr/>
            </p14:nvContentPartPr>
            <p14:xfrm>
              <a:off x="5409574" y="853584"/>
              <a:ext cx="180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066E0E4-0CAB-993B-DA3A-CAC6D923E9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3454" y="847464"/>
                <a:ext cx="1404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093E9F7-A824-4130-FD35-DC97EE72208E}"/>
                  </a:ext>
                </a:extLst>
              </p14:cNvPr>
              <p14:cNvContentPartPr/>
              <p14:nvPr/>
            </p14:nvContentPartPr>
            <p14:xfrm>
              <a:off x="6439534" y="712824"/>
              <a:ext cx="56520" cy="83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093E9F7-A824-4130-FD35-DC97EE72208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33414" y="706704"/>
                <a:ext cx="6876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657FB09-715E-10FC-F974-410263531153}"/>
                  </a:ext>
                </a:extLst>
              </p14:cNvPr>
              <p14:cNvContentPartPr/>
              <p14:nvPr/>
            </p14:nvContentPartPr>
            <p14:xfrm>
              <a:off x="5260174" y="915144"/>
              <a:ext cx="353520" cy="195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657FB09-715E-10FC-F974-41026353115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54054" y="909024"/>
                <a:ext cx="36576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03C90B5-D4BF-4DA6-854A-B40EBE62F412}"/>
                  </a:ext>
                </a:extLst>
              </p14:cNvPr>
              <p14:cNvContentPartPr/>
              <p14:nvPr/>
            </p14:nvContentPartPr>
            <p14:xfrm>
              <a:off x="3297814" y="938184"/>
              <a:ext cx="116640" cy="1411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03C90B5-D4BF-4DA6-854A-B40EBE62F41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91694" y="932064"/>
                <a:ext cx="12888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ACCDDA1-DADC-C8B7-AF73-8707D34B7BBF}"/>
                  </a:ext>
                </a:extLst>
              </p14:cNvPr>
              <p14:cNvContentPartPr/>
              <p14:nvPr/>
            </p14:nvContentPartPr>
            <p14:xfrm>
              <a:off x="3749614" y="763584"/>
              <a:ext cx="447480" cy="3668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ACCDDA1-DADC-C8B7-AF73-8707D34B7BB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43494" y="757464"/>
                <a:ext cx="45972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5297BCB-6149-1F6E-36DC-441B3A8F36EF}"/>
                  </a:ext>
                </a:extLst>
              </p14:cNvPr>
              <p14:cNvContentPartPr/>
              <p14:nvPr/>
            </p14:nvContentPartPr>
            <p14:xfrm>
              <a:off x="4356214" y="816504"/>
              <a:ext cx="267480" cy="313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5297BCB-6149-1F6E-36DC-441B3A8F36E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350094" y="810384"/>
                <a:ext cx="27972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3604E31-AFB6-680D-BD5B-D14404626DFF}"/>
                  </a:ext>
                </a:extLst>
              </p14:cNvPr>
              <p14:cNvContentPartPr/>
              <p14:nvPr/>
            </p14:nvContentPartPr>
            <p14:xfrm>
              <a:off x="5722774" y="991104"/>
              <a:ext cx="117720" cy="1393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3604E31-AFB6-680D-BD5B-D14404626DF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16654" y="984984"/>
                <a:ext cx="1299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A292914-F5EA-9C16-54D7-931A818DB0AD}"/>
                  </a:ext>
                </a:extLst>
              </p14:cNvPr>
              <p14:cNvContentPartPr/>
              <p14:nvPr/>
            </p14:nvContentPartPr>
            <p14:xfrm>
              <a:off x="6195094" y="965544"/>
              <a:ext cx="154080" cy="123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A292914-F5EA-9C16-54D7-931A818DB0A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188974" y="959424"/>
                <a:ext cx="166320" cy="13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0810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210D6B0-3DF7-DBBE-DB56-E5C17925C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6FB00790-178B-CBDF-6D85-75E3D231E6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FKP: Time Complexity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7F6192C8-AE91-B457-2BC9-4E717D874E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b="1" dirty="0">
                <a:solidFill>
                  <a:schemeClr val="tx1"/>
                </a:solidFill>
              </a:rPr>
              <a:t>Step 1: </a:t>
            </a:r>
            <a:r>
              <a:rPr lang="en-SG" sz="2500" dirty="0">
                <a:solidFill>
                  <a:schemeClr val="tx1"/>
                </a:solidFill>
              </a:rPr>
              <a:t>Compute profit/weight ratio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For each item: </a:t>
            </a:r>
            <a:r>
              <a:rPr lang="en-SG" sz="2500" dirty="0" err="1"/>
              <a:t>ratio</a:t>
            </a:r>
            <a:r>
              <a:rPr lang="en-SG" sz="2500" baseline="-25000" dirty="0" err="1"/>
              <a:t>i</a:t>
            </a:r>
            <a:r>
              <a:rPr lang="en-SG" sz="2500" dirty="0"/>
              <a:t>= p</a:t>
            </a:r>
            <a:r>
              <a:rPr lang="en-SG" sz="2500" baseline="-25000" dirty="0"/>
              <a:t>i </a:t>
            </a:r>
            <a:r>
              <a:rPr lang="en-SG" sz="2500" dirty="0"/>
              <a:t>/ 𝑤</a:t>
            </a:r>
            <a:r>
              <a:rPr lang="en-SG" sz="2500" baseline="-25000" dirty="0" err="1"/>
              <a:t>i</a:t>
            </a:r>
            <a:r>
              <a:rPr lang="en-SG" sz="2500" dirty="0"/>
              <a:t>	​	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This requires one division per item.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Time complexity: O (n)</a:t>
            </a:r>
          </a:p>
        </p:txBody>
      </p:sp>
    </p:spTree>
    <p:extLst>
      <p:ext uri="{BB962C8B-B14F-4D97-AF65-F5344CB8AC3E}">
        <p14:creationId xmlns:p14="http://schemas.microsoft.com/office/powerpoint/2010/main" val="3475769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533BE6E9-2C27-2060-A8D3-46E193D4D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5E4D31EF-CE35-F34F-CB7A-2A4FED90AA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FKP: Time Complexity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238FBBEA-6257-326F-3A47-B436A2476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b="1" dirty="0">
                <a:solidFill>
                  <a:schemeClr val="tx1"/>
                </a:solidFill>
              </a:rPr>
              <a:t>Step 2: </a:t>
            </a:r>
            <a:r>
              <a:rPr lang="en-SG" sz="2500" dirty="0">
                <a:solidFill>
                  <a:schemeClr val="tx1"/>
                </a:solidFill>
              </a:rPr>
              <a:t>Sort items by ratio (descending)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We sort items based on highest value per unit weight first.​	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Most efficient comparison sorting algorithms (like Merge Sort, Quick Sort, Heap Sort) take: O (</a:t>
            </a:r>
            <a:r>
              <a:rPr lang="en-SG" sz="2500" dirty="0" err="1">
                <a:solidFill>
                  <a:schemeClr val="tx1"/>
                </a:solidFill>
              </a:rPr>
              <a:t>nlogn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37272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151665D-397E-8EDA-CACF-2FEE2AA45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CC30828E-F7EB-AE45-4A5A-8592EF5EE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FKP: Time Complexity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B10A5E05-6013-A729-D2F2-4341C424FB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b="1" dirty="0">
                <a:solidFill>
                  <a:schemeClr val="tx1"/>
                </a:solidFill>
              </a:rPr>
              <a:t>Step 3: </a:t>
            </a:r>
            <a:r>
              <a:rPr lang="en-SG" sz="2500" dirty="0">
                <a:solidFill>
                  <a:schemeClr val="tx1"/>
                </a:solidFill>
              </a:rPr>
              <a:t>Pick items greedily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Traverse sorted items and add them to the knapsack: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Wingdings" panose="05000000000000000000" pitchFamily="2" charset="2"/>
              <a:buChar char="Ø"/>
            </a:pPr>
            <a:r>
              <a:rPr lang="en-SG" sz="2500" dirty="0"/>
              <a:t>If item fits completely → take whole item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Wingdings" panose="05000000000000000000" pitchFamily="2" charset="2"/>
              <a:buChar char="Ø"/>
            </a:pPr>
            <a:r>
              <a:rPr lang="en-SG" sz="2500" dirty="0"/>
              <a:t>Otherwise → take fractional part	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We scan the list once.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Time complexity: O(n)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947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7A83B2E-F3B8-05EF-8F82-E03F58EE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39F6D2C0-32BB-FB1B-1CBF-A572CCE54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FKP: Time Complexity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100B3F81-E32C-0641-FE3E-C612EB49F9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Total Time Complexity= O(n) + O(</a:t>
            </a:r>
            <a:r>
              <a:rPr lang="en-SG" sz="2500" dirty="0" err="1"/>
              <a:t>nlogn</a:t>
            </a:r>
            <a:r>
              <a:rPr lang="en-SG" sz="2500" dirty="0"/>
              <a:t>) + O(n)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Dominant Term=O(</a:t>
            </a:r>
            <a:r>
              <a:rPr lang="en-SG" sz="2500" dirty="0" err="1"/>
              <a:t>nlogn</a:t>
            </a:r>
            <a:r>
              <a:rPr lang="en-SG" sz="2500" dirty="0"/>
              <a:t>)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857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FB3C3D-B759-FA34-269E-A93307E1C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4EEC5DD-A048-30D6-D03C-95076288D6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FKP: Space Complexity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A6EBFADE-508C-07C1-A5AD-069C0BE43F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We need to store: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Wingdings" panose="05000000000000000000" pitchFamily="2" charset="2"/>
              <a:buChar char="Ø"/>
            </a:pPr>
            <a:r>
              <a:rPr lang="en-SG" sz="2500" dirty="0"/>
              <a:t>Items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Wingdings" panose="05000000000000000000" pitchFamily="2" charset="2"/>
              <a:buChar char="Ø"/>
            </a:pPr>
            <a:r>
              <a:rPr lang="en-SG" sz="2500" dirty="0"/>
              <a:t>Ratios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Wingdings" panose="05000000000000000000" pitchFamily="2" charset="2"/>
              <a:buChar char="Ø"/>
            </a:pPr>
            <a:r>
              <a:rPr lang="en-SG" sz="2500" dirty="0"/>
              <a:t>Sorted order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Space Complexity= O(n)</a:t>
            </a: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917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25B32DC-AC12-833A-24A0-735F188CD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DC586AEA-1E80-1EC0-C4DC-0987FD7C97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Job Scheduling Problem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136C3C1D-E013-33A2-5B8E-1BF00ACE1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Given an array of jobs where every job has a deadline and associated profit if the job is finished before the deadline. 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It is also given that every job takes a single unit of time, so the minimum possible deadline for any job is 1.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/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We need to maximize total profit if only one job can be scheduled at a time.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We are asked to maximize the profit — which means it’s an optimization problem.</a:t>
            </a:r>
          </a:p>
        </p:txBody>
      </p:sp>
    </p:spTree>
    <p:extLst>
      <p:ext uri="{BB962C8B-B14F-4D97-AF65-F5344CB8AC3E}">
        <p14:creationId xmlns:p14="http://schemas.microsoft.com/office/powerpoint/2010/main" val="3089767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CDB63B7B-FE4B-382E-F50D-C775537B2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C8FCD5CE-C8DF-6684-C8C4-778E304074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Job Scheduling Problem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BFEBFE12-7FD1-E1CC-1EF2-4DEC114F7E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Given an array of jobs where every job has a deadline and associated profit if the job is finished before the deadline. 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It is also given that every job takes a single unit of time, so the minimum possible deadline for any job is 1.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/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We need to maximize total profit if only one job can be scheduled at a time.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We are asked to maximize the profit — which means it’s an optimization problem.</a:t>
            </a:r>
          </a:p>
        </p:txBody>
      </p:sp>
    </p:spTree>
    <p:extLst>
      <p:ext uri="{BB962C8B-B14F-4D97-AF65-F5344CB8AC3E}">
        <p14:creationId xmlns:p14="http://schemas.microsoft.com/office/powerpoint/2010/main" val="3176063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9B4A866-C72A-2CF2-E0F9-3A7CEBBFC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A860F17D-88FF-4E8B-EA35-5286264AB7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JSP: Greedy Strategy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689EDF5D-49EB-38CE-6B04-7B1599962C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2750" algn="just">
              <a:lnSpc>
                <a:spcPct val="95000"/>
              </a:lnSpc>
              <a:spcBef>
                <a:spcPts val="0"/>
              </a:spcBef>
              <a:buSzPts val="2500"/>
              <a:buFont typeface="Courier New" panose="02070309020205020404" pitchFamily="49" charset="0"/>
              <a:buChar char="o"/>
            </a:pPr>
            <a:r>
              <a:rPr lang="en-SG" sz="2500" dirty="0">
                <a:solidFill>
                  <a:schemeClr val="tx1"/>
                </a:solidFill>
              </a:rPr>
              <a:t>Schedule the most profitable jobs first. Steps: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/>
              <a:t>Sort jobs by profit (descending).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/>
              <a:t>Create time slots up to the maximum deadline.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/>
              <a:t>For each job: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Wingdings" panose="05000000000000000000" pitchFamily="2" charset="2"/>
              <a:buChar char="Ø"/>
            </a:pPr>
            <a:r>
              <a:rPr lang="en-SG" sz="2500" dirty="0"/>
              <a:t>Place it in the latest available slot before its deadline.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Why latest slot?</a:t>
            </a: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533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4430899-955D-E807-91C2-550361391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F9CE7904-9A98-0E59-5545-6761A40E14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JSP: Example</a:t>
            </a:r>
            <a:endParaRPr dirty="0">
              <a:solidFill>
                <a:srgbClr val="833C0B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B0C59C-36CE-4372-5218-6F57DE990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256385"/>
              </p:ext>
            </p:extLst>
          </p:nvPr>
        </p:nvGraphicFramePr>
        <p:xfrm>
          <a:off x="2638176" y="1808252"/>
          <a:ext cx="7492146" cy="2208945"/>
        </p:xfrm>
        <a:graphic>
          <a:graphicData uri="http://schemas.openxmlformats.org/drawingml/2006/table">
            <a:tbl>
              <a:tblPr firstRow="1" bandRow="1"/>
              <a:tblGrid>
                <a:gridCol w="1368745">
                  <a:extLst>
                    <a:ext uri="{9D8B030D-6E8A-4147-A177-3AD203B41FA5}">
                      <a16:colId xmlns:a16="http://schemas.microsoft.com/office/drawing/2014/main" val="72590886"/>
                    </a:ext>
                  </a:extLst>
                </a:gridCol>
                <a:gridCol w="1128637">
                  <a:extLst>
                    <a:ext uri="{9D8B030D-6E8A-4147-A177-3AD203B41FA5}">
                      <a16:colId xmlns:a16="http://schemas.microsoft.com/office/drawing/2014/main" val="2026039038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4294641353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4150121749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1801885767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2468895185"/>
                    </a:ext>
                  </a:extLst>
                </a:gridCol>
              </a:tblGrid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13246"/>
                  </a:ext>
                </a:extLst>
              </a:tr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876564"/>
                  </a:ext>
                </a:extLst>
              </a:tr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089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370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2FCB3FB-A7E4-DAE4-ABA5-CD62A6826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17D89C01-4D65-F648-6A15-0BEC45F82F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02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JSP: Solution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8CEAC4EE-2A01-BD1E-C15D-28857EDAF1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27385" y="4267024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Maximum Deadline=3 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Slots: 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F84B55-BC68-02C4-39E2-C57C12FA4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896937"/>
              </p:ext>
            </p:extLst>
          </p:nvPr>
        </p:nvGraphicFramePr>
        <p:xfrm>
          <a:off x="1590213" y="5255247"/>
          <a:ext cx="7769547" cy="1222590"/>
        </p:xfrm>
        <a:graphic>
          <a:graphicData uri="http://schemas.openxmlformats.org/drawingml/2006/table">
            <a:tbl>
              <a:tblPr firstRow="1" bandRow="1"/>
              <a:tblGrid>
                <a:gridCol w="2589849">
                  <a:extLst>
                    <a:ext uri="{9D8B030D-6E8A-4147-A177-3AD203B41FA5}">
                      <a16:colId xmlns:a16="http://schemas.microsoft.com/office/drawing/2014/main" val="1511626782"/>
                    </a:ext>
                  </a:extLst>
                </a:gridCol>
                <a:gridCol w="2589849">
                  <a:extLst>
                    <a:ext uri="{9D8B030D-6E8A-4147-A177-3AD203B41FA5}">
                      <a16:colId xmlns:a16="http://schemas.microsoft.com/office/drawing/2014/main" val="2868023187"/>
                    </a:ext>
                  </a:extLst>
                </a:gridCol>
                <a:gridCol w="2589849">
                  <a:extLst>
                    <a:ext uri="{9D8B030D-6E8A-4147-A177-3AD203B41FA5}">
                      <a16:colId xmlns:a16="http://schemas.microsoft.com/office/drawing/2014/main" val="28320302"/>
                    </a:ext>
                  </a:extLst>
                </a:gridCol>
              </a:tblGrid>
              <a:tr h="61129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185309"/>
                  </a:ext>
                </a:extLst>
              </a:tr>
              <a:tr h="611295"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57795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AAFE05-1234-D25B-BFC0-35CEFC84387F}"/>
              </a:ext>
            </a:extLst>
          </p:cNvPr>
          <p:cNvSpPr txBox="1"/>
          <p:nvPr/>
        </p:nvSpPr>
        <p:spPr>
          <a:xfrm>
            <a:off x="927385" y="1225521"/>
            <a:ext cx="6097712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 Jobs by profit: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8FE16A-C03C-B60F-91E7-F3622FD5D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72316"/>
              </p:ext>
            </p:extLst>
          </p:nvPr>
        </p:nvGraphicFramePr>
        <p:xfrm>
          <a:off x="1590213" y="1870709"/>
          <a:ext cx="7492146" cy="2208945"/>
        </p:xfrm>
        <a:graphic>
          <a:graphicData uri="http://schemas.openxmlformats.org/drawingml/2006/table">
            <a:tbl>
              <a:tblPr firstRow="1" bandRow="1"/>
              <a:tblGrid>
                <a:gridCol w="1368745">
                  <a:extLst>
                    <a:ext uri="{9D8B030D-6E8A-4147-A177-3AD203B41FA5}">
                      <a16:colId xmlns:a16="http://schemas.microsoft.com/office/drawing/2014/main" val="72590886"/>
                    </a:ext>
                  </a:extLst>
                </a:gridCol>
                <a:gridCol w="1128637">
                  <a:extLst>
                    <a:ext uri="{9D8B030D-6E8A-4147-A177-3AD203B41FA5}">
                      <a16:colId xmlns:a16="http://schemas.microsoft.com/office/drawing/2014/main" val="2026039038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4294641353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4150121749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1801885767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2468895185"/>
                    </a:ext>
                  </a:extLst>
                </a:gridCol>
              </a:tblGrid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13246"/>
                  </a:ext>
                </a:extLst>
              </a:tr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876564"/>
                  </a:ext>
                </a:extLst>
              </a:tr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089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6712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05047279-E3AE-7369-D2F0-DF07424B4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76949A59-8DF9-D3D0-A714-43FF34E767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02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JSP: Solution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4F27DABB-FC4F-EDE9-932C-551C04CB31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27385" y="4267024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After Iteration 1: Place J1 at latest slot ≤ 2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8BF3ED-BFA9-F759-5F4F-BC824C33B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23906"/>
              </p:ext>
            </p:extLst>
          </p:nvPr>
        </p:nvGraphicFramePr>
        <p:xfrm>
          <a:off x="1815671" y="4885377"/>
          <a:ext cx="7769547" cy="1222590"/>
        </p:xfrm>
        <a:graphic>
          <a:graphicData uri="http://schemas.openxmlformats.org/drawingml/2006/table">
            <a:tbl>
              <a:tblPr firstRow="1" bandRow="1"/>
              <a:tblGrid>
                <a:gridCol w="2589849">
                  <a:extLst>
                    <a:ext uri="{9D8B030D-6E8A-4147-A177-3AD203B41FA5}">
                      <a16:colId xmlns:a16="http://schemas.microsoft.com/office/drawing/2014/main" val="1511626782"/>
                    </a:ext>
                  </a:extLst>
                </a:gridCol>
                <a:gridCol w="2589849">
                  <a:extLst>
                    <a:ext uri="{9D8B030D-6E8A-4147-A177-3AD203B41FA5}">
                      <a16:colId xmlns:a16="http://schemas.microsoft.com/office/drawing/2014/main" val="2868023187"/>
                    </a:ext>
                  </a:extLst>
                </a:gridCol>
                <a:gridCol w="2589849">
                  <a:extLst>
                    <a:ext uri="{9D8B030D-6E8A-4147-A177-3AD203B41FA5}">
                      <a16:colId xmlns:a16="http://schemas.microsoft.com/office/drawing/2014/main" val="28320302"/>
                    </a:ext>
                  </a:extLst>
                </a:gridCol>
              </a:tblGrid>
              <a:tr h="61129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185309"/>
                  </a:ext>
                </a:extLst>
              </a:tr>
              <a:tr h="611295"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5779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39786B-606A-324E-8CE5-BF4A66453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109821"/>
              </p:ext>
            </p:extLst>
          </p:nvPr>
        </p:nvGraphicFramePr>
        <p:xfrm>
          <a:off x="1815671" y="1861526"/>
          <a:ext cx="7492146" cy="2208945"/>
        </p:xfrm>
        <a:graphic>
          <a:graphicData uri="http://schemas.openxmlformats.org/drawingml/2006/table">
            <a:tbl>
              <a:tblPr firstRow="1" bandRow="1"/>
              <a:tblGrid>
                <a:gridCol w="1368745">
                  <a:extLst>
                    <a:ext uri="{9D8B030D-6E8A-4147-A177-3AD203B41FA5}">
                      <a16:colId xmlns:a16="http://schemas.microsoft.com/office/drawing/2014/main" val="72590886"/>
                    </a:ext>
                  </a:extLst>
                </a:gridCol>
                <a:gridCol w="1128637">
                  <a:extLst>
                    <a:ext uri="{9D8B030D-6E8A-4147-A177-3AD203B41FA5}">
                      <a16:colId xmlns:a16="http://schemas.microsoft.com/office/drawing/2014/main" val="2026039038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4294641353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4150121749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1801885767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2468895185"/>
                    </a:ext>
                  </a:extLst>
                </a:gridCol>
              </a:tblGrid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13246"/>
                  </a:ext>
                </a:extLst>
              </a:tr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876564"/>
                  </a:ext>
                </a:extLst>
              </a:tr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089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81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2DA8EF1-7FDD-F515-F92F-0DD91445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304F9FDF-F2C8-56C2-0667-C331A1534C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02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JSP: Solution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A50E1C85-7F5A-238C-8C85-8C3C09E9A5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27385" y="4267024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After Iteration 2: Slot2 occupied. Try Slot1 for J3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9F03AD-A8C4-D4E5-8F9C-0431A7D92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696684"/>
              </p:ext>
            </p:extLst>
          </p:nvPr>
        </p:nvGraphicFramePr>
        <p:xfrm>
          <a:off x="1815671" y="4885377"/>
          <a:ext cx="7769547" cy="1222590"/>
        </p:xfrm>
        <a:graphic>
          <a:graphicData uri="http://schemas.openxmlformats.org/drawingml/2006/table">
            <a:tbl>
              <a:tblPr firstRow="1" bandRow="1"/>
              <a:tblGrid>
                <a:gridCol w="2589849">
                  <a:extLst>
                    <a:ext uri="{9D8B030D-6E8A-4147-A177-3AD203B41FA5}">
                      <a16:colId xmlns:a16="http://schemas.microsoft.com/office/drawing/2014/main" val="1511626782"/>
                    </a:ext>
                  </a:extLst>
                </a:gridCol>
                <a:gridCol w="2589849">
                  <a:extLst>
                    <a:ext uri="{9D8B030D-6E8A-4147-A177-3AD203B41FA5}">
                      <a16:colId xmlns:a16="http://schemas.microsoft.com/office/drawing/2014/main" val="2868023187"/>
                    </a:ext>
                  </a:extLst>
                </a:gridCol>
                <a:gridCol w="2589849">
                  <a:extLst>
                    <a:ext uri="{9D8B030D-6E8A-4147-A177-3AD203B41FA5}">
                      <a16:colId xmlns:a16="http://schemas.microsoft.com/office/drawing/2014/main" val="28320302"/>
                    </a:ext>
                  </a:extLst>
                </a:gridCol>
              </a:tblGrid>
              <a:tr h="61129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185309"/>
                  </a:ext>
                </a:extLst>
              </a:tr>
              <a:tr h="611295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5779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8E4A4C-8543-08CA-1B5D-DDAF40A8B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922540"/>
              </p:ext>
            </p:extLst>
          </p:nvPr>
        </p:nvGraphicFramePr>
        <p:xfrm>
          <a:off x="1815671" y="1861526"/>
          <a:ext cx="7492146" cy="2208945"/>
        </p:xfrm>
        <a:graphic>
          <a:graphicData uri="http://schemas.openxmlformats.org/drawingml/2006/table">
            <a:tbl>
              <a:tblPr firstRow="1" bandRow="1"/>
              <a:tblGrid>
                <a:gridCol w="1368745">
                  <a:extLst>
                    <a:ext uri="{9D8B030D-6E8A-4147-A177-3AD203B41FA5}">
                      <a16:colId xmlns:a16="http://schemas.microsoft.com/office/drawing/2014/main" val="72590886"/>
                    </a:ext>
                  </a:extLst>
                </a:gridCol>
                <a:gridCol w="1128637">
                  <a:extLst>
                    <a:ext uri="{9D8B030D-6E8A-4147-A177-3AD203B41FA5}">
                      <a16:colId xmlns:a16="http://schemas.microsoft.com/office/drawing/2014/main" val="2026039038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4294641353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4150121749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1801885767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2468895185"/>
                    </a:ext>
                  </a:extLst>
                </a:gridCol>
              </a:tblGrid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13246"/>
                  </a:ext>
                </a:extLst>
              </a:tr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876564"/>
                  </a:ext>
                </a:extLst>
              </a:tr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089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212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ADF39F6-A4C1-4830-9BB0-52B96EEC0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49FFBC80-52B5-BFF2-F0C1-6851A243B5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02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JSP: Solution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13FC9597-8BEE-4384-4452-7D1D004F2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27385" y="4267024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After Iteration 3: Slot1 already occupied. Skip J4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2F8EC5-3369-E173-5464-B0A7931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716482"/>
              </p:ext>
            </p:extLst>
          </p:nvPr>
        </p:nvGraphicFramePr>
        <p:xfrm>
          <a:off x="1815671" y="4885377"/>
          <a:ext cx="7769547" cy="1222590"/>
        </p:xfrm>
        <a:graphic>
          <a:graphicData uri="http://schemas.openxmlformats.org/drawingml/2006/table">
            <a:tbl>
              <a:tblPr firstRow="1" bandRow="1"/>
              <a:tblGrid>
                <a:gridCol w="2589849">
                  <a:extLst>
                    <a:ext uri="{9D8B030D-6E8A-4147-A177-3AD203B41FA5}">
                      <a16:colId xmlns:a16="http://schemas.microsoft.com/office/drawing/2014/main" val="1511626782"/>
                    </a:ext>
                  </a:extLst>
                </a:gridCol>
                <a:gridCol w="2589849">
                  <a:extLst>
                    <a:ext uri="{9D8B030D-6E8A-4147-A177-3AD203B41FA5}">
                      <a16:colId xmlns:a16="http://schemas.microsoft.com/office/drawing/2014/main" val="2868023187"/>
                    </a:ext>
                  </a:extLst>
                </a:gridCol>
                <a:gridCol w="2589849">
                  <a:extLst>
                    <a:ext uri="{9D8B030D-6E8A-4147-A177-3AD203B41FA5}">
                      <a16:colId xmlns:a16="http://schemas.microsoft.com/office/drawing/2014/main" val="28320302"/>
                    </a:ext>
                  </a:extLst>
                </a:gridCol>
              </a:tblGrid>
              <a:tr h="61129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185309"/>
                  </a:ext>
                </a:extLst>
              </a:tr>
              <a:tr h="611295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5779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C5EB39-0C7F-B7FB-F6CE-6D3FE27E5C19}"/>
              </a:ext>
            </a:extLst>
          </p:cNvPr>
          <p:cNvGraphicFramePr>
            <a:graphicFrameLocks noGrp="1"/>
          </p:cNvGraphicFramePr>
          <p:nvPr/>
        </p:nvGraphicFramePr>
        <p:xfrm>
          <a:off x="1815671" y="1861526"/>
          <a:ext cx="7492146" cy="2208945"/>
        </p:xfrm>
        <a:graphic>
          <a:graphicData uri="http://schemas.openxmlformats.org/drawingml/2006/table">
            <a:tbl>
              <a:tblPr firstRow="1" bandRow="1"/>
              <a:tblGrid>
                <a:gridCol w="1368745">
                  <a:extLst>
                    <a:ext uri="{9D8B030D-6E8A-4147-A177-3AD203B41FA5}">
                      <a16:colId xmlns:a16="http://schemas.microsoft.com/office/drawing/2014/main" val="72590886"/>
                    </a:ext>
                  </a:extLst>
                </a:gridCol>
                <a:gridCol w="1128637">
                  <a:extLst>
                    <a:ext uri="{9D8B030D-6E8A-4147-A177-3AD203B41FA5}">
                      <a16:colId xmlns:a16="http://schemas.microsoft.com/office/drawing/2014/main" val="2026039038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4294641353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4150121749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1801885767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2468895185"/>
                    </a:ext>
                  </a:extLst>
                </a:gridCol>
              </a:tblGrid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13246"/>
                  </a:ext>
                </a:extLst>
              </a:tr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876564"/>
                  </a:ext>
                </a:extLst>
              </a:tr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089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888AE9D-D8A7-637C-4BA1-C82818429A18}"/>
                  </a:ext>
                </a:extLst>
              </p14:cNvPr>
              <p14:cNvContentPartPr/>
              <p14:nvPr/>
            </p14:nvContentPartPr>
            <p14:xfrm>
              <a:off x="10469374" y="5054481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888AE9D-D8A7-637C-4BA1-C82818429A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0374" y="5045841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0BE87B38-367E-1A81-B00C-466F615330EC}"/>
              </a:ext>
            </a:extLst>
          </p:cNvPr>
          <p:cNvGrpSpPr/>
          <p:nvPr/>
        </p:nvGrpSpPr>
        <p:grpSpPr>
          <a:xfrm>
            <a:off x="5842654" y="3410721"/>
            <a:ext cx="820080" cy="479520"/>
            <a:chOff x="5842654" y="3410721"/>
            <a:chExt cx="820080" cy="47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C48A095-B950-9AD5-40E0-129AEDB3F82D}"/>
                    </a:ext>
                  </a:extLst>
                </p14:cNvPr>
                <p14:cNvContentPartPr/>
                <p14:nvPr/>
              </p14:nvContentPartPr>
              <p14:xfrm>
                <a:off x="5842654" y="3410721"/>
                <a:ext cx="527760" cy="479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C48A095-B950-9AD5-40E0-129AEDB3F82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36534" y="3404601"/>
                  <a:ext cx="54000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DDB162D-7314-1722-3439-74D4B6E9AF76}"/>
                    </a:ext>
                  </a:extLst>
                </p14:cNvPr>
                <p14:cNvContentPartPr/>
                <p14:nvPr/>
              </p14:nvContentPartPr>
              <p14:xfrm>
                <a:off x="5866414" y="3472641"/>
                <a:ext cx="796320" cy="380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DDB162D-7314-1722-3439-74D4B6E9AF7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60294" y="3466521"/>
                  <a:ext cx="808560" cy="393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81749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06545AB4-FB56-2757-E4EA-50C515BE0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A90ACEC2-09B1-9C58-F3C4-2D8F907E40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02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JSP: Solution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2590015D-A280-C823-3C8D-8456D45BAE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27385" y="4267024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After Iteration 4: Slot1 already occupied. Skip J2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D368467-2BA3-BD53-56FA-765038B53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99607"/>
              </p:ext>
            </p:extLst>
          </p:nvPr>
        </p:nvGraphicFramePr>
        <p:xfrm>
          <a:off x="1815671" y="4885377"/>
          <a:ext cx="7769547" cy="1222590"/>
        </p:xfrm>
        <a:graphic>
          <a:graphicData uri="http://schemas.openxmlformats.org/drawingml/2006/table">
            <a:tbl>
              <a:tblPr firstRow="1" bandRow="1"/>
              <a:tblGrid>
                <a:gridCol w="2589849">
                  <a:extLst>
                    <a:ext uri="{9D8B030D-6E8A-4147-A177-3AD203B41FA5}">
                      <a16:colId xmlns:a16="http://schemas.microsoft.com/office/drawing/2014/main" val="1511626782"/>
                    </a:ext>
                  </a:extLst>
                </a:gridCol>
                <a:gridCol w="2589849">
                  <a:extLst>
                    <a:ext uri="{9D8B030D-6E8A-4147-A177-3AD203B41FA5}">
                      <a16:colId xmlns:a16="http://schemas.microsoft.com/office/drawing/2014/main" val="2868023187"/>
                    </a:ext>
                  </a:extLst>
                </a:gridCol>
                <a:gridCol w="2589849">
                  <a:extLst>
                    <a:ext uri="{9D8B030D-6E8A-4147-A177-3AD203B41FA5}">
                      <a16:colId xmlns:a16="http://schemas.microsoft.com/office/drawing/2014/main" val="28320302"/>
                    </a:ext>
                  </a:extLst>
                </a:gridCol>
              </a:tblGrid>
              <a:tr h="61129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185309"/>
                  </a:ext>
                </a:extLst>
              </a:tr>
              <a:tr h="611295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5779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3F02FB-0F0A-5E50-A387-38BA66A40A4C}"/>
              </a:ext>
            </a:extLst>
          </p:cNvPr>
          <p:cNvGraphicFramePr>
            <a:graphicFrameLocks noGrp="1"/>
          </p:cNvGraphicFramePr>
          <p:nvPr/>
        </p:nvGraphicFramePr>
        <p:xfrm>
          <a:off x="1815671" y="1861526"/>
          <a:ext cx="7492146" cy="2208945"/>
        </p:xfrm>
        <a:graphic>
          <a:graphicData uri="http://schemas.openxmlformats.org/drawingml/2006/table">
            <a:tbl>
              <a:tblPr firstRow="1" bandRow="1"/>
              <a:tblGrid>
                <a:gridCol w="1368745">
                  <a:extLst>
                    <a:ext uri="{9D8B030D-6E8A-4147-A177-3AD203B41FA5}">
                      <a16:colId xmlns:a16="http://schemas.microsoft.com/office/drawing/2014/main" val="72590886"/>
                    </a:ext>
                  </a:extLst>
                </a:gridCol>
                <a:gridCol w="1128637">
                  <a:extLst>
                    <a:ext uri="{9D8B030D-6E8A-4147-A177-3AD203B41FA5}">
                      <a16:colId xmlns:a16="http://schemas.microsoft.com/office/drawing/2014/main" val="2026039038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4294641353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4150121749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1801885767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2468895185"/>
                    </a:ext>
                  </a:extLst>
                </a:gridCol>
              </a:tblGrid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13246"/>
                  </a:ext>
                </a:extLst>
              </a:tr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876564"/>
                  </a:ext>
                </a:extLst>
              </a:tr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089963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F28AF7F4-CE15-C908-3863-14AE131CBF8C}"/>
              </a:ext>
            </a:extLst>
          </p:cNvPr>
          <p:cNvGrpSpPr/>
          <p:nvPr/>
        </p:nvGrpSpPr>
        <p:grpSpPr>
          <a:xfrm>
            <a:off x="7202014" y="3339081"/>
            <a:ext cx="434520" cy="534960"/>
            <a:chOff x="7202014" y="3339081"/>
            <a:chExt cx="434520" cy="53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E1A50B6-7778-2E03-AC40-5EE2EF5F0536}"/>
                    </a:ext>
                  </a:extLst>
                </p14:cNvPr>
                <p14:cNvContentPartPr/>
                <p14:nvPr/>
              </p14:nvContentPartPr>
              <p14:xfrm>
                <a:off x="7572094" y="3462201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E1A50B6-7778-2E03-AC40-5EE2EF5F053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565974" y="345608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09B121E-BF3F-84F9-5B33-72A8271D2F9B}"/>
                    </a:ext>
                  </a:extLst>
                </p14:cNvPr>
                <p14:cNvContentPartPr/>
                <p14:nvPr/>
              </p14:nvContentPartPr>
              <p14:xfrm>
                <a:off x="7209574" y="3462201"/>
                <a:ext cx="362520" cy="411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09B121E-BF3F-84F9-5B33-72A8271D2F9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203454" y="3456081"/>
                  <a:ext cx="37476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156FCDA-E466-0EDA-787A-C918770CF8F2}"/>
                    </a:ext>
                  </a:extLst>
                </p14:cNvPr>
                <p14:cNvContentPartPr/>
                <p14:nvPr/>
              </p14:nvContentPartPr>
              <p14:xfrm>
                <a:off x="7202014" y="3339081"/>
                <a:ext cx="434520" cy="479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156FCDA-E466-0EDA-787A-C918770CF8F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95894" y="3332961"/>
                  <a:ext cx="446760" cy="49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46181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326BA62-B909-76C5-1543-69243D95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ECC1466E-E7CF-3961-CAEB-CE7FD1EDDE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02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JSP: Solution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D5461A0F-5CE6-AC0C-E361-02DE78F0A9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27385" y="4267024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After Iteration 5: Slot3 free. Insert J5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5737E0-23DC-BB0A-B723-33CF1382D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117748"/>
              </p:ext>
            </p:extLst>
          </p:nvPr>
        </p:nvGraphicFramePr>
        <p:xfrm>
          <a:off x="1815671" y="4885377"/>
          <a:ext cx="7769547" cy="1222590"/>
        </p:xfrm>
        <a:graphic>
          <a:graphicData uri="http://schemas.openxmlformats.org/drawingml/2006/table">
            <a:tbl>
              <a:tblPr firstRow="1" bandRow="1"/>
              <a:tblGrid>
                <a:gridCol w="2589849">
                  <a:extLst>
                    <a:ext uri="{9D8B030D-6E8A-4147-A177-3AD203B41FA5}">
                      <a16:colId xmlns:a16="http://schemas.microsoft.com/office/drawing/2014/main" val="1511626782"/>
                    </a:ext>
                  </a:extLst>
                </a:gridCol>
                <a:gridCol w="2589849">
                  <a:extLst>
                    <a:ext uri="{9D8B030D-6E8A-4147-A177-3AD203B41FA5}">
                      <a16:colId xmlns:a16="http://schemas.microsoft.com/office/drawing/2014/main" val="2868023187"/>
                    </a:ext>
                  </a:extLst>
                </a:gridCol>
                <a:gridCol w="2589849">
                  <a:extLst>
                    <a:ext uri="{9D8B030D-6E8A-4147-A177-3AD203B41FA5}">
                      <a16:colId xmlns:a16="http://schemas.microsoft.com/office/drawing/2014/main" val="28320302"/>
                    </a:ext>
                  </a:extLst>
                </a:gridCol>
              </a:tblGrid>
              <a:tr h="61129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Slot3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185309"/>
                  </a:ext>
                </a:extLst>
              </a:tr>
              <a:tr h="611295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5779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67CCCC-EAA1-B0C3-7E93-CE31CE54A4B4}"/>
              </a:ext>
            </a:extLst>
          </p:cNvPr>
          <p:cNvGraphicFramePr>
            <a:graphicFrameLocks noGrp="1"/>
          </p:cNvGraphicFramePr>
          <p:nvPr/>
        </p:nvGraphicFramePr>
        <p:xfrm>
          <a:off x="1815671" y="1861526"/>
          <a:ext cx="7492146" cy="2208945"/>
        </p:xfrm>
        <a:graphic>
          <a:graphicData uri="http://schemas.openxmlformats.org/drawingml/2006/table">
            <a:tbl>
              <a:tblPr firstRow="1" bandRow="1"/>
              <a:tblGrid>
                <a:gridCol w="1368745">
                  <a:extLst>
                    <a:ext uri="{9D8B030D-6E8A-4147-A177-3AD203B41FA5}">
                      <a16:colId xmlns:a16="http://schemas.microsoft.com/office/drawing/2014/main" val="72590886"/>
                    </a:ext>
                  </a:extLst>
                </a:gridCol>
                <a:gridCol w="1128637">
                  <a:extLst>
                    <a:ext uri="{9D8B030D-6E8A-4147-A177-3AD203B41FA5}">
                      <a16:colId xmlns:a16="http://schemas.microsoft.com/office/drawing/2014/main" val="2026039038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4294641353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4150121749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1801885767"/>
                    </a:ext>
                  </a:extLst>
                </a:gridCol>
                <a:gridCol w="1248691">
                  <a:extLst>
                    <a:ext uri="{9D8B030D-6E8A-4147-A177-3AD203B41FA5}">
                      <a16:colId xmlns:a16="http://schemas.microsoft.com/office/drawing/2014/main" val="2468895185"/>
                    </a:ext>
                  </a:extLst>
                </a:gridCol>
              </a:tblGrid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13246"/>
                  </a:ext>
                </a:extLst>
              </a:tr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876564"/>
                  </a:ext>
                </a:extLst>
              </a:tr>
              <a:tr h="736315">
                <a:tc>
                  <a:txBody>
                    <a:bodyPr/>
                    <a:lstStyle/>
                    <a:p>
                      <a:pPr algn="ctr"/>
                      <a:r>
                        <a:rPr lang="en-SG" sz="2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0899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CAB9F62-0DBB-6C3E-B511-991961A5D587}"/>
              </a:ext>
            </a:extLst>
          </p:cNvPr>
          <p:cNvSpPr txBox="1"/>
          <p:nvPr/>
        </p:nvSpPr>
        <p:spPr>
          <a:xfrm>
            <a:off x="933734" y="6268502"/>
            <a:ext cx="9679469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Profit: 27+100+15=142             Jobs executed: J3, J1, J5              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0636408-5F91-A2DA-5640-8EB1789859BE}"/>
                  </a:ext>
                </a:extLst>
              </p14:cNvPr>
              <p14:cNvContentPartPr/>
              <p14:nvPr/>
            </p14:nvContentPartPr>
            <p14:xfrm>
              <a:off x="8516734" y="3310281"/>
              <a:ext cx="536400" cy="370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0636408-5F91-A2DA-5640-8EB1789859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10614" y="3304161"/>
                <a:ext cx="54864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A4BFEDA-C9A4-D207-FE3F-7DBB15E0EB52}"/>
                  </a:ext>
                </a:extLst>
              </p14:cNvPr>
              <p14:cNvContentPartPr/>
              <p14:nvPr/>
            </p14:nvContentPartPr>
            <p14:xfrm>
              <a:off x="10901014" y="4212441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A4BFEDA-C9A4-D207-FE3F-7DBB15E0EB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94894" y="420632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53212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endParaRPr sz="80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US" sz="8000" dirty="0">
                <a:solidFill>
                  <a:srgbClr val="C00000"/>
                </a:solidFill>
              </a:rPr>
              <a:t>Thank You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2461</TotalTime>
  <Words>1495</Words>
  <Application>Microsoft Office PowerPoint</Application>
  <PresentationFormat>Widescreen</PresentationFormat>
  <Paragraphs>368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Courier New</vt:lpstr>
      <vt:lpstr>Wingdings</vt:lpstr>
      <vt:lpstr>Office Theme</vt:lpstr>
      <vt:lpstr>Greedy Techniques</vt:lpstr>
      <vt:lpstr>Introduction</vt:lpstr>
      <vt:lpstr>Introduction</vt:lpstr>
      <vt:lpstr>Greedy Algorithm: Working</vt:lpstr>
      <vt:lpstr>Greedy Isn't Always Good!</vt:lpstr>
      <vt:lpstr>Greedy Isn't Always Good! (Example)</vt:lpstr>
      <vt:lpstr>Greedy Isn't Always Good! (Example)</vt:lpstr>
      <vt:lpstr>Applications</vt:lpstr>
      <vt:lpstr>Fractional Knapsack Problem</vt:lpstr>
      <vt:lpstr>Picking the items with smaller weights first</vt:lpstr>
      <vt:lpstr>Picking items with larger profit first</vt:lpstr>
      <vt:lpstr> Selecting Items by profit/weight Ratio</vt:lpstr>
      <vt:lpstr>FKP: Time Complexity</vt:lpstr>
      <vt:lpstr>FKP: Time Complexity</vt:lpstr>
      <vt:lpstr>FKP: Time Complexity</vt:lpstr>
      <vt:lpstr>FKP: Time Complexity</vt:lpstr>
      <vt:lpstr>FKP: Space Complexity</vt:lpstr>
      <vt:lpstr>Job Scheduling Problem</vt:lpstr>
      <vt:lpstr>Job Scheduling Problem</vt:lpstr>
      <vt:lpstr>JSP: Greedy Strategy</vt:lpstr>
      <vt:lpstr>JSP: Example</vt:lpstr>
      <vt:lpstr>JSP: Solution</vt:lpstr>
      <vt:lpstr>JSP: Solution</vt:lpstr>
      <vt:lpstr>JSP: Solution</vt:lpstr>
      <vt:lpstr>JSP: Solution</vt:lpstr>
      <vt:lpstr>JSP: Solution</vt:lpstr>
      <vt:lpstr>JSP: Solution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Insanur Shuvo</dc:creator>
  <cp:lastModifiedBy>Maimuna Chowdhury Disha</cp:lastModifiedBy>
  <cp:revision>39</cp:revision>
  <dcterms:created xsi:type="dcterms:W3CDTF">2016-09-19T04:08:53Z</dcterms:created>
  <dcterms:modified xsi:type="dcterms:W3CDTF">2026-03-14T06:30:25Z</dcterms:modified>
</cp:coreProperties>
</file>