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340" r:id="rId4"/>
    <p:sldId id="403" r:id="rId5"/>
    <p:sldId id="380" r:id="rId6"/>
    <p:sldId id="381" r:id="rId7"/>
    <p:sldId id="382" r:id="rId8"/>
    <p:sldId id="383" r:id="rId9"/>
    <p:sldId id="405" r:id="rId10"/>
    <p:sldId id="406" r:id="rId11"/>
    <p:sldId id="407" r:id="rId12"/>
    <p:sldId id="408" r:id="rId13"/>
    <p:sldId id="384" r:id="rId14"/>
    <p:sldId id="404" r:id="rId15"/>
    <p:sldId id="281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gSE3pmRORSF/beTMrWOScEMNow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9" Type="http://customschemas.google.com/relationships/presentationmetadata" Target="metadata"/><Relationship Id="rId3" Type="http://schemas.openxmlformats.org/officeDocument/2006/relationships/slide" Target="slides/slide2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10BFD5F-4660-048A-07F9-B14B7ECB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C971283-068E-1525-124F-EAE47DBA4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06513BF-0D2E-4682-7097-43AE60EEA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0890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8B6E5D9-E61B-03F0-272C-5A2F49EE9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1E3375D8-73EC-55AE-DBC5-56FBAB18F5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662564F2-980E-73C8-C730-BCAE4FD48A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7563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4ECF8D3-1C28-6D1E-F13B-99E8AE6D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F524784-EF93-E1BF-DF00-164187738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621FAF9-FB8D-8796-B555-B4315C0489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4632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E47226B8-BE96-BFD4-F932-6A3DAA5D1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569D67D3-C0A5-2C32-B36E-6B2BC6591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F6677FF-DC8C-6128-AA12-5A44F0F4F2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4844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A713092-B374-B0C3-6DE2-6CA9D1A1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39ED865C-577D-C79B-973B-50EEC6EFD2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CA88504E-C46E-AFF3-5B90-0D3187502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7770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558A9A0-2F4D-1EDE-2BF8-E01228A5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BD65D670-55EB-F24D-6508-F7B5F2D77A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8C97B4E2-E28B-DC25-F5B6-E6C3CD3D7B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220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2F932EF2-919A-7FD9-79BD-6FD189417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BFEBFB68-EA2E-1DA9-5A1A-EFF2F402B0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ED8E2E1-15E4-C241-1C0F-8661556E5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9141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827A3AD-6CF9-71E3-00D0-A028604F3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152DC2DD-2F5D-3927-804E-4E490C5FE0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05010D10-CBE2-80C3-F162-989BDBB188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994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3D30279-DFA2-D6C6-7131-0625D6E42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3863856-0386-CF4C-EE10-47590FA6A2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7BBEF707-25AB-8BD5-796E-DFBE3FBF10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0696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47F08C4-D01A-F2EC-B515-80FA3B01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F71117F8-886B-E8D0-70B6-08F0E3693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C807C90-CF12-D16C-7E93-EFE1DDABB8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56390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2221810-68ED-448B-D092-1DE1F956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E193232-A337-C8F3-F248-5E30B69319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4ACBD35-3B67-CF1B-E2D9-9A9B6512FC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4557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15A99B4-65AE-95C5-4193-73656CEB7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D3393F73-D238-FC54-E102-26591592C9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445D43F2-5541-4CE6-777B-5D2EEDFCDF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01953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701421" y="1484029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Calibri"/>
              <a:buNone/>
            </a:pPr>
            <a:r>
              <a:rPr lang="en-US" sz="5400" b="1" dirty="0">
                <a:solidFill>
                  <a:srgbClr val="833C0B"/>
                </a:solidFill>
              </a:rPr>
              <a:t>Backtracking</a:t>
            </a:r>
            <a:endParaRPr dirty="0">
              <a:solidFill>
                <a:srgbClr val="833C0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Introduction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/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Backtracking is a problem-solving algorithmic technique that involves finding a solution incrementally by trying different options and undoing them if they lead to a dead end.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Backtracking is used to explore multiple possibilities in problems such as  solving puzzles like Sudoku, by systematically trying different choices.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When a choice leads to a dead end, the algorithm backtracks to the previous decision point and tries a different path, avoiding unnecessary exploration of invalid solutions.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1ADC790-FEE6-2223-BE48-990EC0BA3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6FF9B83B-1C3A-0ED8-67A0-4C7EF41222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Backtracking-Working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3C67DF14-7638-8669-4E41-6D6AF6F73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Choose</a:t>
            </a:r>
            <a:r>
              <a:rPr lang="en-SG" sz="2500" dirty="0">
                <a:solidFill>
                  <a:schemeClr val="tx1"/>
                </a:solidFill>
              </a:rPr>
              <a:t> – Start by making a choice that could lead toward a solution.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Explore</a:t>
            </a:r>
            <a:r>
              <a:rPr lang="en-SG" sz="2500" dirty="0">
                <a:solidFill>
                  <a:schemeClr val="tx1"/>
                </a:solidFill>
              </a:rPr>
              <a:t> – Recursively move forward with this choice.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Check validity </a:t>
            </a:r>
            <a:r>
              <a:rPr lang="en-SG" sz="2500" dirty="0">
                <a:solidFill>
                  <a:schemeClr val="tx1"/>
                </a:solidFill>
              </a:rPr>
              <a:t>– If the choice leads to an invalid state, undo it (backtrack) and try another option.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Repeat</a:t>
            </a:r>
            <a:r>
              <a:rPr lang="en-SG" sz="2500" dirty="0">
                <a:solidFill>
                  <a:schemeClr val="tx1"/>
                </a:solidFill>
              </a:rPr>
              <a:t> – Continue this process until all possibilities are explored or a valid solution is found.</a:t>
            </a:r>
          </a:p>
        </p:txBody>
      </p:sp>
    </p:spTree>
    <p:extLst>
      <p:ext uri="{BB962C8B-B14F-4D97-AF65-F5344CB8AC3E}">
        <p14:creationId xmlns:p14="http://schemas.microsoft.com/office/powerpoint/2010/main" val="64698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0E28653-DAD3-8E4C-C4C4-3163D952D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416F8F0-9003-0774-3636-800F06EE91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Backtracking-Examples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94DD9253-C6D0-71FB-F087-E8EEED3B00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M-</a:t>
            </a:r>
            <a:r>
              <a:rPr lang="en-SG" sz="2500" dirty="0" err="1">
                <a:solidFill>
                  <a:schemeClr val="tx1"/>
                </a:solidFill>
              </a:rPr>
              <a:t>Coloring</a:t>
            </a:r>
            <a:r>
              <a:rPr lang="en-SG" sz="2500" dirty="0">
                <a:solidFill>
                  <a:schemeClr val="tx1"/>
                </a:solidFill>
              </a:rPr>
              <a:t> Problem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N Queens Problem</a:t>
            </a:r>
          </a:p>
        </p:txBody>
      </p:sp>
    </p:spTree>
    <p:extLst>
      <p:ext uri="{BB962C8B-B14F-4D97-AF65-F5344CB8AC3E}">
        <p14:creationId xmlns:p14="http://schemas.microsoft.com/office/powerpoint/2010/main" val="4106991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848B1E1-BD59-F7E3-5A06-7EE99E0C0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9560A57-0E42-49C8-6BC2-D091B18BD1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Graph Coloring Problem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A17F2BD2-67F9-87E9-1D8A-D4289F3189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lvl="0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400" dirty="0"/>
              <a:t>It refers to the problem of </a:t>
            </a:r>
            <a:r>
              <a:rPr lang="en-SG" sz="2400" dirty="0" err="1"/>
              <a:t>coloring</a:t>
            </a:r>
            <a:r>
              <a:rPr lang="en-SG" sz="2400" dirty="0"/>
              <a:t> vertices of a graph in such a way that no two adjacent vertices have the same </a:t>
            </a:r>
            <a:r>
              <a:rPr lang="en-SG" sz="2400" dirty="0" err="1"/>
              <a:t>color</a:t>
            </a:r>
            <a:r>
              <a:rPr lang="en-SG" sz="2400" dirty="0"/>
              <a:t>.</a:t>
            </a:r>
          </a:p>
          <a:p>
            <a:pPr lvl="0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endParaRPr lang="en-SG" sz="2400" dirty="0"/>
          </a:p>
          <a:p>
            <a:pPr lvl="0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Also called the vertex </a:t>
            </a:r>
            <a:r>
              <a:rPr lang="en-SG" sz="2500" dirty="0" err="1">
                <a:solidFill>
                  <a:schemeClr val="tx1"/>
                </a:solidFill>
              </a:rPr>
              <a:t>coloring</a:t>
            </a:r>
            <a:r>
              <a:rPr lang="en-SG" sz="2500" dirty="0">
                <a:solidFill>
                  <a:schemeClr val="tx1"/>
                </a:solidFill>
              </a:rPr>
              <a:t> problem.</a:t>
            </a:r>
          </a:p>
          <a:p>
            <a:pPr marL="69850" lvl="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</a:t>
            </a:r>
            <a:r>
              <a:rPr lang="en-SG" sz="2500" dirty="0" err="1">
                <a:solidFill>
                  <a:schemeClr val="tx1"/>
                </a:solidFill>
              </a:rPr>
              <a:t>coloring</a:t>
            </a:r>
            <a:r>
              <a:rPr lang="en-SG" sz="2500" dirty="0">
                <a:solidFill>
                  <a:schemeClr val="tx1"/>
                </a:solidFill>
              </a:rPr>
              <a:t> is done using at most m </a:t>
            </a:r>
            <a:r>
              <a:rPr lang="en-SG" sz="2500" dirty="0" err="1">
                <a:solidFill>
                  <a:schemeClr val="tx1"/>
                </a:solidFill>
              </a:rPr>
              <a:t>colors</a:t>
            </a:r>
            <a:r>
              <a:rPr lang="en-SG" sz="2500" dirty="0">
                <a:solidFill>
                  <a:schemeClr val="tx1"/>
                </a:solidFill>
              </a:rPr>
              <a:t>, it is called m-</a:t>
            </a:r>
            <a:r>
              <a:rPr lang="en-SG" sz="2500" dirty="0" err="1">
                <a:solidFill>
                  <a:schemeClr val="tx1"/>
                </a:solidFill>
              </a:rPr>
              <a:t>coloring</a:t>
            </a:r>
            <a:r>
              <a:rPr lang="en-SG" sz="25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5360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EF3DC26-0A78-35A7-5D6F-CD694D0AE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D7CB8EA-F482-51AB-1B9E-30BAB52148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Chromatic Number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069003B6-B836-BD50-4746-14B915F4C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 minimum number of </a:t>
            </a:r>
            <a:r>
              <a:rPr lang="en-SG" sz="2500" dirty="0" err="1">
                <a:solidFill>
                  <a:schemeClr val="tx1"/>
                </a:solidFill>
              </a:rPr>
              <a:t>colors</a:t>
            </a:r>
            <a:r>
              <a:rPr lang="en-SG" sz="2500" dirty="0">
                <a:solidFill>
                  <a:schemeClr val="tx1"/>
                </a:solidFill>
              </a:rPr>
              <a:t> needed to </a:t>
            </a:r>
            <a:r>
              <a:rPr lang="en-SG" sz="2500" dirty="0" err="1">
                <a:solidFill>
                  <a:schemeClr val="tx1"/>
                </a:solidFill>
              </a:rPr>
              <a:t>color</a:t>
            </a:r>
            <a:r>
              <a:rPr lang="en-SG" sz="2500" dirty="0">
                <a:solidFill>
                  <a:schemeClr val="tx1"/>
                </a:solidFill>
              </a:rPr>
              <a:t> a graph is called its chromatic number.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48D2EE0-C10E-81E3-2ACD-482D78B15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735" y="3127796"/>
            <a:ext cx="10515600" cy="242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300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2A2A8CD-3EA5-145A-ABCB-48F14DD7E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8F59DE16-367A-3826-5245-95CFEB7448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Graph Coloring Problem-Example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ED9E528E-3D41-2012-39C9-8978E6A26C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Let us </a:t>
            </a:r>
            <a:r>
              <a:rPr lang="en-SG" sz="2500" dirty="0" err="1">
                <a:solidFill>
                  <a:schemeClr val="tx1"/>
                </a:solidFill>
              </a:rPr>
              <a:t>color</a:t>
            </a:r>
            <a:r>
              <a:rPr lang="en-SG" sz="2500" dirty="0">
                <a:solidFill>
                  <a:schemeClr val="tx1"/>
                </a:solidFill>
              </a:rPr>
              <a:t> this following graph using 3 </a:t>
            </a:r>
            <a:r>
              <a:rPr lang="en-SG" sz="2500" dirty="0" err="1">
                <a:solidFill>
                  <a:schemeClr val="tx1"/>
                </a:solidFill>
              </a:rPr>
              <a:t>colors</a:t>
            </a:r>
            <a:r>
              <a:rPr lang="en-SG" sz="2500" dirty="0">
                <a:solidFill>
                  <a:schemeClr val="tx1"/>
                </a:solidFill>
              </a:rPr>
              <a:t>: {R,G,B}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E4F2459-535A-3501-A376-D9B1B958BC8C}"/>
              </a:ext>
            </a:extLst>
          </p:cNvPr>
          <p:cNvSpPr/>
          <p:nvPr/>
        </p:nvSpPr>
        <p:spPr>
          <a:xfrm>
            <a:off x="4017196" y="3133618"/>
            <a:ext cx="585626" cy="59590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EC18DE-2C77-24EB-0B8B-1506B3564BC0}"/>
              </a:ext>
            </a:extLst>
          </p:cNvPr>
          <p:cNvSpPr txBox="1"/>
          <p:nvPr/>
        </p:nvSpPr>
        <p:spPr>
          <a:xfrm>
            <a:off x="4125074" y="3161872"/>
            <a:ext cx="18493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F5D9122-9A86-B160-05B3-CBE809A270F2}"/>
              </a:ext>
            </a:extLst>
          </p:cNvPr>
          <p:cNvSpPr/>
          <p:nvPr/>
        </p:nvSpPr>
        <p:spPr>
          <a:xfrm>
            <a:off x="5803187" y="3161872"/>
            <a:ext cx="585626" cy="59590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522C9D-91D7-ACD3-29FA-9F086C28F5CB}"/>
              </a:ext>
            </a:extLst>
          </p:cNvPr>
          <p:cNvSpPr txBox="1"/>
          <p:nvPr/>
        </p:nvSpPr>
        <p:spPr>
          <a:xfrm>
            <a:off x="5911065" y="3207341"/>
            <a:ext cx="18493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450A4B-A1BD-C677-9B89-E25722010E48}"/>
              </a:ext>
            </a:extLst>
          </p:cNvPr>
          <p:cNvSpPr/>
          <p:nvPr/>
        </p:nvSpPr>
        <p:spPr>
          <a:xfrm>
            <a:off x="5803187" y="4702754"/>
            <a:ext cx="585626" cy="59590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7422C36-C80B-740D-F439-635CDB96CA25}"/>
              </a:ext>
            </a:extLst>
          </p:cNvPr>
          <p:cNvSpPr/>
          <p:nvPr/>
        </p:nvSpPr>
        <p:spPr>
          <a:xfrm>
            <a:off x="4017196" y="4702753"/>
            <a:ext cx="585626" cy="59590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895C06-A84A-5B01-C59B-3C81475C9F3C}"/>
              </a:ext>
            </a:extLst>
          </p:cNvPr>
          <p:cNvSpPr txBox="1"/>
          <p:nvPr/>
        </p:nvSpPr>
        <p:spPr>
          <a:xfrm>
            <a:off x="5911065" y="4771431"/>
            <a:ext cx="3767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B637C4-57CE-14A7-5BC2-0A0BE4D2CDCC}"/>
              </a:ext>
            </a:extLst>
          </p:cNvPr>
          <p:cNvSpPr txBox="1"/>
          <p:nvPr/>
        </p:nvSpPr>
        <p:spPr>
          <a:xfrm>
            <a:off x="4125074" y="4771431"/>
            <a:ext cx="32449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61D2B2-CF26-7CA9-1B6B-0BBBA0420496}"/>
              </a:ext>
            </a:extLst>
          </p:cNvPr>
          <p:cNvCxnSpPr>
            <a:stCxn id="2" idx="6"/>
          </p:cNvCxnSpPr>
          <p:nvPr/>
        </p:nvCxnSpPr>
        <p:spPr>
          <a:xfrm flipV="1">
            <a:off x="4602822" y="3429000"/>
            <a:ext cx="1200365" cy="256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6047C1-9DA5-EF28-1512-C1773448E0EB}"/>
              </a:ext>
            </a:extLst>
          </p:cNvPr>
          <p:cNvCxnSpPr>
            <a:stCxn id="4" idx="4"/>
            <a:endCxn id="9" idx="0"/>
          </p:cNvCxnSpPr>
          <p:nvPr/>
        </p:nvCxnSpPr>
        <p:spPr>
          <a:xfrm>
            <a:off x="6096000" y="3757773"/>
            <a:ext cx="0" cy="94498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5DA6A58-3B1B-158A-E3B2-D61E67A33CB9}"/>
              </a:ext>
            </a:extLst>
          </p:cNvPr>
          <p:cNvCxnSpPr>
            <a:stCxn id="9" idx="2"/>
            <a:endCxn id="10" idx="6"/>
          </p:cNvCxnSpPr>
          <p:nvPr/>
        </p:nvCxnSpPr>
        <p:spPr>
          <a:xfrm flipH="1" flipV="1">
            <a:off x="4602822" y="5000704"/>
            <a:ext cx="1200365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31FCA98-13E1-D82A-FC5E-1C03BDD31764}"/>
              </a:ext>
            </a:extLst>
          </p:cNvPr>
          <p:cNvCxnSpPr>
            <a:stCxn id="2" idx="4"/>
            <a:endCxn id="10" idx="0"/>
          </p:cNvCxnSpPr>
          <p:nvPr/>
        </p:nvCxnSpPr>
        <p:spPr>
          <a:xfrm>
            <a:off x="4310009" y="3729519"/>
            <a:ext cx="0" cy="97323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209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404270F0-6F60-E9AB-451D-00E7C7D03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148379DD-801C-0CE8-66EB-5A496626C7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Applications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7D84A572-7111-93FC-AC03-DB9F374E12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Map </a:t>
            </a:r>
            <a:r>
              <a:rPr lang="en-SG" sz="2500" dirty="0" err="1">
                <a:solidFill>
                  <a:schemeClr val="tx1"/>
                </a:solidFill>
              </a:rPr>
              <a:t>coloring</a:t>
            </a:r>
            <a:r>
              <a:rPr lang="en-SG" sz="2500" dirty="0">
                <a:solidFill>
                  <a:schemeClr val="tx1"/>
                </a:solidFill>
              </a:rPr>
              <a:t>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Designing a timetable.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002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2ADA9A7-325D-43F3-C6AA-B30F85021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E7727184-E236-A1A3-1F45-206635F967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N Queens Problem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55655D02-7A2B-11D1-DB3E-AF34D02458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In the N-Queens problem, the goal is to place N queens on an N×N chessboard so that no two queens attack each other (same row, column, or diagonal).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FB7F88-13DA-229C-9184-2BE286613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543" y="3191303"/>
            <a:ext cx="586740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95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0BC67AD-D622-9282-2597-7312E7EC8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BB6C5D71-3B45-EF69-B536-92E9828F05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N Queens Problem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FF15430E-4D99-A728-E076-ED0F71647C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Use backtracking to place queens row by row, checking if each position is safe. If safe, place the queen and move to the next row; otherwise, backtrack and try another position. Store the solution when all queens are placed.</a:t>
            </a:r>
          </a:p>
        </p:txBody>
      </p:sp>
    </p:spTree>
    <p:extLst>
      <p:ext uri="{BB962C8B-B14F-4D97-AF65-F5344CB8AC3E}">
        <p14:creationId xmlns:p14="http://schemas.microsoft.com/office/powerpoint/2010/main" val="174449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3AAA5A0-F34A-44FF-8A98-9FFA5ACB8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B488527C-804E-3956-B4A3-98EBF6AD40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N Queens Problem-Example</a:t>
            </a:r>
            <a:endParaRPr dirty="0">
              <a:solidFill>
                <a:srgbClr val="833C0B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4FB822-DB49-4754-C959-45AEA1D86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888408"/>
              </p:ext>
            </p:extLst>
          </p:nvPr>
        </p:nvGraphicFramePr>
        <p:xfrm>
          <a:off x="4929314" y="2116476"/>
          <a:ext cx="2807128" cy="1901480"/>
        </p:xfrm>
        <a:graphic>
          <a:graphicData uri="http://schemas.openxmlformats.org/drawingml/2006/table">
            <a:tbl>
              <a:tblPr firstRow="1" bandRow="1"/>
              <a:tblGrid>
                <a:gridCol w="701782">
                  <a:extLst>
                    <a:ext uri="{9D8B030D-6E8A-4147-A177-3AD203B41FA5}">
                      <a16:colId xmlns:a16="http://schemas.microsoft.com/office/drawing/2014/main" val="388296670"/>
                    </a:ext>
                  </a:extLst>
                </a:gridCol>
                <a:gridCol w="701782">
                  <a:extLst>
                    <a:ext uri="{9D8B030D-6E8A-4147-A177-3AD203B41FA5}">
                      <a16:colId xmlns:a16="http://schemas.microsoft.com/office/drawing/2014/main" val="3072450581"/>
                    </a:ext>
                  </a:extLst>
                </a:gridCol>
                <a:gridCol w="701782">
                  <a:extLst>
                    <a:ext uri="{9D8B030D-6E8A-4147-A177-3AD203B41FA5}">
                      <a16:colId xmlns:a16="http://schemas.microsoft.com/office/drawing/2014/main" val="3587149395"/>
                    </a:ext>
                  </a:extLst>
                </a:gridCol>
                <a:gridCol w="701782">
                  <a:extLst>
                    <a:ext uri="{9D8B030D-6E8A-4147-A177-3AD203B41FA5}">
                      <a16:colId xmlns:a16="http://schemas.microsoft.com/office/drawing/2014/main" val="1971821563"/>
                    </a:ext>
                  </a:extLst>
                </a:gridCol>
              </a:tblGrid>
              <a:tr h="475370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764729"/>
                  </a:ext>
                </a:extLst>
              </a:tr>
              <a:tr h="475370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428177"/>
                  </a:ext>
                </a:extLst>
              </a:tr>
              <a:tr h="475370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035797"/>
                  </a:ext>
                </a:extLst>
              </a:tr>
              <a:tr h="475370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20145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648CBB9-7B6F-AB3E-15E8-B7D509B19E1E}"/>
              </a:ext>
            </a:extLst>
          </p:cNvPr>
          <p:cNvSpPr txBox="1"/>
          <p:nvPr/>
        </p:nvSpPr>
        <p:spPr>
          <a:xfrm>
            <a:off x="4929314" y="1633591"/>
            <a:ext cx="280712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1         2       3        4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F4647-3EA9-36AE-9575-8FE9EB3D316F}"/>
              </a:ext>
            </a:extLst>
          </p:cNvPr>
          <p:cNvSpPr txBox="1"/>
          <p:nvPr/>
        </p:nvSpPr>
        <p:spPr>
          <a:xfrm>
            <a:off x="4375649" y="2110645"/>
            <a:ext cx="4828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D1A44-3077-5A80-D2CC-B86A3834D88F}"/>
              </a:ext>
            </a:extLst>
          </p:cNvPr>
          <p:cNvSpPr txBox="1"/>
          <p:nvPr/>
        </p:nvSpPr>
        <p:spPr>
          <a:xfrm>
            <a:off x="4375650" y="2587699"/>
            <a:ext cx="4828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470B03-BD3A-FA81-F0C2-CDFDCCFBAB9B}"/>
              </a:ext>
            </a:extLst>
          </p:cNvPr>
          <p:cNvSpPr txBox="1"/>
          <p:nvPr/>
        </p:nvSpPr>
        <p:spPr>
          <a:xfrm>
            <a:off x="4375650" y="3064753"/>
            <a:ext cx="4828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BD0048-0DF6-2BC4-F58E-6A08354A7DD2}"/>
              </a:ext>
            </a:extLst>
          </p:cNvPr>
          <p:cNvSpPr txBox="1"/>
          <p:nvPr/>
        </p:nvSpPr>
        <p:spPr>
          <a:xfrm>
            <a:off x="4375649" y="3540902"/>
            <a:ext cx="4828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9" name="Google Shape;102;p3">
            <a:extLst>
              <a:ext uri="{FF2B5EF4-FFF2-40B4-BE49-F238E27FC236}">
                <a16:creationId xmlns:a16="http://schemas.microsoft.com/office/drawing/2014/main" id="{F4175199-043B-876E-024B-21A4122AA1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4388390"/>
            <a:ext cx="7648254" cy="190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Given queens: Q1, Q2, Q3, Q4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989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0C00ABA5-7DBE-46C4-54C0-6ABBA8CBE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53A5C0BA-2325-1AC9-675C-9E174E1D59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Applications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719543FA-AF5A-E84F-9C26-7ECF5B4979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Robotic Path Planning.</a:t>
            </a: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Solving complex constraint-based puzzle problems.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294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965D2B2-3EE4-0AAE-6B71-72A7538CF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EA80D627-8A5E-E9E5-295F-72C68992FD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When to use Backtracking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1B288941-866F-5EE9-FCB6-7B64AB534D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Constraint satisfaction problems: </a:t>
            </a:r>
            <a:r>
              <a:rPr lang="en-SG" sz="2500" dirty="0">
                <a:solidFill>
                  <a:schemeClr val="tx1"/>
                </a:solidFill>
              </a:rPr>
              <a:t>When you need to build a solution step by step and must satisfy certain conditions (e.g., N-Queens, Sudoku, Rat in a Maze).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Search problems: </a:t>
            </a:r>
            <a:r>
              <a:rPr lang="en-SG" sz="2500" dirty="0">
                <a:solidFill>
                  <a:schemeClr val="tx1"/>
                </a:solidFill>
              </a:rPr>
              <a:t>When the solution space is large, but invalid or infeasible branches can be pruned early.</a:t>
            </a: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500" b="1" dirty="0"/>
              <a:t>Multiple solutions: </a:t>
            </a:r>
            <a:r>
              <a:rPr lang="en-SG" sz="2500" dirty="0"/>
              <a:t>When you need to explore all possible valid solutions, not just one.</a:t>
            </a: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500" b="1" dirty="0"/>
              <a:t>Combinatorial problems: </a:t>
            </a:r>
            <a:r>
              <a:rPr lang="en-SG" sz="2500" dirty="0"/>
              <a:t>When you must generate all valid combinations, permutations, or subsets under constraints.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054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311A521-0CF6-308D-A4CE-BE678EE8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E693DB6A-BAA6-E6EB-0E28-3A778CFC0F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When not to use Backtracking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D63A4571-E38D-1B30-5622-82D5672852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No pruning possible: </a:t>
            </a:r>
            <a:r>
              <a:rPr lang="en-SG" sz="2500" dirty="0">
                <a:solidFill>
                  <a:schemeClr val="tx1"/>
                </a:solidFill>
              </a:rPr>
              <a:t>If all branches must be explored anyway (no constraints to cut early), brute force or iterative methods may be simpler.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Large input size: </a:t>
            </a:r>
            <a:r>
              <a:rPr lang="en-SG" sz="2500" dirty="0">
                <a:solidFill>
                  <a:schemeClr val="tx1"/>
                </a:solidFill>
              </a:rPr>
              <a:t>Backtracking can be exponential in time. For very large inputs without strong pruning opportunities, it becomes impractical.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/>
              <a:t>Single optimal solution: </a:t>
            </a:r>
            <a:r>
              <a:rPr lang="en-SG" sz="2500" dirty="0"/>
              <a:t>If the task only needs one best solution with clear optimization criteria, algorithms like DP, greedy, or graph search may be faster.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723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endParaRPr sz="80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US" sz="8000" dirty="0">
                <a:solidFill>
                  <a:srgbClr val="C00000"/>
                </a:solidFill>
              </a:rPr>
              <a:t>Thank You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2924</TotalTime>
  <Words>550</Words>
  <Application>Microsoft Office PowerPoint</Application>
  <PresentationFormat>Widescreen</PresentationFormat>
  <Paragraphs>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Backtracking</vt:lpstr>
      <vt:lpstr>Introduction</vt:lpstr>
      <vt:lpstr>Backtracking-Working</vt:lpstr>
      <vt:lpstr>Backtracking-Examples</vt:lpstr>
      <vt:lpstr>Graph Coloring Problem</vt:lpstr>
      <vt:lpstr>Chromatic Number</vt:lpstr>
      <vt:lpstr>Graph Coloring Problem-Example</vt:lpstr>
      <vt:lpstr>Applications</vt:lpstr>
      <vt:lpstr>N Queens Problem</vt:lpstr>
      <vt:lpstr>N Queens Problem</vt:lpstr>
      <vt:lpstr>N Queens Problem-Example</vt:lpstr>
      <vt:lpstr>Applications</vt:lpstr>
      <vt:lpstr>When to use Backtracking</vt:lpstr>
      <vt:lpstr>When not to use Backtracking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Insanur Shuvo</dc:creator>
  <cp:lastModifiedBy>Maimuna Chowdhury Disha</cp:lastModifiedBy>
  <cp:revision>44</cp:revision>
  <dcterms:created xsi:type="dcterms:W3CDTF">2016-09-19T04:08:53Z</dcterms:created>
  <dcterms:modified xsi:type="dcterms:W3CDTF">2026-04-11T05:56:08Z</dcterms:modified>
</cp:coreProperties>
</file>