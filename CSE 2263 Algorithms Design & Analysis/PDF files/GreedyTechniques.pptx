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notesSlides/notesSlide11.xml" ContentType="application/vnd.openxmlformats-officedocument.presentationml.notesSlide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notesSlides/notesSlide12.xml" ContentType="application/vnd.openxmlformats-officedocument.presentationml.notesSlide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8" r:id="rId3"/>
    <p:sldId id="340" r:id="rId4"/>
    <p:sldId id="359" r:id="rId5"/>
    <p:sldId id="360" r:id="rId6"/>
    <p:sldId id="361" r:id="rId7"/>
    <p:sldId id="362" r:id="rId8"/>
    <p:sldId id="312" r:id="rId9"/>
    <p:sldId id="332" r:id="rId10"/>
    <p:sldId id="345" r:id="rId11"/>
    <p:sldId id="363" r:id="rId12"/>
    <p:sldId id="364" r:id="rId13"/>
    <p:sldId id="281" r:id="rId1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9" roundtripDataSignature="AMtx7mgSE3pmRORSF/beTMrWOScEMNows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80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9" Type="http://customschemas.google.com/relationships/presentationmetadata" Target="metadata"/><Relationship Id="rId3" Type="http://schemas.openxmlformats.org/officeDocument/2006/relationships/slide" Target="slides/slide2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43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0T04:22:46.50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5 24575,'108'-2'0,"-31"0"0,118 11 0,-79 16 0,-88-17 0,0-1 0,1-2 0,52 3 0,-73-8-341,1 1 0,-1-1-1,15 4 1,-6 2-6485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0T04:22:48.08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1 471 24575,'9'-10'0,"9"-17"0,16-24 0,16-17 0,9-3 0,5 6 0,-9 5 0,-9 8 0,-7 12 0,-10 13-8191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0T04:23:02.604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1 343 24072,'456'-343'0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0T04:23:35.174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0 254 24575,'0'-3'0,"1"-1"0,0 0 0,-1 1 0,1-1 0,0 0 0,1 1 0,-1-1 0,1 1 0,-1 0 0,1-1 0,0 1 0,0 0 0,1 0 0,-1 0 0,0 1 0,1-1 0,0 0 0,3-1 0,7-7 0,2 1 0,25-13 0,-14 8 0,17-12-108,-9 4-206,1 2 0,1 2-1,40-16 1,-57 29-6512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0T04:24:08.435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1 140 24575,'9'0'0,"19"-5"0,23-11 0,18-3 0,7-4 0,4 3 0,-5 0 0,-12 3 0,-11 5 0,-14 4-8191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0T04:24:34.999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0 146 24575,'5'-5'0,"6"-1"0,2-5 0,3-1 0,4 3 0,-2-3 0,1 1 0,-2-3 0,0 2 0,-2-3 0,0 2 0,4 2 0,2 4 0,4 3 0,1 2 0,-3 1-8191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0T04:29:39.583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1 341 24575,'5'-5'0,"11"-16"0,13-14 0,1-6 0,1 4 0,-5 3 0,-3 8 0,-4 3 0,-6 1 0,0 4 0,2 0 0,4-2 0,3-2 0,-1 3-8191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0T04:30:11.003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3 482 24575,'-1'-54'0,"0"30"0,0 1 0,2-1 0,7-45 0,-5 59 0,1 1 0,0 0 0,1 0 0,0 0 0,0 0 0,1 1 0,0 0 0,1 0 0,0 0 0,13-11 0,25-30 0,-22 19 0,22-33 0,-43 59-170,0 1-1,1-1 0,0 1 1,0 0-1,0-1 0,0 1 1,4-3-1,8-3-6655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0T04:30:38.745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0 346 24575,'1'-9'0,"1"0"0,-1 0 0,2 0 0,-1 0 0,6-11 0,-1-2 0,-1 9 0,0-1 0,1 1 0,0 0 0,1 1 0,1 0 0,0 0 0,19-18 0,20-27 0,-35 38-82,-6 7-239,2 1 0,-1 0 1,11-10-1,-9 13-6505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0T04:31:01.449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0 518 24575,'5'-24'0,"16"-28"0,14-19 0,11-13 0,2 4 0,-2 10 0,-3 12 0,-10 12 0,-10 13-8191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0T04:31:21.640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1 411 24575,'0'-7'0,"1"0"0,0 0 0,0 0 0,1 0 0,0 0 0,0 1 0,1-1 0,0 1 0,0 0 0,5-8 0,6-8 0,23-26 0,-31 41 0,12-16 0,-3 4 0,0 1 0,1 0 0,19-16 0,-18 19 33,22-26 0,-29 29-320,1 1 1,0 0 0,1 0 0,25-17 0,-17 16-6540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0T04:34:12.3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0 421 24575,'5'-5'0,"12"-12"0,12-11 0,6-12 0,7-4 0,1 1 0,-7 3 0,-4 4 0,-3 2 0,-2 8 0,-5 3 0,-7 0 0,0 5 0,-4 0 0,2 3 0,-1 5-8191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0T04:34:53.9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1 172 24575,'10'0'0,"13"-5"0,2-6 0,2-2 0,-4-3 0,0-4 0,0 2 0,1 3 0,-4 0 0,1-2 0,0 1 0,3 4 0,1 3 0,-3 4-8191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0T04:35:21.9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0 446 24575,'10'-14'0,"13"-25"0,17-19 0,6-11 0,-4 3 0,-10 6 0,-4 15 0,-9 9 0,-1 12 0,-4 4 0,-5 6-8191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0T04:35:51.0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0 434 24575,'15'-5'0,"19"-21"0,9-21 0,6-11 0,1-2 0,-5 5 0,-8 7 0,-7 12 0,-8 7 0,-8 3 0,-6 2 0,-5 5-8191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0T04:36:17.5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1 498 24575,'5'-5'0,"16"-21"0,19-21 0,13-11 0,1-7 0,-2 4 0,-7 7 0,-10 8 0,-6 11 0,-8 8 0,-3 7 0,-5 3 0,1 5 0,-2-1 0,-3 1-8191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0T04:37:09.9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1 631 24575,'24'-29'0,"32"-29"0,27-24 0,12-8 0,1 2 0,-1 6 0,-8 12 0,-13 18 0,-20 13 0,-14 14 0,-14 10-8191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310BFD5F-4660-048A-07F9-B14B7ECB0E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>
            <a:extLst>
              <a:ext uri="{FF2B5EF4-FFF2-40B4-BE49-F238E27FC236}">
                <a16:creationId xmlns:a16="http://schemas.microsoft.com/office/drawing/2014/main" id="{8C971283-068E-1525-124F-EAE47DBA401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3:notes">
            <a:extLst>
              <a:ext uri="{FF2B5EF4-FFF2-40B4-BE49-F238E27FC236}">
                <a16:creationId xmlns:a16="http://schemas.microsoft.com/office/drawing/2014/main" id="{206513BF-0D2E-4682-7097-43AE60EEA82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908905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D88FEF53-EA93-4C22-0818-D8A77A9B83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>
            <a:extLst>
              <a:ext uri="{FF2B5EF4-FFF2-40B4-BE49-F238E27FC236}">
                <a16:creationId xmlns:a16="http://schemas.microsoft.com/office/drawing/2014/main" id="{EF55E81D-F177-9C71-5F0F-ADD48DE11B6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3:notes">
            <a:extLst>
              <a:ext uri="{FF2B5EF4-FFF2-40B4-BE49-F238E27FC236}">
                <a16:creationId xmlns:a16="http://schemas.microsoft.com/office/drawing/2014/main" id="{DD0E796D-B717-E179-6228-DA22C41A457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9725930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BD41E346-0589-0599-F055-7BADA3A24E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>
            <a:extLst>
              <a:ext uri="{FF2B5EF4-FFF2-40B4-BE49-F238E27FC236}">
                <a16:creationId xmlns:a16="http://schemas.microsoft.com/office/drawing/2014/main" id="{3D385925-DC50-CF19-BC42-DB1A2026B58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3:notes">
            <a:extLst>
              <a:ext uri="{FF2B5EF4-FFF2-40B4-BE49-F238E27FC236}">
                <a16:creationId xmlns:a16="http://schemas.microsoft.com/office/drawing/2014/main" id="{FADBA1CE-D362-F970-4F4E-9EC4B02490F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1199097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7DCB4B84-A468-F9B6-AC1C-7ED34E23F5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>
            <a:extLst>
              <a:ext uri="{FF2B5EF4-FFF2-40B4-BE49-F238E27FC236}">
                <a16:creationId xmlns:a16="http://schemas.microsoft.com/office/drawing/2014/main" id="{02F0D66C-715E-604A-969A-808EE55BA1B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3:notes">
            <a:extLst>
              <a:ext uri="{FF2B5EF4-FFF2-40B4-BE49-F238E27FC236}">
                <a16:creationId xmlns:a16="http://schemas.microsoft.com/office/drawing/2014/main" id="{D5DFF9EB-F303-4FB9-8CD0-DEEFAB5F8C0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3301722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70301E4A-1195-FD73-5629-AEB01276C1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>
            <a:extLst>
              <a:ext uri="{FF2B5EF4-FFF2-40B4-BE49-F238E27FC236}">
                <a16:creationId xmlns:a16="http://schemas.microsoft.com/office/drawing/2014/main" id="{959150AF-1B2D-F25D-9ADB-CB0FF7EAEAD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3:notes">
            <a:extLst>
              <a:ext uri="{FF2B5EF4-FFF2-40B4-BE49-F238E27FC236}">
                <a16:creationId xmlns:a16="http://schemas.microsoft.com/office/drawing/2014/main" id="{AF17BC5C-24AB-4F89-BB43-EDE64397212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5529709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CFA0B2C1-CDEC-FBE1-9131-2D8D1BD218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>
            <a:extLst>
              <a:ext uri="{FF2B5EF4-FFF2-40B4-BE49-F238E27FC236}">
                <a16:creationId xmlns:a16="http://schemas.microsoft.com/office/drawing/2014/main" id="{940F54BC-4CE0-E0BA-D2FC-941EE510307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3:notes">
            <a:extLst>
              <a:ext uri="{FF2B5EF4-FFF2-40B4-BE49-F238E27FC236}">
                <a16:creationId xmlns:a16="http://schemas.microsoft.com/office/drawing/2014/main" id="{CA48E19C-A97D-8925-D22C-F669F2910BD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8565193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919660BA-3977-377F-B215-FBB2AA2CBA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>
            <a:extLst>
              <a:ext uri="{FF2B5EF4-FFF2-40B4-BE49-F238E27FC236}">
                <a16:creationId xmlns:a16="http://schemas.microsoft.com/office/drawing/2014/main" id="{A563F7B1-383D-A3B0-8720-6C62C9D6DB1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3:notes">
            <a:extLst>
              <a:ext uri="{FF2B5EF4-FFF2-40B4-BE49-F238E27FC236}">
                <a16:creationId xmlns:a16="http://schemas.microsoft.com/office/drawing/2014/main" id="{F0BCE0C7-18C4-B367-3D24-459DA370245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965349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A5B04DCB-9346-A03B-B359-FAE66E9657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>
            <a:extLst>
              <a:ext uri="{FF2B5EF4-FFF2-40B4-BE49-F238E27FC236}">
                <a16:creationId xmlns:a16="http://schemas.microsoft.com/office/drawing/2014/main" id="{9E1374B8-78BE-18BB-A3E0-3644C88EAF8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3:notes">
            <a:extLst>
              <a:ext uri="{FF2B5EF4-FFF2-40B4-BE49-F238E27FC236}">
                <a16:creationId xmlns:a16="http://schemas.microsoft.com/office/drawing/2014/main" id="{0BAEC707-D526-1BFD-5D20-53C8C780B4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4357227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31D3B2A5-A285-3CCD-227F-457936825D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>
            <a:extLst>
              <a:ext uri="{FF2B5EF4-FFF2-40B4-BE49-F238E27FC236}">
                <a16:creationId xmlns:a16="http://schemas.microsoft.com/office/drawing/2014/main" id="{616D5BE1-5C71-74C4-A087-DF0A73CF845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3:notes">
            <a:extLst>
              <a:ext uri="{FF2B5EF4-FFF2-40B4-BE49-F238E27FC236}">
                <a16:creationId xmlns:a16="http://schemas.microsoft.com/office/drawing/2014/main" id="{38D296A0-7143-623E-7A11-75A92FFFC4E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4339205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>
          <a:extLst>
            <a:ext uri="{FF2B5EF4-FFF2-40B4-BE49-F238E27FC236}">
              <a16:creationId xmlns:a16="http://schemas.microsoft.com/office/drawing/2014/main" id="{A8AE6BA3-83F9-07EF-4730-57C489F795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>
            <a:extLst>
              <a:ext uri="{FF2B5EF4-FFF2-40B4-BE49-F238E27FC236}">
                <a16:creationId xmlns:a16="http://schemas.microsoft.com/office/drawing/2014/main" id="{01F9CE24-5F4A-4E7E-0B96-8550B528FD3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3:notes">
            <a:extLst>
              <a:ext uri="{FF2B5EF4-FFF2-40B4-BE49-F238E27FC236}">
                <a16:creationId xmlns:a16="http://schemas.microsoft.com/office/drawing/2014/main" id="{9A3B4F6C-DD98-D2B1-B222-789A991DFD4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4430775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6" name="Google Shape;296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3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3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4" name="Google Shape;34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3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3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3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9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3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9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3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9" name="Google Shape;49;p3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3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3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3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3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3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3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3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35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35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3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3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6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6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36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3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3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37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3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3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8"/>
          <p:cNvSpPr txBox="1">
            <a:spLocks noGrp="1"/>
          </p:cNvSpPr>
          <p:nvPr>
            <p:ph type="title"/>
          </p:nvPr>
        </p:nvSpPr>
        <p:spPr>
          <a:xfrm rot="5400000">
            <a:off x="7133400" y="1956625"/>
            <a:ext cx="5811900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38"/>
          <p:cNvSpPr txBox="1">
            <a:spLocks noGrp="1"/>
          </p:cNvSpPr>
          <p:nvPr>
            <p:ph type="body" idx="1"/>
          </p:nvPr>
        </p:nvSpPr>
        <p:spPr>
          <a:xfrm rot="5400000">
            <a:off x="1799400" y="-596075"/>
            <a:ext cx="5811900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3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3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3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2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13" Type="http://schemas.openxmlformats.org/officeDocument/2006/relationships/customXml" Target="../ink/ink6.xml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12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11" Type="http://schemas.openxmlformats.org/officeDocument/2006/relationships/customXml" Target="../ink/ink5.xml"/><Relationship Id="rId5" Type="http://schemas.openxmlformats.org/officeDocument/2006/relationships/customXml" Target="../ink/ink2.xml"/><Relationship Id="rId10" Type="http://schemas.openxmlformats.org/officeDocument/2006/relationships/image" Target="../media/image4.png"/><Relationship Id="rId4" Type="http://schemas.openxmlformats.org/officeDocument/2006/relationships/image" Target="../media/image1.png"/><Relationship Id="rId9" Type="http://schemas.openxmlformats.org/officeDocument/2006/relationships/customXml" Target="../ink/ink4.xml"/><Relationship Id="rId1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customXml" Target="../ink/ink7.xml"/><Relationship Id="rId7" Type="http://schemas.openxmlformats.org/officeDocument/2006/relationships/customXml" Target="../ink/ink9.xml"/><Relationship Id="rId12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customXml" Target="../ink/ink11.xml"/><Relationship Id="rId5" Type="http://schemas.openxmlformats.org/officeDocument/2006/relationships/customXml" Target="../ink/ink8.xml"/><Relationship Id="rId10" Type="http://schemas.openxmlformats.org/officeDocument/2006/relationships/image" Target="../media/image10.png"/><Relationship Id="rId4" Type="http://schemas.openxmlformats.org/officeDocument/2006/relationships/image" Target="../media/image7.png"/><Relationship Id="rId9" Type="http://schemas.openxmlformats.org/officeDocument/2006/relationships/customXml" Target="../ink/ink10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customXml" Target="../ink/ink17.xml"/><Relationship Id="rId3" Type="http://schemas.openxmlformats.org/officeDocument/2006/relationships/customXml" Target="../ink/ink12.xml"/><Relationship Id="rId7" Type="http://schemas.openxmlformats.org/officeDocument/2006/relationships/customXml" Target="../ink/ink14.xml"/><Relationship Id="rId12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11" Type="http://schemas.openxmlformats.org/officeDocument/2006/relationships/customXml" Target="../ink/ink16.xml"/><Relationship Id="rId5" Type="http://schemas.openxmlformats.org/officeDocument/2006/relationships/customXml" Target="../ink/ink13.xml"/><Relationship Id="rId10" Type="http://schemas.openxmlformats.org/officeDocument/2006/relationships/image" Target="../media/image15.png"/><Relationship Id="rId4" Type="http://schemas.openxmlformats.org/officeDocument/2006/relationships/image" Target="../media/image12.png"/><Relationship Id="rId9" Type="http://schemas.openxmlformats.org/officeDocument/2006/relationships/customXml" Target="../ink/ink15.xml"/><Relationship Id="rId1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>
            <a:spLocks noGrp="1"/>
          </p:cNvSpPr>
          <p:nvPr>
            <p:ph type="ctrTitle"/>
          </p:nvPr>
        </p:nvSpPr>
        <p:spPr>
          <a:xfrm>
            <a:off x="1701421" y="1484029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5400"/>
              <a:buFont typeface="Calibri"/>
              <a:buNone/>
            </a:pPr>
            <a:r>
              <a:rPr lang="en-US" sz="5400" b="1" dirty="0">
                <a:solidFill>
                  <a:srgbClr val="833C0B"/>
                </a:solidFill>
              </a:rPr>
              <a:t>Greedy Techniques</a:t>
            </a:r>
            <a:endParaRPr dirty="0">
              <a:solidFill>
                <a:srgbClr val="833C0B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"/>
          <p:cNvSpPr txBox="1">
            <a:spLocks noGrp="1"/>
          </p:cNvSpPr>
          <p:nvPr>
            <p:ph type="title"/>
          </p:nvPr>
        </p:nvSpPr>
        <p:spPr>
          <a:xfrm>
            <a:off x="933735" y="21500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US" b="1" dirty="0">
                <a:solidFill>
                  <a:srgbClr val="833C0B"/>
                </a:solidFill>
              </a:rPr>
              <a:t>Introduction</a:t>
            </a:r>
            <a:endParaRPr dirty="0">
              <a:solidFill>
                <a:srgbClr val="833C0B"/>
              </a:solidFill>
            </a:endParaRPr>
          </a:p>
        </p:txBody>
      </p:sp>
      <p:sp>
        <p:nvSpPr>
          <p:cNvPr id="102" name="Google Shape;102;p3"/>
          <p:cNvSpPr txBox="1">
            <a:spLocks noGrp="1"/>
          </p:cNvSpPr>
          <p:nvPr>
            <p:ph type="body" idx="1"/>
          </p:nvPr>
        </p:nvSpPr>
        <p:spPr>
          <a:xfrm>
            <a:off x="838200" y="1540563"/>
            <a:ext cx="10515600" cy="47493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8735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Font typeface="Calibri"/>
              <a:buChar char="●"/>
            </a:pPr>
            <a:r>
              <a:rPr lang="en-SG" sz="2500" dirty="0">
                <a:solidFill>
                  <a:schemeClr val="tx1"/>
                </a:solidFill>
              </a:rPr>
              <a:t>The greedy method is a problem-solving strategy where decisions are made by selecting the best option available at the moment, without considering future consequences.</a:t>
            </a:r>
          </a:p>
          <a:p>
            <a:pPr marL="457200" lvl="0" indent="-38735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Font typeface="Calibri"/>
              <a:buChar char="●"/>
            </a:pPr>
            <a:r>
              <a:rPr lang="en-SG" sz="2500" dirty="0">
                <a:solidFill>
                  <a:schemeClr val="tx1"/>
                </a:solidFill>
              </a:rPr>
              <a:t>It builds up a solution piece by piece, always choosing the next piece that offers the most obvious and immediate benefit. </a:t>
            </a:r>
          </a:p>
          <a:p>
            <a:pPr marL="457200" lvl="0" indent="-38735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Font typeface="Calibri"/>
              <a:buChar char="●"/>
            </a:pPr>
            <a:r>
              <a:rPr lang="en-SG" sz="2500" dirty="0">
                <a:solidFill>
                  <a:schemeClr val="tx1"/>
                </a:solidFill>
              </a:rPr>
              <a:t>Greedy algorithms are used for optimization problems.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B1ADC790-FEE6-2223-BE48-990EC0BA38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">
            <a:extLst>
              <a:ext uri="{FF2B5EF4-FFF2-40B4-BE49-F238E27FC236}">
                <a16:creationId xmlns:a16="http://schemas.microsoft.com/office/drawing/2014/main" id="{6FF9B83B-1C3A-0ED8-67A0-4C7EF412223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33735" y="21500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US" b="1" dirty="0">
                <a:solidFill>
                  <a:srgbClr val="833C0B"/>
                </a:solidFill>
              </a:rPr>
              <a:t>Introduction</a:t>
            </a:r>
            <a:endParaRPr dirty="0">
              <a:solidFill>
                <a:srgbClr val="833C0B"/>
              </a:solidFill>
            </a:endParaRPr>
          </a:p>
        </p:txBody>
      </p:sp>
      <p:sp>
        <p:nvSpPr>
          <p:cNvPr id="102" name="Google Shape;102;p3">
            <a:extLst>
              <a:ext uri="{FF2B5EF4-FFF2-40B4-BE49-F238E27FC236}">
                <a16:creationId xmlns:a16="http://schemas.microsoft.com/office/drawing/2014/main" id="{E7181BB6-55DD-C490-7CEA-5E51E4104F8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540563"/>
            <a:ext cx="10515600" cy="5102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69850" lvl="0" indent="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lang="en-SG" sz="2500" dirty="0">
                <a:solidFill>
                  <a:schemeClr val="tx1"/>
                </a:solidFill>
              </a:rPr>
              <a:t>However, it's important to note that not all problems are suitable for greedy algorithms. They work best when the problem exhibits the following properties:</a:t>
            </a:r>
          </a:p>
          <a:p>
            <a:pPr marL="457200" lvl="0" indent="-38735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Font typeface="Calibri"/>
              <a:buChar char="●"/>
            </a:pPr>
            <a:r>
              <a:rPr lang="en-SG" sz="2500" b="1" dirty="0">
                <a:solidFill>
                  <a:schemeClr val="tx1"/>
                </a:solidFill>
              </a:rPr>
              <a:t>Greedy Choice Property: </a:t>
            </a:r>
            <a:r>
              <a:rPr lang="en-SG" sz="2500" dirty="0">
                <a:solidFill>
                  <a:schemeClr val="tx1"/>
                </a:solidFill>
              </a:rPr>
              <a:t>The optimal solution can be constructed by making the best local choice at each step.</a:t>
            </a:r>
          </a:p>
          <a:p>
            <a:pPr marL="457200" lvl="0" indent="-38735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Font typeface="Calibri"/>
              <a:buChar char="●"/>
            </a:pPr>
            <a:r>
              <a:rPr lang="en-SG" sz="2500" b="1" dirty="0">
                <a:solidFill>
                  <a:schemeClr val="tx1"/>
                </a:solidFill>
              </a:rPr>
              <a:t>Optimal Substructure: </a:t>
            </a:r>
            <a:r>
              <a:rPr lang="en-SG" sz="2500" dirty="0">
                <a:solidFill>
                  <a:schemeClr val="tx1"/>
                </a:solidFill>
              </a:rPr>
              <a:t>The optimal solution to the problem contains the optimal solutions to its sub-problems.</a:t>
            </a:r>
          </a:p>
          <a:p>
            <a:pPr marL="457200" lvl="0" indent="-38735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Font typeface="Calibri"/>
              <a:buChar char="●"/>
            </a:pPr>
            <a:endParaRPr lang="en-SG" sz="25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69832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37F61842-3198-2826-2ADF-765421AB55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">
            <a:extLst>
              <a:ext uri="{FF2B5EF4-FFF2-40B4-BE49-F238E27FC236}">
                <a16:creationId xmlns:a16="http://schemas.microsoft.com/office/drawing/2014/main" id="{05AE5844-45DC-D45C-05F0-383D87DAE2A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33735" y="21500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US" b="1" dirty="0">
                <a:solidFill>
                  <a:srgbClr val="833C0B"/>
                </a:solidFill>
              </a:rPr>
              <a:t>Greedy Algorithm: Working</a:t>
            </a:r>
            <a:endParaRPr dirty="0">
              <a:solidFill>
                <a:srgbClr val="833C0B"/>
              </a:solidFill>
            </a:endParaRPr>
          </a:p>
        </p:txBody>
      </p:sp>
      <p:sp>
        <p:nvSpPr>
          <p:cNvPr id="102" name="Google Shape;102;p3">
            <a:extLst>
              <a:ext uri="{FF2B5EF4-FFF2-40B4-BE49-F238E27FC236}">
                <a16:creationId xmlns:a16="http://schemas.microsoft.com/office/drawing/2014/main" id="{D3F4FF96-048B-CB16-FAF0-A12EF3C937E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540563"/>
            <a:ext cx="10515600" cy="5102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527050" lvl="0" indent="-45720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Font typeface="+mj-lt"/>
              <a:buAutoNum type="arabicPeriod"/>
            </a:pPr>
            <a:r>
              <a:rPr lang="en-SG" sz="2500" dirty="0">
                <a:solidFill>
                  <a:schemeClr val="tx1"/>
                </a:solidFill>
              </a:rPr>
              <a:t>Start with the initial state of the problem.</a:t>
            </a:r>
          </a:p>
          <a:p>
            <a:pPr marL="527050" lvl="0" indent="-45720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Font typeface="+mj-lt"/>
              <a:buAutoNum type="arabicPeriod"/>
            </a:pPr>
            <a:r>
              <a:rPr lang="en-SG" sz="2500" dirty="0">
                <a:solidFill>
                  <a:schemeClr val="tx1"/>
                </a:solidFill>
              </a:rPr>
              <a:t>Consider all the options available at that specific moment.</a:t>
            </a:r>
          </a:p>
          <a:p>
            <a:pPr marL="527050" lvl="0" indent="-45720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Font typeface="+mj-lt"/>
              <a:buAutoNum type="arabicPeriod"/>
            </a:pPr>
            <a:r>
              <a:rPr lang="en-SG" sz="2500" dirty="0">
                <a:solidFill>
                  <a:schemeClr val="tx1"/>
                </a:solidFill>
              </a:rPr>
              <a:t>Choose the option that seems best at that moment, regardless of future consequences. This is the "greedy" part - you take the best option available now, even if it might not be the best in the long run.</a:t>
            </a:r>
          </a:p>
          <a:p>
            <a:pPr marL="527050" lvl="0" indent="-45720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Font typeface="+mj-lt"/>
              <a:buAutoNum type="arabicPeriod"/>
            </a:pPr>
            <a:r>
              <a:rPr lang="en-SG" sz="2500" dirty="0">
                <a:solidFill>
                  <a:schemeClr val="tx1"/>
                </a:solidFill>
              </a:rPr>
              <a:t>Move to the new state based on your chosen option. This becomes your new starting point for the next iteration.</a:t>
            </a:r>
          </a:p>
          <a:p>
            <a:pPr marL="527050" lvl="0" indent="-45720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Font typeface="+mj-lt"/>
              <a:buAutoNum type="arabicPeriod"/>
            </a:pPr>
            <a:r>
              <a:rPr lang="en-SG" sz="2500" dirty="0">
                <a:solidFill>
                  <a:schemeClr val="tx1"/>
                </a:solidFill>
              </a:rPr>
              <a:t>Repeat steps 2-4 until you reach the goal state or no further progress is possible.</a:t>
            </a:r>
          </a:p>
        </p:txBody>
      </p:sp>
    </p:spTree>
    <p:extLst>
      <p:ext uri="{BB962C8B-B14F-4D97-AF65-F5344CB8AC3E}">
        <p14:creationId xmlns:p14="http://schemas.microsoft.com/office/powerpoint/2010/main" val="26506588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8EF5DFB8-D3E5-B0E7-4BB9-A7763B85C3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">
            <a:extLst>
              <a:ext uri="{FF2B5EF4-FFF2-40B4-BE49-F238E27FC236}">
                <a16:creationId xmlns:a16="http://schemas.microsoft.com/office/drawing/2014/main" id="{EF0E29D0-F09B-0542-20A3-6A171FC2559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33735" y="21500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US" b="1" dirty="0">
                <a:solidFill>
                  <a:srgbClr val="833C0B"/>
                </a:solidFill>
              </a:rPr>
              <a:t>Greedy Isn't Always Good!</a:t>
            </a:r>
            <a:endParaRPr dirty="0">
              <a:solidFill>
                <a:srgbClr val="833C0B"/>
              </a:solidFill>
            </a:endParaRPr>
          </a:p>
        </p:txBody>
      </p:sp>
      <p:sp>
        <p:nvSpPr>
          <p:cNvPr id="102" name="Google Shape;102;p3">
            <a:extLst>
              <a:ext uri="{FF2B5EF4-FFF2-40B4-BE49-F238E27FC236}">
                <a16:creationId xmlns:a16="http://schemas.microsoft.com/office/drawing/2014/main" id="{7DF7DD19-7E41-E071-5BE9-C41DD6045C7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540563"/>
            <a:ext cx="10515600" cy="5102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527050" indent="-457200" algn="just">
              <a:lnSpc>
                <a:spcPct val="95000"/>
              </a:lnSpc>
              <a:spcBef>
                <a:spcPts val="0"/>
              </a:spcBef>
              <a:buSzPts val="2500"/>
            </a:pPr>
            <a:r>
              <a:rPr lang="en-SG" sz="2500" dirty="0">
                <a:solidFill>
                  <a:schemeClr val="tx1"/>
                </a:solidFill>
              </a:rPr>
              <a:t>Greedy algorithms do not always give the best solution. For example, in coin change and 0/1 knapsack problems, we get the best solution using Dynamic Programming.</a:t>
            </a:r>
          </a:p>
        </p:txBody>
      </p:sp>
    </p:spTree>
    <p:extLst>
      <p:ext uri="{BB962C8B-B14F-4D97-AF65-F5344CB8AC3E}">
        <p14:creationId xmlns:p14="http://schemas.microsoft.com/office/powerpoint/2010/main" val="15348660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AD92CE1A-2CB6-537F-41B1-5FA52DE311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">
            <a:extLst>
              <a:ext uri="{FF2B5EF4-FFF2-40B4-BE49-F238E27FC236}">
                <a16:creationId xmlns:a16="http://schemas.microsoft.com/office/drawing/2014/main" id="{487DC2BB-0D47-F312-2705-FA828E8F8E7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33735" y="21500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US" b="1" dirty="0">
                <a:solidFill>
                  <a:srgbClr val="833C0B"/>
                </a:solidFill>
              </a:rPr>
              <a:t>Greedy Isn't Always Good! (Example)</a:t>
            </a:r>
            <a:endParaRPr dirty="0">
              <a:solidFill>
                <a:srgbClr val="833C0B"/>
              </a:solidFill>
            </a:endParaRPr>
          </a:p>
        </p:txBody>
      </p:sp>
      <p:sp>
        <p:nvSpPr>
          <p:cNvPr id="102" name="Google Shape;102;p3">
            <a:extLst>
              <a:ext uri="{FF2B5EF4-FFF2-40B4-BE49-F238E27FC236}">
                <a16:creationId xmlns:a16="http://schemas.microsoft.com/office/drawing/2014/main" id="{A16079A5-6600-D6A5-BA49-83ECD3506BE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540563"/>
            <a:ext cx="10515600" cy="5102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527050" indent="-457200" algn="just">
              <a:lnSpc>
                <a:spcPct val="95000"/>
              </a:lnSpc>
              <a:spcBef>
                <a:spcPts val="0"/>
              </a:spcBef>
              <a:buSzPts val="2500"/>
            </a:pPr>
            <a:r>
              <a:rPr lang="en-SG" sz="2500" dirty="0">
                <a:solidFill>
                  <a:schemeClr val="tx1"/>
                </a:solidFill>
              </a:rPr>
              <a:t>You need to make change for 30 cents using the fewest coins possible. Available coins: 25, 10, 5, 1.</a:t>
            </a:r>
          </a:p>
          <a:p>
            <a:pPr marL="69850" indent="0" algn="just">
              <a:lnSpc>
                <a:spcPct val="95000"/>
              </a:lnSpc>
              <a:spcBef>
                <a:spcPts val="0"/>
              </a:spcBef>
              <a:buSzPts val="2500"/>
              <a:buNone/>
            </a:pPr>
            <a:endParaRPr lang="en-SG" sz="2500" dirty="0">
              <a:solidFill>
                <a:schemeClr val="tx1"/>
              </a:solidFill>
            </a:endParaRPr>
          </a:p>
          <a:p>
            <a:pPr marL="527050" indent="-457200" algn="just">
              <a:lnSpc>
                <a:spcPct val="95000"/>
              </a:lnSpc>
              <a:spcBef>
                <a:spcPts val="0"/>
              </a:spcBef>
              <a:buSzPts val="2500"/>
            </a:pPr>
            <a:r>
              <a:rPr lang="en-SG" sz="2500" dirty="0">
                <a:solidFill>
                  <a:schemeClr val="tx1"/>
                </a:solidFill>
              </a:rPr>
              <a:t>At each step, you always pick the largest coin that fits.</a:t>
            </a:r>
          </a:p>
          <a:p>
            <a:pPr marL="527050" indent="-457200" algn="just">
              <a:lnSpc>
                <a:spcPct val="95000"/>
              </a:lnSpc>
              <a:spcBef>
                <a:spcPts val="0"/>
              </a:spcBef>
              <a:buSzPts val="2500"/>
              <a:buFont typeface="Wingdings" panose="05000000000000000000" pitchFamily="2" charset="2"/>
              <a:buChar char="Ø"/>
            </a:pPr>
            <a:r>
              <a:rPr lang="en-SG" sz="2500" dirty="0">
                <a:solidFill>
                  <a:schemeClr val="tx1"/>
                </a:solidFill>
              </a:rPr>
              <a:t>Step 1: Largest coin ≤ 30 → pick 25 → remaining: 5</a:t>
            </a:r>
          </a:p>
          <a:p>
            <a:pPr marL="527050" indent="-457200" algn="just">
              <a:lnSpc>
                <a:spcPct val="95000"/>
              </a:lnSpc>
              <a:spcBef>
                <a:spcPts val="0"/>
              </a:spcBef>
              <a:buSzPts val="2500"/>
              <a:buFont typeface="Wingdings" panose="05000000000000000000" pitchFamily="2" charset="2"/>
              <a:buChar char="Ø"/>
            </a:pPr>
            <a:r>
              <a:rPr lang="en-SG" sz="2500" dirty="0">
                <a:solidFill>
                  <a:schemeClr val="tx1"/>
                </a:solidFill>
              </a:rPr>
              <a:t>Step 2: Largest coin ≤ 5 → pick 5 → remaining: 0</a:t>
            </a:r>
          </a:p>
          <a:p>
            <a:pPr marL="69850" indent="0" algn="just">
              <a:lnSpc>
                <a:spcPct val="95000"/>
              </a:lnSpc>
              <a:spcBef>
                <a:spcPts val="0"/>
              </a:spcBef>
              <a:buSzPts val="2500"/>
              <a:buNone/>
            </a:pPr>
            <a:endParaRPr lang="en-SG" sz="2500" dirty="0">
              <a:solidFill>
                <a:schemeClr val="tx1"/>
              </a:solidFill>
            </a:endParaRPr>
          </a:p>
          <a:p>
            <a:pPr marL="527050" indent="-457200" algn="just">
              <a:lnSpc>
                <a:spcPct val="95000"/>
              </a:lnSpc>
              <a:spcBef>
                <a:spcPts val="0"/>
              </a:spcBef>
              <a:buSzPts val="2500"/>
            </a:pPr>
            <a:r>
              <a:rPr lang="en-SG" sz="2500" dirty="0">
                <a:solidFill>
                  <a:schemeClr val="tx1"/>
                </a:solidFill>
              </a:rPr>
              <a:t>Done in 2 coins! And that is the optimal answer.</a:t>
            </a:r>
          </a:p>
        </p:txBody>
      </p:sp>
    </p:spTree>
    <p:extLst>
      <p:ext uri="{BB962C8B-B14F-4D97-AF65-F5344CB8AC3E}">
        <p14:creationId xmlns:p14="http://schemas.microsoft.com/office/powerpoint/2010/main" val="4230019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697B2BA9-DBD8-5A5C-DF51-AEFC8FCBDA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">
            <a:extLst>
              <a:ext uri="{FF2B5EF4-FFF2-40B4-BE49-F238E27FC236}">
                <a16:creationId xmlns:a16="http://schemas.microsoft.com/office/drawing/2014/main" id="{AA2289AC-AFBF-ADD0-3185-A250A922B93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33735" y="21500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US" b="1" dirty="0">
                <a:solidFill>
                  <a:srgbClr val="833C0B"/>
                </a:solidFill>
              </a:rPr>
              <a:t>Greedy Isn't Always Good! (Example)</a:t>
            </a:r>
            <a:endParaRPr dirty="0">
              <a:solidFill>
                <a:srgbClr val="833C0B"/>
              </a:solidFill>
            </a:endParaRPr>
          </a:p>
        </p:txBody>
      </p:sp>
      <p:sp>
        <p:nvSpPr>
          <p:cNvPr id="102" name="Google Shape;102;p3">
            <a:extLst>
              <a:ext uri="{FF2B5EF4-FFF2-40B4-BE49-F238E27FC236}">
                <a16:creationId xmlns:a16="http://schemas.microsoft.com/office/drawing/2014/main" id="{43D17AD9-5BA1-BB82-22F9-4F8F57400DD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540563"/>
            <a:ext cx="10515600" cy="5102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527050" indent="-457200" algn="just">
              <a:lnSpc>
                <a:spcPct val="95000"/>
              </a:lnSpc>
              <a:spcBef>
                <a:spcPts val="0"/>
              </a:spcBef>
              <a:buSzPts val="2500"/>
            </a:pPr>
            <a:r>
              <a:rPr lang="en-SG" sz="2500" dirty="0">
                <a:solidFill>
                  <a:schemeClr val="tx1"/>
                </a:solidFill>
              </a:rPr>
              <a:t>You need to make change for 14 cents using the fewest coins possible. Available coins: 10, 7, 1.</a:t>
            </a:r>
          </a:p>
          <a:p>
            <a:pPr marL="527050" indent="-457200" algn="just">
              <a:lnSpc>
                <a:spcPct val="95000"/>
              </a:lnSpc>
              <a:spcBef>
                <a:spcPts val="0"/>
              </a:spcBef>
              <a:buSzPts val="2500"/>
            </a:pPr>
            <a:r>
              <a:rPr lang="en-SG" sz="2500" dirty="0">
                <a:solidFill>
                  <a:schemeClr val="tx1"/>
                </a:solidFill>
              </a:rPr>
              <a:t>Greedy picks: 10 + 1 + 1 + 1 + 1 = 5 coins.</a:t>
            </a:r>
          </a:p>
          <a:p>
            <a:pPr marL="527050" indent="-457200" algn="just">
              <a:lnSpc>
                <a:spcPct val="95000"/>
              </a:lnSpc>
              <a:spcBef>
                <a:spcPts val="0"/>
              </a:spcBef>
              <a:buSzPts val="2500"/>
            </a:pPr>
            <a:r>
              <a:rPr lang="en-SG" sz="2500" dirty="0">
                <a:solidFill>
                  <a:schemeClr val="tx1"/>
                </a:solidFill>
              </a:rPr>
              <a:t>But the real answer is: 7 + 7 = 2 coins.</a:t>
            </a:r>
          </a:p>
          <a:p>
            <a:pPr marL="527050" indent="-457200" algn="just">
              <a:lnSpc>
                <a:spcPct val="95000"/>
              </a:lnSpc>
              <a:spcBef>
                <a:spcPts val="0"/>
              </a:spcBef>
              <a:buSzPts val="2500"/>
            </a:pPr>
            <a:r>
              <a:rPr lang="en-SG" sz="2500" dirty="0">
                <a:solidFill>
                  <a:schemeClr val="tx1"/>
                </a:solidFill>
              </a:rPr>
              <a:t>Here, greedy fails because the problem lacks the greedy choice property with these coin values.</a:t>
            </a:r>
          </a:p>
        </p:txBody>
      </p:sp>
    </p:spTree>
    <p:extLst>
      <p:ext uri="{BB962C8B-B14F-4D97-AF65-F5344CB8AC3E}">
        <p14:creationId xmlns:p14="http://schemas.microsoft.com/office/powerpoint/2010/main" val="20462387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B3DDDE96-754A-CA9B-1721-5B8695753E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">
            <a:extLst>
              <a:ext uri="{FF2B5EF4-FFF2-40B4-BE49-F238E27FC236}">
                <a16:creationId xmlns:a16="http://schemas.microsoft.com/office/drawing/2014/main" id="{D828F278-3A07-E46C-DD35-9CBAD3DC347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33735" y="21500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US" b="1" dirty="0">
                <a:solidFill>
                  <a:srgbClr val="833C0B"/>
                </a:solidFill>
              </a:rPr>
              <a:t>Applications</a:t>
            </a:r>
            <a:endParaRPr dirty="0">
              <a:solidFill>
                <a:srgbClr val="833C0B"/>
              </a:solidFill>
            </a:endParaRPr>
          </a:p>
        </p:txBody>
      </p:sp>
      <p:sp>
        <p:nvSpPr>
          <p:cNvPr id="2" name="Google Shape;102;p3">
            <a:extLst>
              <a:ext uri="{FF2B5EF4-FFF2-40B4-BE49-F238E27FC236}">
                <a16:creationId xmlns:a16="http://schemas.microsoft.com/office/drawing/2014/main" id="{0B99449F-37C8-3C62-8102-DB48542AE2F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540563"/>
            <a:ext cx="10515600" cy="47493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12750" algn="just">
              <a:lnSpc>
                <a:spcPct val="95000"/>
              </a:lnSpc>
              <a:spcBef>
                <a:spcPts val="0"/>
              </a:spcBef>
              <a:buSzPts val="2500"/>
            </a:pPr>
            <a:r>
              <a:rPr lang="en-SG" sz="2500" dirty="0">
                <a:solidFill>
                  <a:schemeClr val="tx1"/>
                </a:solidFill>
              </a:rPr>
              <a:t>Fractional Knapsack Problem</a:t>
            </a:r>
          </a:p>
          <a:p>
            <a:pPr marL="412750" algn="just">
              <a:lnSpc>
                <a:spcPct val="95000"/>
              </a:lnSpc>
              <a:spcBef>
                <a:spcPts val="0"/>
              </a:spcBef>
              <a:buSzPts val="2500"/>
            </a:pPr>
            <a:r>
              <a:rPr lang="en-SG" sz="2500" dirty="0">
                <a:solidFill>
                  <a:schemeClr val="tx1"/>
                </a:solidFill>
              </a:rPr>
              <a:t>Job Scheduling</a:t>
            </a:r>
          </a:p>
        </p:txBody>
      </p:sp>
    </p:spTree>
    <p:extLst>
      <p:ext uri="{BB962C8B-B14F-4D97-AF65-F5344CB8AC3E}">
        <p14:creationId xmlns:p14="http://schemas.microsoft.com/office/powerpoint/2010/main" val="12151185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1F26C980-F035-1AEA-D835-94492E6A20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">
            <a:extLst>
              <a:ext uri="{FF2B5EF4-FFF2-40B4-BE49-F238E27FC236}">
                <a16:creationId xmlns:a16="http://schemas.microsoft.com/office/drawing/2014/main" id="{96A3F347-89A1-EC70-FE7D-3C98851A630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33735" y="21500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US" b="1" dirty="0">
                <a:solidFill>
                  <a:srgbClr val="833C0B"/>
                </a:solidFill>
              </a:rPr>
              <a:t>Fractional Knapsack Problem</a:t>
            </a:r>
            <a:endParaRPr dirty="0">
              <a:solidFill>
                <a:srgbClr val="833C0B"/>
              </a:solidFill>
            </a:endParaRPr>
          </a:p>
        </p:txBody>
      </p:sp>
      <p:sp>
        <p:nvSpPr>
          <p:cNvPr id="2" name="Google Shape;102;p3">
            <a:extLst>
              <a:ext uri="{FF2B5EF4-FFF2-40B4-BE49-F238E27FC236}">
                <a16:creationId xmlns:a16="http://schemas.microsoft.com/office/drawing/2014/main" id="{050A5451-7EC5-3DD0-23EF-AE38964390F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893693"/>
            <a:ext cx="10515600" cy="41577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8735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Font typeface="Calibri"/>
              <a:buChar char="●"/>
            </a:pPr>
            <a:r>
              <a:rPr lang="en-SG" sz="2500" dirty="0">
                <a:solidFill>
                  <a:schemeClr val="tx1"/>
                </a:solidFill>
              </a:rPr>
              <a:t>Given two arrays, profit[] and weight[], where each element represents the profit and weight of an item respectively, also given an integer W representing the maximum capacity of the knapsack (the total weight it can hold).</a:t>
            </a:r>
          </a:p>
          <a:p>
            <a:pPr marL="457200" lvl="0" indent="-38735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Font typeface="Calibri"/>
              <a:buChar char="●"/>
            </a:pPr>
            <a:r>
              <a:rPr lang="en-SG" sz="2500" dirty="0"/>
              <a:t>Put the items into the knapsack such that the sum of profits associated with them is the maximum possible, without exceeding the capacity W.</a:t>
            </a:r>
          </a:p>
          <a:p>
            <a:pPr marL="457200" lvl="0" indent="-38735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Font typeface="Calibri"/>
              <a:buChar char="●"/>
            </a:pPr>
            <a:r>
              <a:rPr lang="en-SG" sz="2500" dirty="0"/>
              <a:t>Items can also be taken in fractional parts if required.</a:t>
            </a:r>
            <a:endParaRPr lang="en-SG" sz="25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47043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616E75D9-11AD-97EE-C6C2-67B0F66471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">
            <a:extLst>
              <a:ext uri="{FF2B5EF4-FFF2-40B4-BE49-F238E27FC236}">
                <a16:creationId xmlns:a16="http://schemas.microsoft.com/office/drawing/2014/main" id="{389C159F-C72D-2608-9559-4C862375455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33735" y="21500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SG" b="1" dirty="0">
                <a:solidFill>
                  <a:srgbClr val="833C0B"/>
                </a:solidFill>
              </a:rPr>
              <a:t>Picking the items with smaller weights first</a:t>
            </a:r>
            <a:endParaRPr dirty="0">
              <a:solidFill>
                <a:srgbClr val="833C0B"/>
              </a:solidFill>
            </a:endParaRPr>
          </a:p>
        </p:txBody>
      </p:sp>
      <p:sp>
        <p:nvSpPr>
          <p:cNvPr id="2" name="Google Shape;102;p3">
            <a:extLst>
              <a:ext uri="{FF2B5EF4-FFF2-40B4-BE49-F238E27FC236}">
                <a16:creationId xmlns:a16="http://schemas.microsoft.com/office/drawing/2014/main" id="{F2248C63-1DC6-D7D5-5FE2-548BD5B194A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335641"/>
            <a:ext cx="10515600" cy="4429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69850" indent="0" algn="just">
              <a:lnSpc>
                <a:spcPct val="95000"/>
              </a:lnSpc>
              <a:spcBef>
                <a:spcPts val="0"/>
              </a:spcBef>
              <a:buSzPts val="2500"/>
              <a:buNone/>
            </a:pPr>
            <a:r>
              <a:rPr lang="en-SG" sz="2500" dirty="0">
                <a:solidFill>
                  <a:schemeClr val="tx1"/>
                </a:solidFill>
              </a:rPr>
              <a:t>                Items={1,    2,     3,   4,   5,   6,   7}</a:t>
            </a:r>
          </a:p>
          <a:p>
            <a:pPr marL="69850" indent="0" algn="just">
              <a:lnSpc>
                <a:spcPct val="95000"/>
              </a:lnSpc>
              <a:spcBef>
                <a:spcPts val="0"/>
              </a:spcBef>
              <a:buSzPts val="2500"/>
              <a:buNone/>
            </a:pPr>
            <a:r>
              <a:rPr lang="en-SG" sz="2500" dirty="0">
                <a:solidFill>
                  <a:schemeClr val="tx1"/>
                </a:solidFill>
              </a:rPr>
              <a:t>Given weights={1,     3,     5,   4,   1,   3,   2}                      maximum capacity, W=15</a:t>
            </a:r>
          </a:p>
          <a:p>
            <a:pPr marL="69850" indent="0" algn="just">
              <a:lnSpc>
                <a:spcPct val="95000"/>
              </a:lnSpc>
              <a:spcBef>
                <a:spcPts val="0"/>
              </a:spcBef>
              <a:buSzPts val="2500"/>
              <a:buNone/>
            </a:pPr>
            <a:r>
              <a:rPr lang="en-SG" sz="2500" dirty="0">
                <a:solidFill>
                  <a:schemeClr val="tx1"/>
                </a:solidFill>
              </a:rPr>
              <a:t>              Profits={5,   10,    15, 7,    8,   9,  4}</a:t>
            </a:r>
          </a:p>
          <a:p>
            <a:pPr marL="69850" indent="0" algn="just">
              <a:lnSpc>
                <a:spcPct val="95000"/>
              </a:lnSpc>
              <a:spcBef>
                <a:spcPts val="0"/>
              </a:spcBef>
              <a:buSzPts val="2500"/>
              <a:buNone/>
            </a:pPr>
            <a:r>
              <a:rPr lang="en-SG" sz="2500" dirty="0">
                <a:solidFill>
                  <a:schemeClr val="tx1"/>
                </a:solidFill>
              </a:rPr>
              <a:t>                                        </a:t>
            </a:r>
          </a:p>
          <a:p>
            <a:pPr indent="-387350" algn="just">
              <a:lnSpc>
                <a:spcPct val="95000"/>
              </a:lnSpc>
              <a:spcBef>
                <a:spcPts val="0"/>
              </a:spcBef>
              <a:buSzPts val="2500"/>
              <a:buFont typeface="Calibri"/>
              <a:buChar char="●"/>
            </a:pPr>
            <a:endParaRPr lang="en-SG" sz="2500" dirty="0">
              <a:solidFill>
                <a:schemeClr val="tx1"/>
              </a:solidFill>
            </a:endParaRPr>
          </a:p>
          <a:p>
            <a:pPr marL="457200" lvl="0" indent="-38735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Font typeface="Calibri"/>
              <a:buChar char="●"/>
            </a:pPr>
            <a:endParaRPr lang="en-SG" sz="2500" dirty="0">
              <a:solidFill>
                <a:schemeClr val="tx1"/>
              </a:solidFill>
            </a:endParaRPr>
          </a:p>
          <a:p>
            <a:pPr marL="457200" lvl="0" indent="-38735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Font typeface="Calibri"/>
              <a:buChar char="●"/>
            </a:pPr>
            <a:endParaRPr lang="en-SG" sz="2500" dirty="0">
              <a:solidFill>
                <a:schemeClr val="tx1"/>
              </a:solidFill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940E718-84AB-77E6-4B8D-C13DC972E1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8911137"/>
              </p:ext>
            </p:extLst>
          </p:nvPr>
        </p:nvGraphicFramePr>
        <p:xfrm>
          <a:off x="1597559" y="2339847"/>
          <a:ext cx="9187952" cy="4545541"/>
        </p:xfrm>
        <a:graphic>
          <a:graphicData uri="http://schemas.openxmlformats.org/drawingml/2006/table">
            <a:tbl>
              <a:tblPr firstRow="1" bandRow="1"/>
              <a:tblGrid>
                <a:gridCol w="2194247">
                  <a:extLst>
                    <a:ext uri="{9D8B030D-6E8A-4147-A177-3AD203B41FA5}">
                      <a16:colId xmlns:a16="http://schemas.microsoft.com/office/drawing/2014/main" val="384385614"/>
                    </a:ext>
                  </a:extLst>
                </a:gridCol>
                <a:gridCol w="2194247">
                  <a:extLst>
                    <a:ext uri="{9D8B030D-6E8A-4147-A177-3AD203B41FA5}">
                      <a16:colId xmlns:a16="http://schemas.microsoft.com/office/drawing/2014/main" val="2671054810"/>
                    </a:ext>
                  </a:extLst>
                </a:gridCol>
                <a:gridCol w="2194247">
                  <a:extLst>
                    <a:ext uri="{9D8B030D-6E8A-4147-A177-3AD203B41FA5}">
                      <a16:colId xmlns:a16="http://schemas.microsoft.com/office/drawing/2014/main" val="1103797250"/>
                    </a:ext>
                  </a:extLst>
                </a:gridCol>
                <a:gridCol w="2605211">
                  <a:extLst>
                    <a:ext uri="{9D8B030D-6E8A-4147-A177-3AD203B41FA5}">
                      <a16:colId xmlns:a16="http://schemas.microsoft.com/office/drawing/2014/main" val="1346894772"/>
                    </a:ext>
                  </a:extLst>
                </a:gridCol>
              </a:tblGrid>
              <a:tr h="766021"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Profit(P)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Weight(W)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Remaining Weight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9876063"/>
                  </a:ext>
                </a:extLst>
              </a:tr>
              <a:tr h="468773"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15-1=14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2421362"/>
                  </a:ext>
                </a:extLst>
              </a:tr>
              <a:tr h="468773"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14-1=13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6383241"/>
                  </a:ext>
                </a:extLst>
              </a:tr>
              <a:tr h="468773"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13-2=11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2599472"/>
                  </a:ext>
                </a:extLst>
              </a:tr>
              <a:tr h="468773"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11-3=8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8424840"/>
                  </a:ext>
                </a:extLst>
              </a:tr>
              <a:tr h="468773"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8-3=5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5915293"/>
                  </a:ext>
                </a:extLst>
              </a:tr>
              <a:tr h="468773"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5-4=1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141302"/>
                  </a:ext>
                </a:extLst>
              </a:tr>
              <a:tr h="468773"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15*1/5=3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1-1=0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1415926"/>
                  </a:ext>
                </a:extLst>
              </a:tr>
              <a:tr h="468773">
                <a:tc>
                  <a:txBody>
                    <a:bodyPr/>
                    <a:lstStyle/>
                    <a:p>
                      <a:pPr algn="ctr"/>
                      <a:endParaRPr lang="en-SG" sz="25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5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5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9012400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49464BA8-FE94-8EF3-370D-EF1BC6B6AB0A}"/>
                  </a:ext>
                </a:extLst>
              </p14:cNvPr>
              <p14:cNvContentPartPr/>
              <p14:nvPr/>
            </p14:nvContentPartPr>
            <p14:xfrm>
              <a:off x="3133654" y="1755384"/>
              <a:ext cx="262080" cy="2664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49464BA8-FE94-8EF3-370D-EF1BC6B6AB0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127534" y="1749264"/>
                <a:ext cx="274320" cy="3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151C0B99-916C-9333-A406-C0789817CA19}"/>
                  </a:ext>
                </a:extLst>
              </p14:cNvPr>
              <p14:cNvContentPartPr/>
              <p14:nvPr/>
            </p14:nvContentPartPr>
            <p14:xfrm>
              <a:off x="5239654" y="1710384"/>
              <a:ext cx="145440" cy="16992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151C0B99-916C-9333-A406-C0789817CA19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233534" y="1704264"/>
                <a:ext cx="157680" cy="18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2079E9BD-C1D9-0A0F-AD34-43A09B4990F7}"/>
                  </a:ext>
                </a:extLst>
              </p14:cNvPr>
              <p14:cNvContentPartPr/>
              <p14:nvPr/>
            </p14:nvContentPartPr>
            <p14:xfrm>
              <a:off x="6256654" y="1715424"/>
              <a:ext cx="164520" cy="12384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2079E9BD-C1D9-0A0F-AD34-43A09B4990F7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250534" y="1709304"/>
                <a:ext cx="176760" cy="13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C74F3E2E-5971-47C2-B5F8-F6248C705A7D}"/>
                  </a:ext>
                </a:extLst>
              </p14:cNvPr>
              <p14:cNvContentPartPr/>
              <p14:nvPr/>
            </p14:nvContentPartPr>
            <p14:xfrm>
              <a:off x="3760414" y="1767984"/>
              <a:ext cx="134280" cy="9144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C74F3E2E-5971-47C2-B5F8-F6248C705A7D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754294" y="1761864"/>
                <a:ext cx="146520" cy="10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7A6E6330-A2E3-5444-7968-9AF1C609CF81}"/>
                  </a:ext>
                </a:extLst>
              </p14:cNvPr>
              <p14:cNvContentPartPr/>
              <p14:nvPr/>
            </p14:nvContentPartPr>
            <p14:xfrm>
              <a:off x="5742934" y="1757904"/>
              <a:ext cx="195120" cy="5076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7A6E6330-A2E3-5444-7968-9AF1C609CF81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5736814" y="1751784"/>
                <a:ext cx="207360" cy="6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11C24D4B-816C-4936-EEA3-7B2415CB53F5}"/>
                  </a:ext>
                </a:extLst>
              </p14:cNvPr>
              <p14:cNvContentPartPr/>
              <p14:nvPr/>
            </p14:nvContentPartPr>
            <p14:xfrm>
              <a:off x="4869934" y="1724784"/>
              <a:ext cx="100800" cy="5256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11C24D4B-816C-4936-EEA3-7B2415CB53F5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4863814" y="1718664"/>
                <a:ext cx="113040" cy="64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541122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38461C00-EE20-063E-3A30-F27EC93A22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">
            <a:extLst>
              <a:ext uri="{FF2B5EF4-FFF2-40B4-BE49-F238E27FC236}">
                <a16:creationId xmlns:a16="http://schemas.microsoft.com/office/drawing/2014/main" id="{7793F624-753F-D85A-AC73-9BE92B5EBCD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33735" y="21500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SG" b="1" dirty="0">
                <a:solidFill>
                  <a:srgbClr val="833C0B"/>
                </a:solidFill>
              </a:rPr>
              <a:t>Picking items with larger profit first</a:t>
            </a:r>
            <a:endParaRPr dirty="0">
              <a:solidFill>
                <a:srgbClr val="833C0B"/>
              </a:solidFill>
            </a:endParaRPr>
          </a:p>
        </p:txBody>
      </p:sp>
      <p:sp>
        <p:nvSpPr>
          <p:cNvPr id="2" name="Google Shape;102;p3">
            <a:extLst>
              <a:ext uri="{FF2B5EF4-FFF2-40B4-BE49-F238E27FC236}">
                <a16:creationId xmlns:a16="http://schemas.microsoft.com/office/drawing/2014/main" id="{A0049184-EE3F-39B4-E8D8-7C3B0806EDD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315093"/>
            <a:ext cx="10515600" cy="4429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69850" indent="0" algn="just">
              <a:lnSpc>
                <a:spcPct val="95000"/>
              </a:lnSpc>
              <a:spcBef>
                <a:spcPts val="0"/>
              </a:spcBef>
              <a:buSzPts val="2500"/>
              <a:buNone/>
            </a:pPr>
            <a:r>
              <a:rPr lang="en-SG" sz="2500" dirty="0">
                <a:solidFill>
                  <a:schemeClr val="tx1"/>
                </a:solidFill>
              </a:rPr>
              <a:t>                Items={1,    2,     3,   4,   5,   6,   7}</a:t>
            </a:r>
          </a:p>
          <a:p>
            <a:pPr marL="69850" indent="0" algn="just">
              <a:lnSpc>
                <a:spcPct val="95000"/>
              </a:lnSpc>
              <a:spcBef>
                <a:spcPts val="0"/>
              </a:spcBef>
              <a:buSzPts val="2500"/>
              <a:buNone/>
            </a:pPr>
            <a:r>
              <a:rPr lang="en-SG" sz="2500" dirty="0">
                <a:solidFill>
                  <a:schemeClr val="tx1"/>
                </a:solidFill>
              </a:rPr>
              <a:t>Given weights={1,     3,     5,   4,   1,   3,   2}                      maximum capacity, W=15</a:t>
            </a:r>
          </a:p>
          <a:p>
            <a:pPr marL="69850" indent="0" algn="just">
              <a:lnSpc>
                <a:spcPct val="95000"/>
              </a:lnSpc>
              <a:spcBef>
                <a:spcPts val="0"/>
              </a:spcBef>
              <a:buSzPts val="2500"/>
              <a:buNone/>
            </a:pPr>
            <a:r>
              <a:rPr lang="en-SG" sz="2500" dirty="0">
                <a:solidFill>
                  <a:schemeClr val="tx1"/>
                </a:solidFill>
              </a:rPr>
              <a:t>              Profits={5,   10,    15, 7,    8,   9,  4}</a:t>
            </a:r>
          </a:p>
          <a:p>
            <a:pPr marL="69850" indent="0" algn="just">
              <a:lnSpc>
                <a:spcPct val="95000"/>
              </a:lnSpc>
              <a:spcBef>
                <a:spcPts val="0"/>
              </a:spcBef>
              <a:buSzPts val="2500"/>
              <a:buNone/>
            </a:pPr>
            <a:r>
              <a:rPr lang="en-SG" sz="2500" dirty="0">
                <a:solidFill>
                  <a:schemeClr val="tx1"/>
                </a:solidFill>
              </a:rPr>
              <a:t>                                        </a:t>
            </a:r>
          </a:p>
          <a:p>
            <a:pPr indent="-387350" algn="just">
              <a:lnSpc>
                <a:spcPct val="95000"/>
              </a:lnSpc>
              <a:spcBef>
                <a:spcPts val="0"/>
              </a:spcBef>
              <a:buSzPts val="2500"/>
              <a:buFont typeface="Calibri"/>
              <a:buChar char="●"/>
            </a:pPr>
            <a:endParaRPr lang="en-SG" sz="2500" dirty="0">
              <a:solidFill>
                <a:schemeClr val="tx1"/>
              </a:solidFill>
            </a:endParaRPr>
          </a:p>
          <a:p>
            <a:pPr marL="457200" lvl="0" indent="-38735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Font typeface="Calibri"/>
              <a:buChar char="●"/>
            </a:pPr>
            <a:endParaRPr lang="en-SG" sz="2500" dirty="0">
              <a:solidFill>
                <a:schemeClr val="tx1"/>
              </a:solidFill>
            </a:endParaRPr>
          </a:p>
          <a:p>
            <a:pPr marL="457200" lvl="0" indent="-38735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Font typeface="Calibri"/>
              <a:buChar char="●"/>
            </a:pPr>
            <a:endParaRPr lang="en-SG" sz="2500" dirty="0">
              <a:solidFill>
                <a:schemeClr val="tx1"/>
              </a:solidFill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D63A6E8-B869-30C8-F1CC-0D47AB3D3F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0543968"/>
              </p:ext>
            </p:extLst>
          </p:nvPr>
        </p:nvGraphicFramePr>
        <p:xfrm>
          <a:off x="1597559" y="2640656"/>
          <a:ext cx="9187952" cy="4073101"/>
        </p:xfrm>
        <a:graphic>
          <a:graphicData uri="http://schemas.openxmlformats.org/drawingml/2006/table">
            <a:tbl>
              <a:tblPr firstRow="1" bandRow="1"/>
              <a:tblGrid>
                <a:gridCol w="2194247">
                  <a:extLst>
                    <a:ext uri="{9D8B030D-6E8A-4147-A177-3AD203B41FA5}">
                      <a16:colId xmlns:a16="http://schemas.microsoft.com/office/drawing/2014/main" val="384385614"/>
                    </a:ext>
                  </a:extLst>
                </a:gridCol>
                <a:gridCol w="2194247">
                  <a:extLst>
                    <a:ext uri="{9D8B030D-6E8A-4147-A177-3AD203B41FA5}">
                      <a16:colId xmlns:a16="http://schemas.microsoft.com/office/drawing/2014/main" val="2671054810"/>
                    </a:ext>
                  </a:extLst>
                </a:gridCol>
                <a:gridCol w="2194247">
                  <a:extLst>
                    <a:ext uri="{9D8B030D-6E8A-4147-A177-3AD203B41FA5}">
                      <a16:colId xmlns:a16="http://schemas.microsoft.com/office/drawing/2014/main" val="1103797250"/>
                    </a:ext>
                  </a:extLst>
                </a:gridCol>
                <a:gridCol w="2605211">
                  <a:extLst>
                    <a:ext uri="{9D8B030D-6E8A-4147-A177-3AD203B41FA5}">
                      <a16:colId xmlns:a16="http://schemas.microsoft.com/office/drawing/2014/main" val="1346894772"/>
                    </a:ext>
                  </a:extLst>
                </a:gridCol>
              </a:tblGrid>
              <a:tr h="766021"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Profit(P)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Weight(W)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Remaining Weight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9876063"/>
                  </a:ext>
                </a:extLst>
              </a:tr>
              <a:tr h="468773"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15-5=10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2421362"/>
                  </a:ext>
                </a:extLst>
              </a:tr>
              <a:tr h="468773"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10-3=7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6383241"/>
                  </a:ext>
                </a:extLst>
              </a:tr>
              <a:tr h="468773"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7-3=4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2599472"/>
                  </a:ext>
                </a:extLst>
              </a:tr>
              <a:tr h="468773"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4-1=3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8424840"/>
                  </a:ext>
                </a:extLst>
              </a:tr>
              <a:tr h="468773"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7*3/4=5.25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3-3=0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5915293"/>
                  </a:ext>
                </a:extLst>
              </a:tr>
              <a:tr h="468773">
                <a:tc>
                  <a:txBody>
                    <a:bodyPr/>
                    <a:lstStyle/>
                    <a:p>
                      <a:pPr algn="ctr"/>
                      <a:endParaRPr lang="en-SG" sz="25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47.25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5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5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141302"/>
                  </a:ext>
                </a:extLst>
              </a:tr>
              <a:tr h="468773">
                <a:tc>
                  <a:txBody>
                    <a:bodyPr/>
                    <a:lstStyle/>
                    <a:p>
                      <a:pPr algn="ctr"/>
                      <a:endParaRPr lang="en-SG" sz="25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5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5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5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1415926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DE513C08-9971-89A5-7A45-413625CBF673}"/>
                  </a:ext>
                </a:extLst>
              </p14:cNvPr>
              <p14:cNvContentPartPr/>
              <p14:nvPr/>
            </p14:nvContentPartPr>
            <p14:xfrm>
              <a:off x="4365934" y="1284864"/>
              <a:ext cx="101880" cy="12312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DE513C08-9971-89A5-7A45-413625CBF67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359814" y="1278744"/>
                <a:ext cx="114120" cy="13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99ABCE6C-0FE1-8589-7CDF-65C84CFB654E}"/>
                  </a:ext>
                </a:extLst>
              </p14:cNvPr>
              <p14:cNvContentPartPr/>
              <p14:nvPr/>
            </p14:nvContentPartPr>
            <p14:xfrm>
              <a:off x="3800014" y="1275504"/>
              <a:ext cx="84960" cy="17352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99ABCE6C-0FE1-8589-7CDF-65C84CFB654E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793894" y="1269384"/>
                <a:ext cx="97200" cy="18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020B4E21-B26D-FE95-3A13-DBCD27A1DBD0}"/>
                  </a:ext>
                </a:extLst>
              </p14:cNvPr>
              <p14:cNvContentPartPr/>
              <p14:nvPr/>
            </p14:nvContentPartPr>
            <p14:xfrm>
              <a:off x="5763454" y="1313664"/>
              <a:ext cx="78840" cy="12492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020B4E21-B26D-FE95-3A13-DBCD27A1DBD0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757334" y="1307544"/>
                <a:ext cx="91080" cy="13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4F71E2B5-E00A-75DC-F37E-5223B3F4FF81}"/>
                  </a:ext>
                </a:extLst>
              </p14:cNvPr>
              <p14:cNvContentPartPr/>
              <p14:nvPr/>
            </p14:nvContentPartPr>
            <p14:xfrm>
              <a:off x="5301574" y="1231584"/>
              <a:ext cx="108000" cy="18684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4F71E2B5-E00A-75DC-F37E-5223B3F4FF81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295454" y="1225464"/>
                <a:ext cx="120240" cy="19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5946E0C9-D7BA-0E1B-1B3F-49E950DAFBA8}"/>
                  </a:ext>
                </a:extLst>
              </p14:cNvPr>
              <p14:cNvContentPartPr/>
              <p14:nvPr/>
            </p14:nvContentPartPr>
            <p14:xfrm>
              <a:off x="4828534" y="1228704"/>
              <a:ext cx="122760" cy="14832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5946E0C9-D7BA-0E1B-1B3F-49E950DAFBA8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4822414" y="1222584"/>
                <a:ext cx="135000" cy="160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272055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>
          <a:extLst>
            <a:ext uri="{FF2B5EF4-FFF2-40B4-BE49-F238E27FC236}">
              <a16:creationId xmlns:a16="http://schemas.microsoft.com/office/drawing/2014/main" id="{B294EA34-94FE-C77E-3B9B-4B0D270C43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">
            <a:extLst>
              <a:ext uri="{FF2B5EF4-FFF2-40B4-BE49-F238E27FC236}">
                <a16:creationId xmlns:a16="http://schemas.microsoft.com/office/drawing/2014/main" id="{A7F7D369-9175-C480-BED3-72B25715C1E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-1047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SG" b="1" dirty="0">
                <a:solidFill>
                  <a:srgbClr val="833C0B"/>
                </a:solidFill>
              </a:rPr>
              <a:t> Selecting Items by profit/weight Ratio</a:t>
            </a:r>
            <a:endParaRPr dirty="0">
              <a:solidFill>
                <a:srgbClr val="833C0B"/>
              </a:solidFill>
            </a:endParaRPr>
          </a:p>
        </p:txBody>
      </p:sp>
      <p:sp>
        <p:nvSpPr>
          <p:cNvPr id="2" name="Google Shape;102;p3">
            <a:extLst>
              <a:ext uri="{FF2B5EF4-FFF2-40B4-BE49-F238E27FC236}">
                <a16:creationId xmlns:a16="http://schemas.microsoft.com/office/drawing/2014/main" id="{DA2E5C8B-A5F6-737C-F17E-FA206101A5B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037690"/>
            <a:ext cx="10515600" cy="4429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69850" indent="0" algn="just">
              <a:lnSpc>
                <a:spcPct val="95000"/>
              </a:lnSpc>
              <a:spcBef>
                <a:spcPts val="0"/>
              </a:spcBef>
              <a:buSzPts val="2500"/>
              <a:buNone/>
            </a:pPr>
            <a:r>
              <a:rPr lang="en-SG" sz="2500" dirty="0">
                <a:solidFill>
                  <a:schemeClr val="tx1"/>
                </a:solidFill>
              </a:rPr>
              <a:t>                Items={1,    2,     3,   4,   5,   6,   7}</a:t>
            </a:r>
          </a:p>
          <a:p>
            <a:pPr marL="69850" indent="0" algn="just">
              <a:lnSpc>
                <a:spcPct val="95000"/>
              </a:lnSpc>
              <a:spcBef>
                <a:spcPts val="0"/>
              </a:spcBef>
              <a:buSzPts val="2500"/>
              <a:buNone/>
            </a:pPr>
            <a:r>
              <a:rPr lang="en-SG" sz="2500" dirty="0">
                <a:solidFill>
                  <a:schemeClr val="tx1"/>
                </a:solidFill>
              </a:rPr>
              <a:t>Given weights={1,     3,     5,   4,   1,   3,   2}                      maximum capacity, W=15</a:t>
            </a:r>
          </a:p>
          <a:p>
            <a:pPr marL="69850" indent="0" algn="just">
              <a:lnSpc>
                <a:spcPct val="95000"/>
              </a:lnSpc>
              <a:spcBef>
                <a:spcPts val="0"/>
              </a:spcBef>
              <a:buSzPts val="2500"/>
              <a:buNone/>
            </a:pPr>
            <a:r>
              <a:rPr lang="en-SG" sz="2500" dirty="0">
                <a:solidFill>
                  <a:schemeClr val="tx1"/>
                </a:solidFill>
              </a:rPr>
              <a:t>              Profits={5,   10,    15, 7,    8,   9,  4}</a:t>
            </a:r>
          </a:p>
          <a:p>
            <a:pPr marL="69850" indent="0" algn="just">
              <a:lnSpc>
                <a:spcPct val="95000"/>
              </a:lnSpc>
              <a:spcBef>
                <a:spcPts val="0"/>
              </a:spcBef>
              <a:buSzPts val="2500"/>
              <a:buNone/>
            </a:pPr>
            <a:r>
              <a:rPr lang="en-SG" sz="2500" dirty="0">
                <a:solidFill>
                  <a:schemeClr val="tx1"/>
                </a:solidFill>
              </a:rPr>
              <a:t>                 P/W= {5,   3.3,    3, 1.75, 8, 3,  2}</a:t>
            </a:r>
          </a:p>
          <a:p>
            <a:pPr marL="69850" indent="0" algn="just">
              <a:lnSpc>
                <a:spcPct val="95000"/>
              </a:lnSpc>
              <a:spcBef>
                <a:spcPts val="0"/>
              </a:spcBef>
              <a:buSzPts val="2500"/>
              <a:buNone/>
            </a:pPr>
            <a:r>
              <a:rPr lang="en-SG" sz="2500" dirty="0">
                <a:solidFill>
                  <a:schemeClr val="tx1"/>
                </a:solidFill>
              </a:rPr>
              <a:t>                                        </a:t>
            </a:r>
          </a:p>
          <a:p>
            <a:pPr indent="-387350" algn="just">
              <a:lnSpc>
                <a:spcPct val="95000"/>
              </a:lnSpc>
              <a:spcBef>
                <a:spcPts val="0"/>
              </a:spcBef>
              <a:buSzPts val="2500"/>
              <a:buFont typeface="Calibri"/>
              <a:buChar char="●"/>
            </a:pPr>
            <a:endParaRPr lang="en-SG" sz="2500" dirty="0">
              <a:solidFill>
                <a:schemeClr val="tx1"/>
              </a:solidFill>
            </a:endParaRPr>
          </a:p>
          <a:p>
            <a:pPr marL="457200" lvl="0" indent="-38735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Font typeface="Calibri"/>
              <a:buChar char="●"/>
            </a:pPr>
            <a:endParaRPr lang="en-SG" sz="2500" dirty="0">
              <a:solidFill>
                <a:schemeClr val="tx1"/>
              </a:solidFill>
            </a:endParaRPr>
          </a:p>
          <a:p>
            <a:pPr marL="457200" lvl="0" indent="-387350" algn="just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500"/>
              <a:buFont typeface="Calibri"/>
              <a:buChar char="●"/>
            </a:pPr>
            <a:endParaRPr lang="en-SG" sz="2500" dirty="0">
              <a:solidFill>
                <a:schemeClr val="tx1"/>
              </a:solidFill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75A8CA2-09D0-37F7-C6F6-D6201DCEE3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0118359"/>
              </p:ext>
            </p:extLst>
          </p:nvPr>
        </p:nvGraphicFramePr>
        <p:xfrm>
          <a:off x="1825945" y="2615873"/>
          <a:ext cx="9187952" cy="4073101"/>
        </p:xfrm>
        <a:graphic>
          <a:graphicData uri="http://schemas.openxmlformats.org/drawingml/2006/table">
            <a:tbl>
              <a:tblPr firstRow="1" bandRow="1"/>
              <a:tblGrid>
                <a:gridCol w="2194247">
                  <a:extLst>
                    <a:ext uri="{9D8B030D-6E8A-4147-A177-3AD203B41FA5}">
                      <a16:colId xmlns:a16="http://schemas.microsoft.com/office/drawing/2014/main" val="384385614"/>
                    </a:ext>
                  </a:extLst>
                </a:gridCol>
                <a:gridCol w="2194247">
                  <a:extLst>
                    <a:ext uri="{9D8B030D-6E8A-4147-A177-3AD203B41FA5}">
                      <a16:colId xmlns:a16="http://schemas.microsoft.com/office/drawing/2014/main" val="2671054810"/>
                    </a:ext>
                  </a:extLst>
                </a:gridCol>
                <a:gridCol w="2194247">
                  <a:extLst>
                    <a:ext uri="{9D8B030D-6E8A-4147-A177-3AD203B41FA5}">
                      <a16:colId xmlns:a16="http://schemas.microsoft.com/office/drawing/2014/main" val="1103797250"/>
                    </a:ext>
                  </a:extLst>
                </a:gridCol>
                <a:gridCol w="2605211">
                  <a:extLst>
                    <a:ext uri="{9D8B030D-6E8A-4147-A177-3AD203B41FA5}">
                      <a16:colId xmlns:a16="http://schemas.microsoft.com/office/drawing/2014/main" val="1346894772"/>
                    </a:ext>
                  </a:extLst>
                </a:gridCol>
              </a:tblGrid>
              <a:tr h="766021"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Profit(P)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Weight(W)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Remaining Weight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9876063"/>
                  </a:ext>
                </a:extLst>
              </a:tr>
              <a:tr h="468773"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15-1=14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2421362"/>
                  </a:ext>
                </a:extLst>
              </a:tr>
              <a:tr h="468773"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14-1=13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6383241"/>
                  </a:ext>
                </a:extLst>
              </a:tr>
              <a:tr h="468773"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13-3=10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2599472"/>
                  </a:ext>
                </a:extLst>
              </a:tr>
              <a:tr h="468773"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10-5=5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8424840"/>
                  </a:ext>
                </a:extLst>
              </a:tr>
              <a:tr h="468773"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5-3=2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5915293"/>
                  </a:ext>
                </a:extLst>
              </a:tr>
              <a:tr h="468773"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2-2=0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141302"/>
                  </a:ext>
                </a:extLst>
              </a:tr>
              <a:tr h="468773">
                <a:tc>
                  <a:txBody>
                    <a:bodyPr/>
                    <a:lstStyle/>
                    <a:p>
                      <a:pPr algn="ctr"/>
                      <a:endParaRPr lang="en-SG" sz="25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5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SG" sz="25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1415926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5DC244B6-1B6E-FD6F-5ABF-08D675AE081B}"/>
                  </a:ext>
                </a:extLst>
              </p14:cNvPr>
              <p14:cNvContentPartPr/>
              <p14:nvPr/>
            </p14:nvContentPartPr>
            <p14:xfrm>
              <a:off x="5249734" y="978864"/>
              <a:ext cx="137880" cy="1515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5DC244B6-1B6E-FD6F-5ABF-08D675AE081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240734" y="970224"/>
                <a:ext cx="155520" cy="16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8CFDA96C-5BEF-D548-5E6D-B1BB01976F9C}"/>
                  </a:ext>
                </a:extLst>
              </p14:cNvPr>
              <p14:cNvContentPartPr/>
              <p14:nvPr/>
            </p14:nvContentPartPr>
            <p14:xfrm>
              <a:off x="3235894" y="1037544"/>
              <a:ext cx="112320" cy="6228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8CFDA96C-5BEF-D548-5E6D-B1BB01976F9C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227254" y="1028544"/>
                <a:ext cx="129960" cy="7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ACE6F7CF-D32C-83FF-4380-24183BED0204}"/>
                  </a:ext>
                </a:extLst>
              </p14:cNvPr>
              <p14:cNvContentPartPr/>
              <p14:nvPr/>
            </p14:nvContentPartPr>
            <p14:xfrm>
              <a:off x="3801094" y="959064"/>
              <a:ext cx="101520" cy="16092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ACE6F7CF-D32C-83FF-4380-24183BED0204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792094" y="950424"/>
                <a:ext cx="119160" cy="17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979F1C3A-C558-23BF-F92D-DC7410AB90BF}"/>
                  </a:ext>
                </a:extLst>
              </p14:cNvPr>
              <p14:cNvContentPartPr/>
              <p14:nvPr/>
            </p14:nvContentPartPr>
            <p14:xfrm>
              <a:off x="4345774" y="974184"/>
              <a:ext cx="126360" cy="15624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979F1C3A-C558-23BF-F92D-DC7410AB90BF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336774" y="965544"/>
                <a:ext cx="144000" cy="17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076CB0F6-D5B2-4E93-6E3B-483D60180389}"/>
                  </a:ext>
                </a:extLst>
              </p14:cNvPr>
              <p14:cNvContentPartPr/>
              <p14:nvPr/>
            </p14:nvContentPartPr>
            <p14:xfrm>
              <a:off x="5732494" y="1012704"/>
              <a:ext cx="151920" cy="17964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076CB0F6-D5B2-4E93-6E3B-483D60180389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5723854" y="1003704"/>
                <a:ext cx="169560" cy="19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74BA244B-6392-D950-3CD2-1B439A7219E4}"/>
                  </a:ext>
                </a:extLst>
              </p14:cNvPr>
              <p14:cNvContentPartPr/>
              <p14:nvPr/>
            </p14:nvContentPartPr>
            <p14:xfrm>
              <a:off x="6185014" y="892464"/>
              <a:ext cx="263160" cy="22752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74BA244B-6392-D950-3CD2-1B439A7219E4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6176374" y="883824"/>
                <a:ext cx="280800" cy="245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508101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2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</a:pPr>
            <a:endParaRPr sz="8000" dirty="0"/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8000"/>
              <a:buNone/>
            </a:pPr>
            <a:r>
              <a:rPr lang="en-US" sz="8000" dirty="0">
                <a:solidFill>
                  <a:srgbClr val="C00000"/>
                </a:solidFill>
              </a:rPr>
              <a:t>Thank You</a:t>
            </a:r>
            <a:endParaRPr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2220</TotalTime>
  <Words>841</Words>
  <Application>Microsoft Office PowerPoint</Application>
  <PresentationFormat>Widescreen</PresentationFormat>
  <Paragraphs>145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Wingdings</vt:lpstr>
      <vt:lpstr>Office Theme</vt:lpstr>
      <vt:lpstr>Greedy Techniques</vt:lpstr>
      <vt:lpstr>Introduction</vt:lpstr>
      <vt:lpstr>Introduction</vt:lpstr>
      <vt:lpstr>Greedy Algorithm: Working</vt:lpstr>
      <vt:lpstr>Greedy Isn't Always Good!</vt:lpstr>
      <vt:lpstr>Greedy Isn't Always Good! (Example)</vt:lpstr>
      <vt:lpstr>Greedy Isn't Always Good! (Example)</vt:lpstr>
      <vt:lpstr>Applications</vt:lpstr>
      <vt:lpstr>Fractional Knapsack Problem</vt:lpstr>
      <vt:lpstr>Picking the items with smaller weights first</vt:lpstr>
      <vt:lpstr>Picking items with larger profit first</vt:lpstr>
      <vt:lpstr> Selecting Items by profit/weight Ratio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Insanur Shuvo</dc:creator>
  <cp:lastModifiedBy>Maimuna Chowdhury Disha</cp:lastModifiedBy>
  <cp:revision>34</cp:revision>
  <dcterms:created xsi:type="dcterms:W3CDTF">2016-09-19T04:08:53Z</dcterms:created>
  <dcterms:modified xsi:type="dcterms:W3CDTF">2026-03-10T04:47:06Z</dcterms:modified>
</cp:coreProperties>
</file>