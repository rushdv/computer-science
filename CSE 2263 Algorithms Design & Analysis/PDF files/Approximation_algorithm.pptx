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403" r:id="rId3"/>
    <p:sldId id="431" r:id="rId4"/>
    <p:sldId id="432" r:id="rId5"/>
    <p:sldId id="380" r:id="rId6"/>
    <p:sldId id="433" r:id="rId7"/>
    <p:sldId id="435" r:id="rId8"/>
    <p:sldId id="436" r:id="rId9"/>
    <p:sldId id="437" r:id="rId10"/>
    <p:sldId id="381" r:id="rId11"/>
    <p:sldId id="438" r:id="rId12"/>
    <p:sldId id="439" r:id="rId13"/>
    <p:sldId id="440" r:id="rId14"/>
    <p:sldId id="441" r:id="rId15"/>
    <p:sldId id="442" r:id="rId16"/>
    <p:sldId id="443" r:id="rId17"/>
    <p:sldId id="434" r:id="rId18"/>
    <p:sldId id="281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SE3pmRORSF/beTMrWOScEMNo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customschemas.google.com/relationships/presentationmetadata" Target="metadata"/><Relationship Id="rId3" Type="http://schemas.openxmlformats.org/officeDocument/2006/relationships/slide" Target="slides/slide2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401B2A7-9FA7-FBBA-4A61-0AF74AC1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E3CEF69-5871-AA18-B49C-0C3821EDAB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1D8F8FB-7039-E06F-0EA7-389F00BD6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6094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B25853B-D147-D1A4-BA75-AD06EB5D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2A32D24E-CB6B-0055-8F25-B5D27967F2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CC350FF-3B9B-1DB2-6E38-EB4C60876C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8118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B3FE435-3DF5-2BD6-0153-E70B0B133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B543230-0F1D-9AE7-C1EF-E1426027E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CCC6B5D2-18E8-4D19-821C-463AEB9A75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1089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4ECF8D3-1C28-6D1E-F13B-99E8AE6D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F524784-EF93-E1BF-DF00-164187738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621FAF9-FB8D-8796-B555-B4315C0489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4632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72B97CC-6EA1-BD79-1ECA-FDFA58520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6ACFCEF-50A0-A155-E09C-CB811A8395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618D14A-6393-3EAF-62AF-E24B1322BC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3546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05034C6-732E-FD16-38FF-0A910F2EA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D067C238-C852-DCA1-B79A-E210EBCED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B537E76E-5D1A-C0C0-1A39-8FD1A78DEA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7998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CEF36A2-6BBF-4131-0417-9DCA3763E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4F71DE4-A637-EEF2-67E1-52BF560F6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02B213C-301D-EA08-47ED-C69859169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7903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D1881CD-33C5-001D-5D8C-769540559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B7AB00D-4D8F-FED1-E74F-EC81EB616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A10B3A4-DA05-EB45-9340-04FBCB4EB4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1013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47226B8-BE96-BFD4-F932-6A3DAA5D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569D67D3-C0A5-2C32-B36E-6B2BC6591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F6677FF-DC8C-6128-AA12-5A44F0F4F2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48446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EDB2419-D123-C54C-83DC-2AECA64F5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72CD1DF-0218-795D-D0BC-D83537FBC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49D8B92E-DADF-19DA-196E-FAE68816CC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10704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F918CD2-D850-6437-DE7C-90212D6A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DC3B9E04-E7E2-3A30-E69E-8F469CAE5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C9F4B37-F35E-E99C-0590-6A4210BCD5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255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A85FC4A-4D03-3223-10EB-A7F826EB0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93E2821-7C06-08AA-43B0-3455A61034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CCA38393-1B7D-B551-04DD-36EFAA2810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108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02A702C-E6EC-1B77-6FC4-E02ECEBB8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CBEFA526-CF85-A2C6-B800-FF3EEA90B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8E723E4C-0E8B-72FB-DF74-C697B4DCB0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35640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DBEA8B0-A0AA-72AF-AE56-8206EDC1E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84570AC-A15F-6232-8B6E-EE38A70CE5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35B3123-7DD1-BE02-AE07-BAEEC16AD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48640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1AE384F-8A3A-A039-98D6-62C6EA9B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7D13893D-8495-E182-19CC-0F51A59F19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68E733D4-6E0B-34E8-3B13-A2DB1B5F47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20645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719B94C-E5B4-CA20-6975-792C157F6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CC48C47-D82E-DA1A-73BE-47AC305EE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8E396D7-446C-BC7F-1CF1-4F9ADC58E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76777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data_structures_algorithms/travelling_salesman_problem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dsa/approximate-solution-for-travelling-salesman-problem-using-mst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701421" y="148402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Calibri"/>
              <a:buNone/>
            </a:pPr>
            <a:r>
              <a:rPr lang="en-US" sz="5400" b="1" dirty="0">
                <a:solidFill>
                  <a:srgbClr val="833C0B"/>
                </a:solidFill>
              </a:rPr>
              <a:t>Approximation Algorithm</a:t>
            </a:r>
            <a:endParaRPr dirty="0">
              <a:solidFill>
                <a:srgbClr val="833C0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576F098-D70D-A6E9-0986-FC711D9EF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13ACAC0-2183-75B4-FBDB-E6CE24BEA7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SG" b="1" dirty="0">
                <a:solidFill>
                  <a:srgbClr val="833C0B"/>
                </a:solidFill>
              </a:rPr>
              <a:t>Introduction</a:t>
            </a:r>
            <a:endParaRPr lang="en-SG" dirty="0">
              <a:solidFill>
                <a:srgbClr val="833C0B"/>
              </a:solidFill>
            </a:endParaRPr>
          </a:p>
        </p:txBody>
      </p:sp>
      <p:sp>
        <p:nvSpPr>
          <p:cNvPr id="4" name="Google Shape;102;p3">
            <a:extLst>
              <a:ext uri="{FF2B5EF4-FFF2-40B4-BE49-F238E27FC236}">
                <a16:creationId xmlns:a16="http://schemas.microsoft.com/office/drawing/2014/main" id="{04CC451F-CFD1-5E52-30F8-C40DD1787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Approximation algorithms are a class of algorithms designed to find solutions to optimization problems where obtaining an exact solution is computationally infeasible.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These problems are not solvable in polynomial time.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These problems are known as NP hard problems.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These problems are significantly effective to solve real world problems.</a:t>
            </a:r>
          </a:p>
        </p:txBody>
      </p:sp>
    </p:spTree>
    <p:extLst>
      <p:ext uri="{BB962C8B-B14F-4D97-AF65-F5344CB8AC3E}">
        <p14:creationId xmlns:p14="http://schemas.microsoft.com/office/powerpoint/2010/main" val="563846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1263E8B-7915-6FC8-C02B-B7B4CF234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B0D93679-E22E-9F65-106F-4705FCEF4D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SG" b="1" dirty="0">
                <a:solidFill>
                  <a:srgbClr val="833C0B"/>
                </a:solidFill>
              </a:rPr>
              <a:t>Introduction</a:t>
            </a:r>
            <a:endParaRPr lang="en-SG" dirty="0">
              <a:solidFill>
                <a:srgbClr val="833C0B"/>
              </a:solidFill>
            </a:endParaRPr>
          </a:p>
        </p:txBody>
      </p:sp>
      <p:sp>
        <p:nvSpPr>
          <p:cNvPr id="4" name="Google Shape;102;p3">
            <a:extLst>
              <a:ext uri="{FF2B5EF4-FFF2-40B4-BE49-F238E27FC236}">
                <a16:creationId xmlns:a16="http://schemas.microsoft.com/office/drawing/2014/main" id="{617BD053-C3F5-DD42-9BB6-F56B77D139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Use of heuristics may help to solve a large instance of problem quickly. We have seen backtracking and branch-and-bound.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 heuristic, however, does not work equally effectively on all problem instances. Depending on input, they may take exponential time.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Instead of finding an optimal solution, we will try to find a solution that is closer to optimal solution.</a:t>
            </a:r>
          </a:p>
        </p:txBody>
      </p:sp>
    </p:spTree>
    <p:extLst>
      <p:ext uri="{BB962C8B-B14F-4D97-AF65-F5344CB8AC3E}">
        <p14:creationId xmlns:p14="http://schemas.microsoft.com/office/powerpoint/2010/main" val="1172761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F65FB22-1544-6007-2A8E-D5AF7AB4B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A61E96D-FF08-7F68-534A-D95B050170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SG" b="1" dirty="0">
                <a:solidFill>
                  <a:srgbClr val="833C0B"/>
                </a:solidFill>
              </a:rPr>
              <a:t>Introduction</a:t>
            </a:r>
            <a:endParaRPr lang="en-SG" dirty="0">
              <a:solidFill>
                <a:srgbClr val="833C0B"/>
              </a:solidFill>
            </a:endParaRPr>
          </a:p>
        </p:txBody>
      </p:sp>
      <p:sp>
        <p:nvSpPr>
          <p:cNvPr id="4" name="Google Shape;102;p3">
            <a:extLst>
              <a:ext uri="{FF2B5EF4-FFF2-40B4-BE49-F238E27FC236}">
                <a16:creationId xmlns:a16="http://schemas.microsoft.com/office/drawing/2014/main" id="{3E234F76-90DB-B111-B5F1-7904BA6755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 feasible solution with value close to the value of an optimal solution is called an approximate solution.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An approximation algorithm for P is an algorithm that generates approximate solutions for P.</a:t>
            </a:r>
          </a:p>
        </p:txBody>
      </p:sp>
    </p:spTree>
    <p:extLst>
      <p:ext uri="{BB962C8B-B14F-4D97-AF65-F5344CB8AC3E}">
        <p14:creationId xmlns:p14="http://schemas.microsoft.com/office/powerpoint/2010/main" val="3893850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848B1E1-BD59-F7E3-5A06-7EE99E0C0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9560A57-0E42-49C8-6BC2-D091B18BD1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Traveling Salesman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9D4C9FD5-96CF-A829-D617-1A030271A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travelling salesman problem is a graph computational problem where the salesman needs to visit all cities (represented using nodes in a graph) in a list just once.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distances (represented using edges in the graph) between all these cities are known. 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solution that is needed to be found for this problem is the shortest possible route in which the salesman visits all the cities and returns to the origin city.</a:t>
            </a:r>
          </a:p>
        </p:txBody>
      </p:sp>
    </p:spTree>
    <p:extLst>
      <p:ext uri="{BB962C8B-B14F-4D97-AF65-F5344CB8AC3E}">
        <p14:creationId xmlns:p14="http://schemas.microsoft.com/office/powerpoint/2010/main" val="415536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E797974-F5B2-FA4C-6D43-C21C9546F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BA833CA9-7B55-34AF-565A-FE1CCF3DB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Traveling Salesman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9FCC3664-DAD7-5772-9FF9-74E69692D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2665" y="1252887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you look at the graph below, considering that the salesman starts from the vertex a, they need to travel through all the remaining vertices b, c, d, e, f and get back to a while making sure that the cost taken is minimum.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43D92B-3943-7DED-3C55-2CC3EADE3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477" y="2979506"/>
            <a:ext cx="8092841" cy="334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53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95DD7BC-6E48-A748-DD05-441A48428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534FF626-93EA-3DAE-3F25-382119AE13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Traveling Salesman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6DEBD9D8-F48E-0DFF-0DD5-2E80B16E13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2665" y="1252887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There is no polynomial time solution available for this problem as the problem is a known NP-Hard problem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There are approximate algorithms to solve the problem though.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approximate algorithms work only if the problem instance satisfies Triangle-Inequality. </a:t>
            </a:r>
          </a:p>
        </p:txBody>
      </p:sp>
    </p:spTree>
    <p:extLst>
      <p:ext uri="{BB962C8B-B14F-4D97-AF65-F5344CB8AC3E}">
        <p14:creationId xmlns:p14="http://schemas.microsoft.com/office/powerpoint/2010/main" val="2458997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5506D552-A708-7703-1611-6CB104363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50493CC3-3C8E-AC8E-EAC3-27588EB7AF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Triangle Inequality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7932A3BD-AFAF-BD5E-10BD-538247DDB8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2665" y="1252887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least distant path to reach a vertex j from </a:t>
            </a:r>
            <a:r>
              <a:rPr lang="en-SG" sz="2500" dirty="0" err="1">
                <a:solidFill>
                  <a:schemeClr val="tx1"/>
                </a:solidFill>
              </a:rPr>
              <a:t>i</a:t>
            </a:r>
            <a:r>
              <a:rPr lang="en-SG" sz="2500" dirty="0">
                <a:solidFill>
                  <a:schemeClr val="tx1"/>
                </a:solidFill>
              </a:rPr>
              <a:t> is always to reach j directly from </a:t>
            </a:r>
            <a:r>
              <a:rPr lang="en-SG" sz="2500" dirty="0" err="1">
                <a:solidFill>
                  <a:schemeClr val="tx1"/>
                </a:solidFill>
              </a:rPr>
              <a:t>i</a:t>
            </a:r>
            <a:r>
              <a:rPr lang="en-SG" sz="2500" dirty="0">
                <a:solidFill>
                  <a:schemeClr val="tx1"/>
                </a:solidFill>
              </a:rPr>
              <a:t>, rather than through some other vertex k (or vertices).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For any three cities A, B, and C, the triangle inequality says: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                          d(A,C)≤d(A,B)+d(B,C)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Going directly from A → C should never be more expensive than going indirectly through another city (A → B → C).</a:t>
            </a:r>
          </a:p>
        </p:txBody>
      </p:sp>
    </p:spTree>
    <p:extLst>
      <p:ext uri="{BB962C8B-B14F-4D97-AF65-F5344CB8AC3E}">
        <p14:creationId xmlns:p14="http://schemas.microsoft.com/office/powerpoint/2010/main" val="2430762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9F227B4F-7332-5057-9D34-3665508D7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327D922-892D-FD84-5BB0-3C1F765E7D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Approximation Algorithm for TSP 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F613778F-B00E-D48F-9970-641040B631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2665" y="1252887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The travelling salesperson approximation algorithm requires some prerequisite algorithms to be performed so we can achieve a near optimal solution.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b="1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Minimum Spanning Tree − </a:t>
            </a:r>
            <a:r>
              <a:rPr lang="en-SG" sz="2500" dirty="0">
                <a:solidFill>
                  <a:schemeClr val="tx1"/>
                </a:solidFill>
              </a:rPr>
              <a:t>The minimum spanning tree is a tree data structure that contains all the vertices of main graph with minimum number of edges connecting them. We apply prims algorithm for minimum spanning tree in this case.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Pre-order Traversal − </a:t>
            </a:r>
            <a:r>
              <a:rPr lang="en-SG" sz="2500" dirty="0">
                <a:solidFill>
                  <a:schemeClr val="tx1"/>
                </a:solidFill>
              </a:rPr>
              <a:t>The pre-order traversal is done on tree data structures where a pointer is walked through all the nodes of the tree in a [root left child right child] order.</a:t>
            </a:r>
          </a:p>
        </p:txBody>
      </p:sp>
    </p:spTree>
    <p:extLst>
      <p:ext uri="{BB962C8B-B14F-4D97-AF65-F5344CB8AC3E}">
        <p14:creationId xmlns:p14="http://schemas.microsoft.com/office/powerpoint/2010/main" val="2025540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EF3DC26-0A78-35A7-5D6F-CD694D0A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D7CB8EA-F482-51AB-1B9E-30BAB52148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Algorithm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069003B6-B836-BD50-4746-14B915F4C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sp>
        <p:nvSpPr>
          <p:cNvPr id="4" name="Google Shape;102;p3">
            <a:extLst>
              <a:ext uri="{FF2B5EF4-FFF2-40B4-BE49-F238E27FC236}">
                <a16:creationId xmlns:a16="http://schemas.microsoft.com/office/drawing/2014/main" id="{2EC5EE1F-00E6-E729-4C21-30CB7DB0F5B5}"/>
              </a:ext>
            </a:extLst>
          </p:cNvPr>
          <p:cNvSpPr txBox="1">
            <a:spLocks/>
          </p:cNvSpPr>
          <p:nvPr/>
        </p:nvSpPr>
        <p:spPr>
          <a:xfrm>
            <a:off x="990600" y="16929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Font typeface="Arial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Step 1 − </a:t>
            </a:r>
            <a:r>
              <a:rPr lang="en-SG" sz="2500" dirty="0">
                <a:solidFill>
                  <a:schemeClr val="tx1"/>
                </a:solidFill>
              </a:rPr>
              <a:t>Choose any vertex of the given graph randomly as the starting and ending point.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Step 2 − </a:t>
            </a:r>
            <a:r>
              <a:rPr lang="en-SG" sz="2500" dirty="0">
                <a:solidFill>
                  <a:schemeClr val="tx1"/>
                </a:solidFill>
              </a:rPr>
              <a:t>Construct a minimum spanning tree of the graph with the vertex chosen as the root using prims algorithm.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Step 3 − </a:t>
            </a:r>
            <a:r>
              <a:rPr lang="en-SG" sz="2500" dirty="0">
                <a:solidFill>
                  <a:schemeClr val="tx1"/>
                </a:solidFill>
              </a:rPr>
              <a:t>Once the spanning tree is constructed, pre-order traversal is performed on the minimum spanning tree obtained in the previous step.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 </a:t>
            </a:r>
            <a:r>
              <a:rPr lang="en-SG" sz="2500" b="1" dirty="0">
                <a:solidFill>
                  <a:schemeClr val="tx1"/>
                </a:solidFill>
              </a:rPr>
              <a:t>Step 4 − </a:t>
            </a:r>
            <a:r>
              <a:rPr lang="en-SG" sz="2500" dirty="0">
                <a:solidFill>
                  <a:schemeClr val="tx1"/>
                </a:solidFill>
              </a:rPr>
              <a:t>The pre-order solution obtained is the Hamiltonian path of the travelling salesperson.</a:t>
            </a:r>
          </a:p>
        </p:txBody>
      </p:sp>
    </p:spTree>
    <p:extLst>
      <p:ext uri="{BB962C8B-B14F-4D97-AF65-F5344CB8AC3E}">
        <p14:creationId xmlns:p14="http://schemas.microsoft.com/office/powerpoint/2010/main" val="3978300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9D07E23-5BF1-A518-D120-2C74830D9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02733DC-7B61-54DF-B20E-C130FCA1CB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TSP-Example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74F6DE0F-5C51-B878-AE29-DE5D87B422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1BECC0-FE72-4C53-51EF-71CBFA56AD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4" t="4453" r="1849" b="5456"/>
          <a:stretch>
            <a:fillRect/>
          </a:stretch>
        </p:blipFill>
        <p:spPr>
          <a:xfrm>
            <a:off x="2157573" y="1540564"/>
            <a:ext cx="8137134" cy="456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434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0F71F77-E8FB-BB50-60C1-7DF6880FA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4C306E01-3D9D-F072-27D7-C078503EB9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Solution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DA07A895-94A7-8EB2-AE46-298A42983E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sp>
        <p:nvSpPr>
          <p:cNvPr id="3" name="Google Shape;102;p3">
            <a:extLst>
              <a:ext uri="{FF2B5EF4-FFF2-40B4-BE49-F238E27FC236}">
                <a16:creationId xmlns:a16="http://schemas.microsoft.com/office/drawing/2014/main" id="{B47D1FBB-632D-91E9-89D3-D50F08FAF66F}"/>
              </a:ext>
            </a:extLst>
          </p:cNvPr>
          <p:cNvSpPr txBox="1">
            <a:spLocks/>
          </p:cNvSpPr>
          <p:nvPr/>
        </p:nvSpPr>
        <p:spPr>
          <a:xfrm>
            <a:off x="933735" y="1302545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Font typeface="Arial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Consider vertex 1 from the above graph as the starting and ending point of the travelling salesperson and begin the algorithm from here.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Step 1 − </a:t>
            </a:r>
            <a:r>
              <a:rPr lang="en-SG" sz="2500" dirty="0">
                <a:solidFill>
                  <a:schemeClr val="tx1"/>
                </a:solidFill>
              </a:rPr>
              <a:t>Starting the algorithm from vertex 1, construct a minimum spanning tree from the graph.</a:t>
            </a:r>
          </a:p>
        </p:txBody>
      </p:sp>
    </p:spTree>
    <p:extLst>
      <p:ext uri="{BB962C8B-B14F-4D97-AF65-F5344CB8AC3E}">
        <p14:creationId xmlns:p14="http://schemas.microsoft.com/office/powerpoint/2010/main" val="636001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FA9A0CC-91F8-9246-F521-31040519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D550B045-2AEB-3588-A897-97B678C65B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Solution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077AE4B2-BB67-1284-DD31-2278FF6674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sp>
        <p:nvSpPr>
          <p:cNvPr id="3" name="Google Shape;102;p3">
            <a:extLst>
              <a:ext uri="{FF2B5EF4-FFF2-40B4-BE49-F238E27FC236}">
                <a16:creationId xmlns:a16="http://schemas.microsoft.com/office/drawing/2014/main" id="{CE0A0362-1DCD-A0E6-4C4B-0450DCC00835}"/>
              </a:ext>
            </a:extLst>
          </p:cNvPr>
          <p:cNvSpPr txBox="1">
            <a:spLocks/>
          </p:cNvSpPr>
          <p:nvPr/>
        </p:nvSpPr>
        <p:spPr>
          <a:xfrm>
            <a:off x="885968" y="937699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Font typeface="Arial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Step 1 − </a:t>
            </a:r>
            <a:r>
              <a:rPr lang="en-SG" sz="2500" dirty="0">
                <a:solidFill>
                  <a:schemeClr val="tx1"/>
                </a:solidFill>
              </a:rPr>
              <a:t>Starting the algorithm from vertex 1, construct a minimum spanning tree from the graph.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5DCB8C-D0C0-9730-E7D8-CC4036CCA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957" y="2487630"/>
            <a:ext cx="7168283" cy="392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433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6B853B9-0998-5980-D11C-772993EDC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710C9BF4-D1FE-FC60-C331-9CE94F2D0A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Solution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047A2CE8-8766-C476-F013-992C1D850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sp>
        <p:nvSpPr>
          <p:cNvPr id="3" name="Google Shape;102;p3">
            <a:extLst>
              <a:ext uri="{FF2B5EF4-FFF2-40B4-BE49-F238E27FC236}">
                <a16:creationId xmlns:a16="http://schemas.microsoft.com/office/drawing/2014/main" id="{7AF2CE38-DBB1-EB1A-CDF7-AC1D322189EB}"/>
              </a:ext>
            </a:extLst>
          </p:cNvPr>
          <p:cNvSpPr txBox="1">
            <a:spLocks/>
          </p:cNvSpPr>
          <p:nvPr/>
        </p:nvSpPr>
        <p:spPr>
          <a:xfrm>
            <a:off x="885968" y="727192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Font typeface="Arial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Step 2 − </a:t>
            </a:r>
            <a:r>
              <a:rPr lang="en-SG" sz="2500" dirty="0">
                <a:solidFill>
                  <a:schemeClr val="tx1"/>
                </a:solidFill>
              </a:rPr>
              <a:t>Once, the minimum spanning tree is constructed, consider the starting vertex as the root node (i.e., vertex 1) and walk through the spanning tree </a:t>
            </a:r>
            <a:r>
              <a:rPr lang="en-SG" sz="2500" dirty="0" err="1">
                <a:solidFill>
                  <a:schemeClr val="tx1"/>
                </a:solidFill>
              </a:rPr>
              <a:t>preorderly</a:t>
            </a:r>
            <a:r>
              <a:rPr lang="en-SG" sz="25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1007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2D298A4-7417-0D47-4E4B-EE04FBF38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E558C3E5-2388-31AB-8545-D44CE70B63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Solution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01FC5709-E8A0-EBA4-45EC-2222C0CBF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sp>
        <p:nvSpPr>
          <p:cNvPr id="3" name="Google Shape;102;p3">
            <a:extLst>
              <a:ext uri="{FF2B5EF4-FFF2-40B4-BE49-F238E27FC236}">
                <a16:creationId xmlns:a16="http://schemas.microsoft.com/office/drawing/2014/main" id="{8032A146-16A4-C56E-CBBF-40909ED4D5C7}"/>
              </a:ext>
            </a:extLst>
          </p:cNvPr>
          <p:cNvSpPr txBox="1">
            <a:spLocks/>
          </p:cNvSpPr>
          <p:nvPr/>
        </p:nvSpPr>
        <p:spPr>
          <a:xfrm>
            <a:off x="885968" y="727192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12750" algn="just">
              <a:lnSpc>
                <a:spcPct val="95000"/>
              </a:lnSpc>
              <a:spcBef>
                <a:spcPts val="0"/>
              </a:spcBef>
              <a:buSzPts val="2500"/>
            </a:pPr>
            <a:endParaRPr lang="en-SG" sz="2500" dirty="0">
              <a:solidFill>
                <a:schemeClr val="tx1"/>
              </a:solidFill>
            </a:endParaRPr>
          </a:p>
          <a:p>
            <a:pPr marL="41275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The preorder traversal of the tree is found to be − 1 → 2 → 3 → 4 → 5 → 6</a:t>
            </a:r>
          </a:p>
          <a:p>
            <a:pPr marL="41275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b="1" dirty="0">
                <a:solidFill>
                  <a:schemeClr val="tx1"/>
                </a:solidFill>
              </a:rPr>
              <a:t>Step 3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Adding the root node at the end of the traced path, we get, 1 → 2 → 3 → 4 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→ 5 → 6 → 1 and total cost is 10+12+15+40+8+16=101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238E6-5DAE-A3F3-E166-262DABA38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861" y="2720925"/>
            <a:ext cx="7168283" cy="392207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277D3D-06D1-A2A3-5177-3757DB038E5B}"/>
              </a:ext>
            </a:extLst>
          </p:cNvPr>
          <p:cNvCxnSpPr/>
          <p:nvPr/>
        </p:nvCxnSpPr>
        <p:spPr>
          <a:xfrm flipH="1">
            <a:off x="7202184" y="4520629"/>
            <a:ext cx="616450" cy="9558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72B1920-0E72-6D9D-D117-C8A52ED5E04B}"/>
              </a:ext>
            </a:extLst>
          </p:cNvPr>
          <p:cNvSpPr/>
          <p:nvPr/>
        </p:nvSpPr>
        <p:spPr>
          <a:xfrm>
            <a:off x="4767209" y="3666168"/>
            <a:ext cx="2126751" cy="18394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A329A3-A47B-F5AC-8E18-ED13A5D58306}"/>
              </a:ext>
            </a:extLst>
          </p:cNvPr>
          <p:cNvCxnSpPr/>
          <p:nvPr/>
        </p:nvCxnSpPr>
        <p:spPr>
          <a:xfrm flipH="1" flipV="1">
            <a:off x="4232953" y="5383658"/>
            <a:ext cx="934948" cy="6678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5ADC4E1-8947-3E2C-6CA8-CE7C252304DC}"/>
              </a:ext>
            </a:extLst>
          </p:cNvPr>
          <p:cNvSpPr txBox="1"/>
          <p:nvPr/>
        </p:nvSpPr>
        <p:spPr>
          <a:xfrm>
            <a:off x="7546369" y="5029392"/>
            <a:ext cx="400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2ACDA-29B9-ADEA-235E-8E61B1DA4FE7}"/>
              </a:ext>
            </a:extLst>
          </p:cNvPr>
          <p:cNvSpPr txBox="1"/>
          <p:nvPr/>
        </p:nvSpPr>
        <p:spPr>
          <a:xfrm>
            <a:off x="4232953" y="5743702"/>
            <a:ext cx="400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904456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CE49FC4-6B98-F0D0-10C1-94A6156A4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57611B25-62D0-3BA8-D6DF-07C77E2E67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How is this algorithm 2-approximate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C0883605-CAF4-EF4E-9171-8C79ECBA1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4CF432A3-DB78-D74D-28E8-AFF66D31054B}"/>
              </a:ext>
            </a:extLst>
          </p:cNvPr>
          <p:cNvSpPr txBox="1">
            <a:spLocks/>
          </p:cNvSpPr>
          <p:nvPr/>
        </p:nvSpPr>
        <p:spPr>
          <a:xfrm>
            <a:off x="990600" y="16929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Font typeface="Arial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2-approximate: </a:t>
            </a:r>
            <a:r>
              <a:rPr lang="en-SG" sz="2500" dirty="0">
                <a:solidFill>
                  <a:schemeClr val="tx1"/>
                </a:solidFill>
              </a:rPr>
              <a:t>The cost of the output produced by the algorithm is never more than twice the cost of best possible output.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cost of best possible Travelling Salesman tour is never less than the cost of MST. (The definition of MST says, it is a minimum cost tree that connects all vertices). 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total cost of full walk is at most twice the cost of MST (Every edge of MST is visited at-most twice)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853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47B7C75-549E-2E6E-D701-10C330645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F9BAB8FF-77BF-4FAA-AD4F-0661BA7144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SG" b="1" dirty="0">
                <a:solidFill>
                  <a:srgbClr val="833C0B"/>
                </a:solidFill>
              </a:rPr>
              <a:t>References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25F45926-64DD-9747-385D-7A2E01B4A7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275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  <a:hlinkClick r:id="rId3"/>
              </a:rPr>
              <a:t>https://www.tutorialspoint.com/data_structures_algorithms/travelling_salesman_problem.html</a:t>
            </a:r>
            <a:endParaRPr lang="en-SG" sz="2500" dirty="0">
              <a:solidFill>
                <a:schemeClr val="tx1"/>
              </a:solidFill>
            </a:endParaRPr>
          </a:p>
          <a:p>
            <a:pPr marL="412750" algn="just">
              <a:lnSpc>
                <a:spcPct val="95000"/>
              </a:lnSpc>
              <a:spcBef>
                <a:spcPts val="0"/>
              </a:spcBef>
              <a:buSzPts val="2500"/>
            </a:pPr>
            <a:endParaRPr lang="en-SG" sz="2500" dirty="0">
              <a:solidFill>
                <a:schemeClr val="tx1"/>
              </a:solidFill>
            </a:endParaRPr>
          </a:p>
          <a:p>
            <a:pPr marL="41275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  <a:hlinkClick r:id="rId4"/>
              </a:rPr>
              <a:t>https://www.geeksforgeeks.org/dsa/approximate-solution-for-travelling-salesman-problem-using-mst/</a:t>
            </a:r>
            <a:endParaRPr lang="en-SG" sz="2500" dirty="0">
              <a:solidFill>
                <a:schemeClr val="tx1"/>
              </a:solidFill>
            </a:endParaRPr>
          </a:p>
          <a:p>
            <a:pPr marL="412750" algn="just">
              <a:lnSpc>
                <a:spcPct val="95000"/>
              </a:lnSpc>
              <a:spcBef>
                <a:spcPts val="0"/>
              </a:spcBef>
              <a:buSzPts val="2500"/>
            </a:pPr>
            <a:endParaRPr lang="en-SG" sz="2500" dirty="0">
              <a:solidFill>
                <a:schemeClr val="tx1"/>
              </a:solidFill>
            </a:endParaRPr>
          </a:p>
          <a:p>
            <a:pPr marL="41275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Computer Algorithms 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– Ellis Horowitz, Sartaj Sahni, </a:t>
            </a:r>
            <a:r>
              <a:rPr lang="en-SG" sz="2500" dirty="0" err="1">
                <a:solidFill>
                  <a:schemeClr val="tx1"/>
                </a:solidFill>
              </a:rPr>
              <a:t>Sanguthevar</a:t>
            </a:r>
            <a:r>
              <a:rPr lang="en-SG" sz="2500" dirty="0">
                <a:solidFill>
                  <a:schemeClr val="tx1"/>
                </a:solidFill>
              </a:rPr>
              <a:t> Rajasekaran.</a:t>
            </a: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095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endParaRPr sz="80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US" sz="8000" dirty="0">
                <a:solidFill>
                  <a:srgbClr val="C00000"/>
                </a:solidFill>
              </a:rPr>
              <a:t>Thank You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3099</TotalTime>
  <Words>913</Words>
  <Application>Microsoft Office PowerPoint</Application>
  <PresentationFormat>Widescreen</PresentationFormat>
  <Paragraphs>85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Approximation Algorithm</vt:lpstr>
      <vt:lpstr>Introduction</vt:lpstr>
      <vt:lpstr>Introduction</vt:lpstr>
      <vt:lpstr>Introduction</vt:lpstr>
      <vt:lpstr>Traveling Salesman Problem</vt:lpstr>
      <vt:lpstr>Traveling Salesman Problem</vt:lpstr>
      <vt:lpstr>Traveling Salesman Problem</vt:lpstr>
      <vt:lpstr>Triangle Inequality</vt:lpstr>
      <vt:lpstr>Approximation Algorithm for TSP </vt:lpstr>
      <vt:lpstr>Algorithm</vt:lpstr>
      <vt:lpstr>TSP-Example</vt:lpstr>
      <vt:lpstr>Solution</vt:lpstr>
      <vt:lpstr>Solution</vt:lpstr>
      <vt:lpstr>Solution</vt:lpstr>
      <vt:lpstr>Solution</vt:lpstr>
      <vt:lpstr>How is this algorithm 2-approximate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Insanur Shuvo</dc:creator>
  <cp:lastModifiedBy>Maimuna Chowdhury Disha</cp:lastModifiedBy>
  <cp:revision>46</cp:revision>
  <dcterms:created xsi:type="dcterms:W3CDTF">2016-09-19T04:08:53Z</dcterms:created>
  <dcterms:modified xsi:type="dcterms:W3CDTF">2026-04-25T05:42:27Z</dcterms:modified>
</cp:coreProperties>
</file>