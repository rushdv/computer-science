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6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7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18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8" r:id="rId3"/>
    <p:sldId id="340" r:id="rId4"/>
    <p:sldId id="380" r:id="rId5"/>
    <p:sldId id="381" r:id="rId6"/>
    <p:sldId id="382" r:id="rId7"/>
    <p:sldId id="383" r:id="rId8"/>
    <p:sldId id="384" r:id="rId9"/>
    <p:sldId id="385" r:id="rId10"/>
    <p:sldId id="386" r:id="rId11"/>
    <p:sldId id="359" r:id="rId12"/>
    <p:sldId id="332" r:id="rId13"/>
    <p:sldId id="387" r:id="rId14"/>
    <p:sldId id="388" r:id="rId15"/>
    <p:sldId id="389" r:id="rId16"/>
    <p:sldId id="390" r:id="rId17"/>
    <p:sldId id="391" r:id="rId18"/>
    <p:sldId id="392" r:id="rId19"/>
    <p:sldId id="393" r:id="rId20"/>
    <p:sldId id="394" r:id="rId21"/>
    <p:sldId id="365" r:id="rId22"/>
    <p:sldId id="395" r:id="rId23"/>
    <p:sldId id="396" r:id="rId24"/>
    <p:sldId id="397" r:id="rId25"/>
    <p:sldId id="398" r:id="rId26"/>
    <p:sldId id="399" r:id="rId27"/>
    <p:sldId id="400" r:id="rId28"/>
    <p:sldId id="401" r:id="rId29"/>
    <p:sldId id="402" r:id="rId30"/>
    <p:sldId id="281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9" roundtripDataSignature="AMtx7mgSE3pmRORSF/beTMrWOScEMNow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customschemas.google.com/relationships/presentationmetadata" Target="metadata"/><Relationship Id="rId21" Type="http://schemas.openxmlformats.org/officeDocument/2006/relationships/slide" Target="slides/slide20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2:14.54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1 550 24575,'1'-26'0,"1"0"0,2 0 0,0 0 0,2 1 0,11-34 0,5 0 0,31-57 0,-33 72 0,-6 14 0,26-43 0,-38 70 0,1 0 0,-1 0 0,1 0 0,0 0 0,0 1 0,0-1 0,1 1 0,-1 0 0,0 0 0,1 0 0,-1 0 0,1 0 0,0 1 0,0 0 0,-1 0 0,1 0 0,0 0 0,5 0 0,8 0 0,-1 0 0,1 1 0,18 3 0,-2 0 0,33-3 0,-42-1 0,-1 1 0,1 1 0,37 6 0,-47-3 0,0 1 0,0 0 0,0 0 0,-1 1 0,1 1 0,16 12 0,-25-14 0,0 0 0,0 0 0,-1 1 0,0-1 0,0 1 0,-1 0 0,1 1 0,-1-1 0,-1 0 0,4 11 0,8 17 0,10 19 0,-17-36 0,0-1 0,1 0 0,1 0 0,17 22 0,-21-30 0,0 0 0,0 0 0,-1 0 0,0 1 0,0 0 0,-1-1 0,0 1 0,-1 0 0,0 0 0,0 1 0,0 15 0,-1-4 0,-1 0 0,-1 0 0,-1 0 0,-5 23 0,3-27 0,-1 0 0,-13 27 0,10-26 0,-10 37 0,15-43 0,0 0 0,-1 0 0,0-1 0,-1 1 0,-1-1 0,-10 18 0,12-24 0,0 0 0,0 0 0,-1 0 0,1-1 0,-1 0 0,0 1 0,0-2 0,0 1 0,-1-1 0,0 0 0,1 0 0,-1 0 0,0-1 0,0 0 0,-7 2 0,-56 13 0,-105 22 0,144-35 0,0 0 0,-1-2 0,-53-3 0,80 1 0,1 0 0,-1-1 0,1 1 0,-1-1 0,1 0 0,0 0 0,-1 0 0,1-1 0,0 1 0,0-1 0,-1 1 0,1-1 0,1 0 0,-1-1 0,0 1 0,0 0 0,1-1 0,-1 1 0,1-1 0,0 0 0,0 0 0,0 0 0,0 0 0,-1-3 0,0-3 0,0-1 0,1 1 0,0 0 0,0-1 0,1 1 0,0-1 0,1-17 0,0 2 0,-1 0 0,-1 0 0,-6-30 0,2 16 51,5 27-523,-1 0 0,-5-21 0,0 15-6354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2:47.98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1 230 24575,'1'-4'0,"1"0"0,-1 0 0,1 0 0,0 0 0,0 1 0,1-1 0,-1 0 0,1 1 0,0 0 0,-1 0 0,7-6 0,-3 4 0,6-7 0,1 0 0,0 1 0,1 1 0,0 0 0,18-9 0,79-34 0,-94 47 0,-1 0 0,1 2 0,17-3 0,5-1 0,-16 2 0,0 2 0,0 0 0,45 0 0,-59 4 0,0 1 0,0-1 0,1 2 0,-1-1 0,0 2 0,0-1 0,-1 1 0,1 0 0,-1 1 0,1 0 0,-1 0 0,14 10 0,63 64 0,-63-55 0,1-2 0,45 34 0,-47-43 0,-1 2 0,-1 0 0,0 2 0,-1 0 0,30 34 0,-45-45 0,1 1 0,-1 0 0,-1 1 0,1-1 0,-1 0 0,0 1 0,0 0 0,-1-1 0,0 1 0,1 8 0,-1 13 0,-3 33 0,0-23 0,2 25 0,-3 47 0,2-104 0,0 1 0,-1 0 0,0 0 0,0-1 0,0 1 0,-1-1 0,0 0 0,-1 1 0,1-2 0,-1 1 0,-8 9 0,-7 6 0,-36 31 0,3-3 0,16-9 0,-3-2 0,0-1 0,-3-3 0,-71 47 0,96-71 0,-8 6 0,-48 20 0,64-32 0,0-1 0,0 0 0,-1-1 0,1 0 0,-1-1 0,1 0 0,-1 0 0,0-1 0,-13-1 0,19 1 0,0-1 0,-1 0 0,1-1 0,0 1 0,0 0 0,0-1 0,1 0 0,-1 0 0,0 0 0,1-1 0,-1 1 0,1-1 0,0 0 0,0 0 0,-4-4 0,-3-6 0,1 0 0,-14-26 0,-1-1 0,11 20 0,-18-42 0,3 6 0,25 50 0,-5-5 0,1-1 0,1 0 0,0 0 0,1 0 0,0-1 0,1 1 0,0-1 0,1 0 0,-3-25 0,6-236 0,2 119 0,-2 70-1365,0 60-5461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4:41.18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716 117 24575,'737'0'0,"-729"0"0,-1 0 0,1 1 0,0 0 0,0 0 0,0 1 0,-1 0 0,1 0 0,-1 1 0,0 0 0,1 0 0,-1 1 0,-1-1 0,1 2 0,0-1 0,-1 1 0,0 0 0,0 0 0,8 11 0,36 25 0,-43-36 0,0 0 0,0 1 0,0-1 0,0 1 0,-1 1 0,0-1 0,0 1 0,-1 0 0,0 1 0,0-1 0,-1 1 0,6 13 0,-1 7 0,-1 1 0,-1 0 0,-2 1 0,-1-1 0,-1 1 0,-1 0 0,-2-1 0,-1 1 0,-2 0 0,-10 51 0,6-51 0,-1 0 0,-2-1 0,-1 0 0,-1-1 0,-1 0 0,-2-1 0,0 0 0,-2-2 0,-1 0 0,-30 33 0,28-37 0,-1 0 0,-1-2 0,-1 0 0,0-2 0,-1 0 0,-1-2 0,0-1 0,-1 0 0,-1-2 0,-50 15 0,2-9 0,-1-3 0,0-3 0,0-4 0,-89-2 0,132-7 0,0-1 0,0-1 0,0-2 0,0-2 0,1-1 0,0-1 0,0-2 0,1-1 0,1-1 0,0-2 0,1-1 0,-27-20 0,20 11 0,2-1 0,-55-54 0,72 62 0,1-1 0,0-1 0,2 0 0,0-1 0,2 0 0,-13-30 0,8 7 0,2 0 0,1-2 0,3 0 0,2 0 0,-4-63 0,8-238 0,6 337 15,0 0 0,0 0 0,1 0 0,0 0 0,0 0 0,1 1 0,7-17 0,-7 21-108,-1 1 0,1-1 1,0 1-1,0-1 0,0 1 0,1 0 0,0 0 0,-1 0 1,1 0-1,1 1 0,-1 0 0,0 0 0,1 0 1,0 0-1,8-3 0,8 0-6733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4:50.91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35 27 24575,'23'1'0,"0"1"0,1 1 0,-1 1 0,0 1 0,-1 1 0,43 18 0,147 63 0,-187-76 0,-1 1 0,0 1 0,39 29 0,-56-36 0,0 0 0,-1 0 0,0 0 0,0 1 0,-1-1 0,1 2 0,-1-1 0,-1 0 0,0 1 0,0 0 0,0 0 0,-1 0 0,0 1 0,-1-1 0,3 16 0,-1 8 0,-2 0 0,-2-1 0,-5 46 0,4-67 0,-1-1 0,0 1 0,-1 0 0,0-1 0,0 0 0,-1 0 0,0 0 0,-1 0 0,0-1 0,-8 11 0,9-13 0,0-1 0,-1 0 0,0 0 0,0-1 0,0 0 0,0 1 0,-1-2 0,1 1 0,-1-1 0,0 0 0,0 0 0,-1 0 0,1-1 0,-1 0 0,-10 2 0,-16-1 0,-1-2 0,-43-3 0,20 0 0,49 2 0,1-1 0,-1 0 0,0 0 0,0-1 0,1 0 0,-1-1 0,1 1 0,0-1 0,0-1 0,-13-7 0,5 0 0,0 0 0,1-1 0,-19-21 0,-16-9 0,42 37 0,-1 0 0,1-1 0,1 0 0,-1 0 0,1 0 0,0-1 0,0 0 0,1 0 0,0 0 0,0-1 0,1 0 0,-7-15 0,6-2 0,1 0 0,1 0 0,1-1 0,2 1 0,3-41 0,0-1 0,-3-122-1365,0 165-5461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5:01.53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0 143 24575,'20'0'0,"25"-10"0,15-3 0,7 1 0,1 2 0,-9-2 0,-17-4 0,-9 1 0,-6 3 0,-2 4 0,-2 2 0,2 4 0,0-5 0,1 1 0,1 0 0,1 2 0,-5 1-8191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5:03.572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1 146 24575,'376'0'0,"-362"-1"0,-1 0 0,1 0 0,0-1 0,-1-1 0,0 0 0,1-1 0,-1-1 0,-1 0 0,1 0 0,-1-1 0,15-10 0,1-2 0,54-27 0,-68 38 0,-4 3-170,0 0-1,1 1 0,-1 0 1,1 0-1,-1 1 0,1 1 1,14-1-1,-1 1-6655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6:08.45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1 343 24575,'6'-1'0,"-1"0"0,1 0 0,-1-1 0,1 0 0,-1 0 0,0 0 0,0 0 0,1-1 0,4-4 0,11-4 0,195-101 0,-63 32 0,-29 26 0,-21 10 0,-61 30-1365,-22 10-5461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6:10.532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0 371 24575,'148'-41'0,"387"-149"0,-482 170 0,52-12 0,-50 17 0,-5-4 0,-38 14 0,0 0 0,1 1 0,-1 0 0,22-3 0,165-20-1365,-174 25-5461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6:17.73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90 403 24575,'0'-2'0,"0"-1"0,1 1 0,0-1 0,-1 1 0,1-1 0,0 1 0,0 0 0,0-1 0,0 1 0,1 0 0,-1 0 0,2-2 0,23-26 0,-14 19 0,114-122 0,-119 126 0,0 0 0,0 0 0,1 0 0,0 1 0,0 0 0,1 0 0,-1 1 0,1 0 0,10-4 0,6 0 0,1 1 0,29-6 0,405-73 0,-380 79 0,1 2 0,102 7 0,-68 2 0,-99-3 0,0 1 0,-1 1 0,1 0 0,-1 1 0,0 1 0,0 1 0,16 6 0,-23-8 0,20 8 0,45 24 0,-63-29 0,-1 0 0,0 0 0,-1 1 0,0 1 0,0-1 0,0 1 0,-1 0 0,8 13 0,-5-5 0,-1 1 0,0 0 0,-2 1 0,0 0 0,-1 0 0,0 1 0,-2-1 0,0 1 0,-1 0 0,-1 0 0,-1 0 0,-1 0 0,0 1 0,-5 26 0,2-31 0,0-1 0,-1 0 0,-1 0 0,-11 24 0,-5 15 0,11-22 0,-1-1 0,-2-1 0,-1 0 0,-1 0 0,-2-1 0,0-1 0,-2-1 0,-1-1 0,-1 0 0,-1-2 0,-2 0 0,0-2 0,-1 0 0,-1-2 0,-46 27 0,-311 175 0,375-216 0,-21 12 0,-1-2 0,0-1 0,-2-1 0,1-2 0,-2 0 0,1-3 0,-1-1 0,0-1 0,-1-2 0,1-1 0,-58-2 0,55-2 0,20 1 0,0 0 0,0-1 0,0 0 0,0-2 0,0 1 0,-26-10 0,26 6 0,0-1 0,0-1 0,0 0 0,1-1 0,0-1 0,1 0 0,0-1 0,-17-18 0,8 3 0,2 0 0,1-2 0,1 0 0,2-1 0,1-1 0,-19-49 0,19 43 0,8 21 0,1-1 0,0 0 0,2-1 0,0 0 0,0 0 0,-3-33 0,6 4 0,6-68 0,-2 95 0,1 1 0,0 0 0,2-1 0,0 2 0,1-1 0,13-26 0,7-12-1365,-16 31-5461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6:23.57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1 257 24575,'285'-88'0,"-195"59"0,-38 14 0,74-34 0,-93 32 0,-22 11 0,1 0 0,-1 0 0,1 2 0,21-7 0,72-11-1365,-81 19-5461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6:25.092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59 24575,'664'0'0,"-644"-1"0,-1-1 0,0-1 0,0 0 0,0-2 0,26-9 0,9-2 0,-36 12-455,0 0 0,28-1 0,-21 4-6371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6:26.85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1 336 24575,'27'-12'0,"36"-12"0,5-2 0,251-124 0,-225 105 0,-79 38 0,0 1 0,1 1 0,-1 0 0,1 1 0,31-3 0,-39 5-4,0 0-1,1-1 1,-1 1-1,0-2 1,0 1-1,8-6 1,7-2-1330,-5 3-5492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7:08.76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1 177 24575,'5'0'0,"11"0"0,13-5 0,10-1 0,19-5 0,19-5 0,11-5 0,4-4 0,2 3 0,-15 0 0,-17 3 0,-13 6 0,-11 4 0,-6 4 0,-5 3 0,-1 2 0,-5 0-8191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7:10.18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0 485 24575,'24'-5'0,"33"-6"0,30-12 0,31-5 0,8-5 0,13-4 0,16-12 0,6-7-1051,-4 1 1051,-20 1 0,-23 9 0,-26 12 258,-28 7-258,-20 8 0,-16 7-7398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7:11.61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0 416 24575,'15'0'0,"28"0"0,32-5 0,52-6 0,42-17 0,37-7-1814,17-8 1814,0-2 0,-9 3 0,-27 3 0,-25-2 0,-30 2 179,-34 7-179,-28 10 0,-25 2 0,-21 6-6556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7:17.13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1 515 24575,'24'0'0,"57"-10"0,77-18 0,76-23 0,60-13-4615,29-10 4615,-6-2-1845,-43 7 1845,-58 15 0,-65 12 1014,-55 13-1014,-43 12-2745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7:21.046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 24575,'15'0'0,"29"0"0,31 4 0,32 8 0,7 1 0,-5 3 0,-12-1 0,-18-3 0,-17-4 0,-14-3 0,-16 2 0,-8 1 0,-3 8 0,-1 1 0,-3-2-8191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7:22.31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1 189 24575,'459'-17'0,"-226"4"0,-226 12 0,1 0 0,-1-1 0,0-1 0,0 1 0,0-1 0,0 0 0,9-6 0,42-31 0,-57 40 0,14-12 67,22-24-1,1 0-1564,-24 25-5328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7:23.73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 24575,'20'4'0,"25"17"0,40 24 0,38 14 0,24 6 0,15 3-1095,-10-7 1095,-16-7 0,-27-9 0,-27-12 268,-22-12-268,-21-9-7364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7:25.45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1 774 24575,'29'-15'0,"82"-38"0,125-40 0,95-28 0,39-8-7139,-19 13 7139,-54 21 0,-73 22 222,-70 24-222,-61 19-1274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4T06:57:51.89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0 405 24575,'10'0'0,"22"-5"0,16-7 0,19-10 0,18-12 0,8-4 0,-1-7 0,2 6 0,1-1 0,-12 2 0,-4 2 0,-17 2 0,-14 8 0,-9 8 0,-8 6 0,-8 6-8191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310BFD5F-4660-048A-07F9-B14B7ECB0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8C971283-068E-1525-124F-EAE47DBA40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206513BF-0D2E-4682-7097-43AE60EEA8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0890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F4ECF8D3-1C28-6D1E-F13B-99E8AE6DF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6F524784-EF93-E1BF-DF00-1641877383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2621FAF9-FB8D-8796-B555-B4315C0489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46321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E47226B8-BE96-BFD4-F932-6A3DAA5D1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569D67D3-C0A5-2C32-B36E-6B2BC65912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DF6677FF-DC8C-6128-AA12-5A44F0F4F2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4844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BA713092-B374-B0C3-6DE2-6CA9D1A1D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39ED865C-577D-C79B-973B-50EEC6EFD2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CA88504E-C46E-AFF3-5B90-0D31875026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77707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A558A9A0-2F4D-1EDE-2BF8-E01228A54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BD65D670-55EB-F24D-6508-F7B5F2D77A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8C97B4E2-E28B-DC25-F5B6-E6C3CD3D7B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6220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F2221810-68ED-448B-D092-1DE1F956E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8E193232-A337-C8F3-F248-5E30B69319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D4ACBD35-3B67-CF1B-E2D9-9A9B6512FC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45578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79B10213-4923-B1A8-9001-4D935ADC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D464B1C7-AA14-653C-A7D1-656D8852EC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21CDCC7E-84E0-EE61-A9A3-8E63E4DCAC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48237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B47E29EF-338A-08D9-EFE7-EC50AB0AE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5B31D513-E6D3-566B-6BDA-2BDCCAF3B8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1396E9E4-87BE-3188-E110-530225E19D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07058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D88FEF53-EA93-4C22-0818-D8A77A9B8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EF55E81D-F177-9C71-5F0F-ADD48DE11B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DD0E796D-B717-E179-6228-DA22C41A4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72593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919660BA-3977-377F-B215-FBB2AA2CB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A563F7B1-383D-A3B0-8720-6C62C9D6DB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F0BCE0C7-18C4-B367-3D24-459DA3702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6534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44C144C-C850-4760-DED3-0326DD858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F9FE4CF5-211F-1A62-B404-AEACD8C62B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EE3C7533-C5DF-BB05-5656-F283A04516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571545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A42533EB-6FF2-63A1-7C75-E7D569D13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9120CA29-01FB-6D60-62AD-2946650D9D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369A9C66-90C2-8D89-676F-C2280F9780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9033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7593B4B7-A657-3917-5620-77BA02355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148B3662-21B3-337B-5D72-C8AC8D666B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0A3F0D5E-2FB3-C1F2-F6B8-8B9E70C02A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38177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BA4764C8-EBD4-14FB-1A6A-44D1DC09E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F5B48EA5-238A-8CD4-6CD5-ED5003FCB9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EB44C7D3-2E2E-13B6-F72F-3CF0BCE7B4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6349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BCD696A2-6DD4-5F1F-812B-6355EA1A0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F79B9919-B98F-40DE-1280-EA2C442D4A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91F155E9-1F2D-335C-345C-DF7655C0E2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31086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335ADDDD-82BA-040C-BD95-BDE000B62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1065BAB9-37D0-C90C-B803-B796D3BFD4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1427B176-AA32-C6A5-8E4A-8AE2923A10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43027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A7C4F338-3641-0126-243F-659470222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321E4844-7E29-6095-4496-7CCEB5E1A5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1EFB668F-B54F-BC2F-65A7-30ADAD4FDE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41820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33A89F1-F153-3DE8-12E4-CDE2F3A0F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1D24DFDD-750C-2759-50F8-447636031B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0BDBC743-DEE8-A3B1-7975-E47F104335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53023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5B566CD5-D7A0-9A4A-6B21-F834C22EE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8D589190-455D-77EC-A0C6-2AE5ECEBF0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87A1624F-82CE-8099-1BE6-02AAD0E2E8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38934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016B435A-8654-E803-2E83-CFE465939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DDE8D7EC-87B1-F5D8-D2D0-9856031CBD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EADDF394-EB52-00D3-AEE5-26B223D58E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79065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D4432E82-8715-16B2-7584-250B18E5B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05C73640-2124-5A3E-D3ED-C9EC137372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90878FEF-8D38-1B10-FAFC-15296E97A7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16639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1A9D8B5C-D2E1-4214-1D66-9BD9BD431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6FDD978C-2126-9935-A991-6216C443C9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E72734B8-EBB5-D2BF-B400-0C617C18C6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73083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A37C28CC-D943-4BA6-D3C9-96339E3FD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63DE0A1E-23CF-8F80-D11B-31FE188D6B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457498BF-DB9D-E838-16F4-A385FC4290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28893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5FFBEB74-0432-D074-E1BA-B332AC38B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C0B12762-D609-2467-C82B-B4C870CE56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C7D449F2-F587-801B-FDBE-B61D69F1BC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80841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605AFFA1-6A3D-5689-0825-D43323224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70E3AA6C-B2A2-7849-0774-5FA99D2D00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E94937A7-698A-4647-C215-1EB8BE5827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25692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501C892D-1C00-4A24-6D48-AF14BED16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44916A60-DB16-B75D-7573-B0CDAA5D39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41B3A308-8CBC-82BD-9BD3-A0287987B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44217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9C20C0E3-C924-30F7-A29C-814D2628F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36FACC6D-8967-B90D-B41D-B9B16CC6A7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E7336E9F-EEF6-D500-B747-7757EC8792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08076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3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7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8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8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customXml" Target="../ink/ink6.xml"/><Relationship Id="rId4" Type="http://schemas.openxmlformats.org/officeDocument/2006/relationships/customXml" Target="../ink/ink3.xml"/><Relationship Id="rId9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customXml" Target="../ink/ink1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5" Type="http://schemas.openxmlformats.org/officeDocument/2006/relationships/image" Target="../media/image13.png"/><Relationship Id="rId10" Type="http://schemas.openxmlformats.org/officeDocument/2006/relationships/customXml" Target="../ink/ink10.xml"/><Relationship Id="rId4" Type="http://schemas.openxmlformats.org/officeDocument/2006/relationships/customXml" Target="../ink/ink7.xml"/><Relationship Id="rId9" Type="http://schemas.openxmlformats.org/officeDocument/2006/relationships/image" Target="../media/image10.png"/><Relationship Id="rId14" Type="http://schemas.openxmlformats.org/officeDocument/2006/relationships/customXml" Target="../ink/ink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13" Type="http://schemas.openxmlformats.org/officeDocument/2006/relationships/image" Target="../media/image18.png"/><Relationship Id="rId18" Type="http://schemas.openxmlformats.org/officeDocument/2006/relationships/customXml" Target="../ink/ink20.xml"/><Relationship Id="rId3" Type="http://schemas.openxmlformats.org/officeDocument/2006/relationships/image" Target="../media/image1.png"/><Relationship Id="rId21" Type="http://schemas.openxmlformats.org/officeDocument/2006/relationships/image" Target="../media/image22.png"/><Relationship Id="rId7" Type="http://schemas.openxmlformats.org/officeDocument/2006/relationships/image" Target="../media/image15.png"/><Relationship Id="rId12" Type="http://schemas.openxmlformats.org/officeDocument/2006/relationships/customXml" Target="../ink/ink17.xml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6" Type="http://schemas.openxmlformats.org/officeDocument/2006/relationships/customXml" Target="../ink/ink19.xml"/><Relationship Id="rId20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11" Type="http://schemas.openxmlformats.org/officeDocument/2006/relationships/image" Target="../media/image17.png"/><Relationship Id="rId5" Type="http://schemas.openxmlformats.org/officeDocument/2006/relationships/image" Target="../media/image14.png"/><Relationship Id="rId15" Type="http://schemas.openxmlformats.org/officeDocument/2006/relationships/image" Target="../media/image19.png"/><Relationship Id="rId10" Type="http://schemas.openxmlformats.org/officeDocument/2006/relationships/customXml" Target="../ink/ink16.xml"/><Relationship Id="rId19" Type="http://schemas.openxmlformats.org/officeDocument/2006/relationships/image" Target="../media/image21.png"/><Relationship Id="rId4" Type="http://schemas.openxmlformats.org/officeDocument/2006/relationships/customXml" Target="../ink/ink13.xml"/><Relationship Id="rId9" Type="http://schemas.openxmlformats.org/officeDocument/2006/relationships/image" Target="../media/image16.png"/><Relationship Id="rId14" Type="http://schemas.openxmlformats.org/officeDocument/2006/relationships/customXml" Target="../ink/ink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701421" y="1484029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400"/>
              <a:buFont typeface="Calibri"/>
              <a:buNone/>
            </a:pPr>
            <a:r>
              <a:rPr lang="en-US" sz="5400" b="1" dirty="0">
                <a:solidFill>
                  <a:srgbClr val="833C0B"/>
                </a:solidFill>
              </a:rPr>
              <a:t>Graph Related Algorithms:</a:t>
            </a:r>
            <a:br>
              <a:rPr lang="en-US" sz="5400" b="1" dirty="0">
                <a:solidFill>
                  <a:srgbClr val="833C0B"/>
                </a:solidFill>
              </a:rPr>
            </a:br>
            <a:r>
              <a:rPr lang="en-US" sz="5400" b="1" dirty="0">
                <a:solidFill>
                  <a:srgbClr val="833C0B"/>
                </a:solidFill>
              </a:rPr>
              <a:t>Single Source Shortest Path</a:t>
            </a:r>
            <a:endParaRPr dirty="0">
              <a:solidFill>
                <a:srgbClr val="833C0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Introduction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102" name="Google Shape;102;p3"/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We learnt the basic of graph theory in previous semester.  </a:t>
            </a:r>
          </a:p>
          <a:p>
            <a:pPr lvl="1"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100" dirty="0">
                <a:solidFill>
                  <a:schemeClr val="tx1"/>
                </a:solidFill>
              </a:rPr>
              <a:t>Nodes, Edges, Paths, etc.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We also learnt about graph traversal methods.</a:t>
            </a:r>
          </a:p>
          <a:p>
            <a:pPr lvl="1"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100" dirty="0">
                <a:solidFill>
                  <a:schemeClr val="tx1"/>
                </a:solidFill>
              </a:rPr>
              <a:t>BFS and DFS.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We saw how we can find the shortest path between two nodes in an unweighted graph.</a:t>
            </a:r>
          </a:p>
          <a:p>
            <a:pPr lvl="1"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100" dirty="0">
                <a:solidFill>
                  <a:schemeClr val="tx1"/>
                </a:solidFill>
              </a:rPr>
              <a:t>Using BFS.</a:t>
            </a:r>
          </a:p>
          <a:p>
            <a:pPr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But what if the graph is weighted?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1ADC790-FEE6-2223-BE48-990EC0BA3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6FF9B83B-1C3A-0ED8-67A0-4C7EF41222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Shortest Path Problem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3C67DF14-7638-8669-4E41-6D6AF6F737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What is a path in a graph 𝐺=(𝑉,𝐸)?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A path is a sequence of vertices(𝑣1,𝑣2,𝑣3,...,𝑣𝑘) such that there is an edge between each pair of consecutive vertices in the sequence.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That is, (𝑣𝑖,𝑣𝑖+1) is an edge in the set 𝐸.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There can be multiple paths between two nodes.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5573845-C6FA-DD33-86E5-0285E3D684DC}"/>
              </a:ext>
            </a:extLst>
          </p:cNvPr>
          <p:cNvSpPr/>
          <p:nvPr/>
        </p:nvSpPr>
        <p:spPr>
          <a:xfrm>
            <a:off x="3863084" y="5231632"/>
            <a:ext cx="565078" cy="5445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9C30A6-E689-66D5-E6F5-B323167E769B}"/>
              </a:ext>
            </a:extLst>
          </p:cNvPr>
          <p:cNvSpPr txBox="1"/>
          <p:nvPr/>
        </p:nvSpPr>
        <p:spPr>
          <a:xfrm>
            <a:off x="4017196" y="5289764"/>
            <a:ext cx="154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17772BB-FBD9-5BB6-761A-C33F5576B51F}"/>
              </a:ext>
            </a:extLst>
          </p:cNvPr>
          <p:cNvSpPr/>
          <p:nvPr/>
        </p:nvSpPr>
        <p:spPr>
          <a:xfrm>
            <a:off x="5392221" y="5213168"/>
            <a:ext cx="565078" cy="5445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F9E53E-F49B-D008-CE21-5E3901C68786}"/>
              </a:ext>
            </a:extLst>
          </p:cNvPr>
          <p:cNvSpPr txBox="1"/>
          <p:nvPr/>
        </p:nvSpPr>
        <p:spPr>
          <a:xfrm>
            <a:off x="5546333" y="5271300"/>
            <a:ext cx="154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8004BE8-23BE-B0E3-00F2-344F45CF5600}"/>
              </a:ext>
            </a:extLst>
          </p:cNvPr>
          <p:cNvSpPr/>
          <p:nvPr/>
        </p:nvSpPr>
        <p:spPr>
          <a:xfrm>
            <a:off x="7039083" y="5173500"/>
            <a:ext cx="565078" cy="5445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86ACC9-1112-F9E6-8CE9-0A500DB5572B}"/>
              </a:ext>
            </a:extLst>
          </p:cNvPr>
          <p:cNvSpPr txBox="1"/>
          <p:nvPr/>
        </p:nvSpPr>
        <p:spPr>
          <a:xfrm>
            <a:off x="7193195" y="5231632"/>
            <a:ext cx="154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07062E7-5241-D413-D9EF-F27785F4C142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 flipV="1">
            <a:off x="4428162" y="5485433"/>
            <a:ext cx="964059" cy="184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D7E3543-7E71-F0D2-29E7-CD6ECBD1E3B4}"/>
              </a:ext>
            </a:extLst>
          </p:cNvPr>
          <p:cNvCxnSpPr/>
          <p:nvPr/>
        </p:nvCxnSpPr>
        <p:spPr>
          <a:xfrm flipV="1">
            <a:off x="5997968" y="5442035"/>
            <a:ext cx="964059" cy="184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37C6D68-749A-3AE3-5A02-995837FA098A}"/>
              </a:ext>
            </a:extLst>
          </p:cNvPr>
          <p:cNvCxnSpPr>
            <a:stCxn id="9" idx="4"/>
          </p:cNvCxnSpPr>
          <p:nvPr/>
        </p:nvCxnSpPr>
        <p:spPr>
          <a:xfrm>
            <a:off x="4145623" y="5776162"/>
            <a:ext cx="25685" cy="6164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59D6DC-9880-DC6C-120E-D766DA47921C}"/>
              </a:ext>
            </a:extLst>
          </p:cNvPr>
          <p:cNvCxnSpPr/>
          <p:nvPr/>
        </p:nvCxnSpPr>
        <p:spPr>
          <a:xfrm flipV="1">
            <a:off x="4171308" y="6289870"/>
            <a:ext cx="3175999" cy="10274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DEDC8DB-0F27-572E-F6A1-CB1A86F92250}"/>
              </a:ext>
            </a:extLst>
          </p:cNvPr>
          <p:cNvCxnSpPr>
            <a:cxnSpLocks/>
            <a:endCxn id="13" idx="4"/>
          </p:cNvCxnSpPr>
          <p:nvPr/>
        </p:nvCxnSpPr>
        <p:spPr>
          <a:xfrm flipV="1">
            <a:off x="7308351" y="5718030"/>
            <a:ext cx="13271" cy="5718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6983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A848B1E1-BD59-F7E3-5A06-7EE99E0C0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99560A57-0E42-49C8-6BC2-D091B18BD1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Shortest Path Problem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A17F2BD2-67F9-87E9-1D8A-D4289F3189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How do we find the shortest path now?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How can you say a path is longer/shorter than another one?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We need to assign a value to each path to compare them. Let’s call this value the cost of a path.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We want to find the path with minimum cost.</a:t>
            </a:r>
          </a:p>
        </p:txBody>
      </p:sp>
    </p:spTree>
    <p:extLst>
      <p:ext uri="{BB962C8B-B14F-4D97-AF65-F5344CB8AC3E}">
        <p14:creationId xmlns:p14="http://schemas.microsoft.com/office/powerpoint/2010/main" val="4155360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7EF3DC26-0A78-35A7-5D6F-CD694D0AE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9D7CB8EA-F482-51AB-1B9E-30BAB52148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Cost of a Path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069003B6-B836-BD50-4746-14B915F4CD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In an unweighted graph, we considered the cost as number of edges.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The same can’t be applied when the graph is weighted.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891C0BC-6B2D-45FF-BEAF-B67CAD8D92C9}"/>
              </a:ext>
            </a:extLst>
          </p:cNvPr>
          <p:cNvSpPr/>
          <p:nvPr/>
        </p:nvSpPr>
        <p:spPr>
          <a:xfrm>
            <a:off x="3503488" y="4304872"/>
            <a:ext cx="565078" cy="5445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5D44CD-BD72-6688-58CE-B2FB8A32B47D}"/>
              </a:ext>
            </a:extLst>
          </p:cNvPr>
          <p:cNvSpPr txBox="1"/>
          <p:nvPr/>
        </p:nvSpPr>
        <p:spPr>
          <a:xfrm>
            <a:off x="3657600" y="4363004"/>
            <a:ext cx="154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6A49570-CCC6-7743-F413-F70365FBE03E}"/>
              </a:ext>
            </a:extLst>
          </p:cNvPr>
          <p:cNvSpPr/>
          <p:nvPr/>
        </p:nvSpPr>
        <p:spPr>
          <a:xfrm>
            <a:off x="5032625" y="4286408"/>
            <a:ext cx="565078" cy="5445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503926-5FC1-5A10-54C6-F83294E112EA}"/>
              </a:ext>
            </a:extLst>
          </p:cNvPr>
          <p:cNvSpPr txBox="1"/>
          <p:nvPr/>
        </p:nvSpPr>
        <p:spPr>
          <a:xfrm>
            <a:off x="5186737" y="4344540"/>
            <a:ext cx="154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731879F-6BF4-3540-A98B-9389A8BEC7A5}"/>
              </a:ext>
            </a:extLst>
          </p:cNvPr>
          <p:cNvSpPr/>
          <p:nvPr/>
        </p:nvSpPr>
        <p:spPr>
          <a:xfrm>
            <a:off x="6679487" y="4246740"/>
            <a:ext cx="565078" cy="5445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47153A-9DBD-8A0E-C715-756DE57FBFDD}"/>
              </a:ext>
            </a:extLst>
          </p:cNvPr>
          <p:cNvSpPr txBox="1"/>
          <p:nvPr/>
        </p:nvSpPr>
        <p:spPr>
          <a:xfrm>
            <a:off x="6833599" y="4304872"/>
            <a:ext cx="154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F047B3-E944-3CB8-1874-99C5DDBF14AF}"/>
              </a:ext>
            </a:extLst>
          </p:cNvPr>
          <p:cNvCxnSpPr>
            <a:cxnSpLocks/>
            <a:stCxn id="2" idx="6"/>
            <a:endCxn id="4" idx="2"/>
          </p:cNvCxnSpPr>
          <p:nvPr/>
        </p:nvCxnSpPr>
        <p:spPr>
          <a:xfrm flipV="1">
            <a:off x="4068566" y="4558673"/>
            <a:ext cx="964059" cy="184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D81FDF7-2A99-EDB6-7C61-982DCC99A53F}"/>
              </a:ext>
            </a:extLst>
          </p:cNvPr>
          <p:cNvCxnSpPr/>
          <p:nvPr/>
        </p:nvCxnSpPr>
        <p:spPr>
          <a:xfrm flipV="1">
            <a:off x="5638372" y="4515275"/>
            <a:ext cx="964059" cy="184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2D4699-35BE-0865-07D3-0C0BB88A023D}"/>
              </a:ext>
            </a:extLst>
          </p:cNvPr>
          <p:cNvCxnSpPr>
            <a:stCxn id="2" idx="4"/>
          </p:cNvCxnSpPr>
          <p:nvPr/>
        </p:nvCxnSpPr>
        <p:spPr>
          <a:xfrm>
            <a:off x="3786027" y="4849402"/>
            <a:ext cx="25685" cy="6164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19C5C4-1FF8-2958-5C9C-C83B51CD60F0}"/>
              </a:ext>
            </a:extLst>
          </p:cNvPr>
          <p:cNvCxnSpPr/>
          <p:nvPr/>
        </p:nvCxnSpPr>
        <p:spPr>
          <a:xfrm flipV="1">
            <a:off x="3811712" y="5363110"/>
            <a:ext cx="3175999" cy="10274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537F067-2F36-F044-39AC-1694832E1C03}"/>
              </a:ext>
            </a:extLst>
          </p:cNvPr>
          <p:cNvCxnSpPr>
            <a:cxnSpLocks/>
            <a:endCxn id="6" idx="4"/>
          </p:cNvCxnSpPr>
          <p:nvPr/>
        </p:nvCxnSpPr>
        <p:spPr>
          <a:xfrm flipV="1">
            <a:off x="6948755" y="4791270"/>
            <a:ext cx="13271" cy="5718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AD7BC08-3B57-B4F2-4458-7B72D54A2D04}"/>
              </a:ext>
            </a:extLst>
          </p:cNvPr>
          <p:cNvSpPr txBox="1"/>
          <p:nvPr/>
        </p:nvSpPr>
        <p:spPr>
          <a:xfrm>
            <a:off x="4161034" y="4150760"/>
            <a:ext cx="5650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077BBB-6056-3DE9-9E47-643BC842FDC7}"/>
              </a:ext>
            </a:extLst>
          </p:cNvPr>
          <p:cNvSpPr txBox="1"/>
          <p:nvPr/>
        </p:nvSpPr>
        <p:spPr>
          <a:xfrm>
            <a:off x="5807896" y="4100083"/>
            <a:ext cx="5650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7F0684-54E5-6317-F051-0DFEF2E0455C}"/>
              </a:ext>
            </a:extLst>
          </p:cNvPr>
          <p:cNvSpPr txBox="1"/>
          <p:nvPr/>
        </p:nvSpPr>
        <p:spPr>
          <a:xfrm>
            <a:off x="5117172" y="5465852"/>
            <a:ext cx="5650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325E4A-73AC-42A0-35BD-A74422F0ED8E}"/>
              </a:ext>
            </a:extLst>
          </p:cNvPr>
          <p:cNvSpPr txBox="1"/>
          <p:nvPr/>
        </p:nvSpPr>
        <p:spPr>
          <a:xfrm>
            <a:off x="3549722" y="3912233"/>
            <a:ext cx="5650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BAEEE1-C302-B12D-8CDD-9255FB1EDAB6}"/>
              </a:ext>
            </a:extLst>
          </p:cNvPr>
          <p:cNvSpPr txBox="1"/>
          <p:nvPr/>
        </p:nvSpPr>
        <p:spPr>
          <a:xfrm>
            <a:off x="5032625" y="3927160"/>
            <a:ext cx="65754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E2A528-62B6-7BA3-4BC9-ED1E8BD5C2F7}"/>
              </a:ext>
            </a:extLst>
          </p:cNvPr>
          <p:cNvSpPr txBox="1"/>
          <p:nvPr/>
        </p:nvSpPr>
        <p:spPr>
          <a:xfrm>
            <a:off x="6669212" y="3852212"/>
            <a:ext cx="65754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</a:t>
            </a:r>
          </a:p>
        </p:txBody>
      </p:sp>
    </p:spTree>
    <p:extLst>
      <p:ext uri="{BB962C8B-B14F-4D97-AF65-F5344CB8AC3E}">
        <p14:creationId xmlns:p14="http://schemas.microsoft.com/office/powerpoint/2010/main" val="3978300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F2A2A8CD-3EA5-145A-ABCB-48F14DD7E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8F59DE16-367A-3826-5245-95CFEB7448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Cost of a Path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ED9E528E-3D41-2012-39C9-8978E6A26C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In general, the cost of a path is calculated by summing up the weights of the edges along the path.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But you can change the cost function.</a:t>
            </a:r>
          </a:p>
          <a:p>
            <a:pPr lvl="1"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100" dirty="0">
                <a:solidFill>
                  <a:schemeClr val="tx1"/>
                </a:solidFill>
              </a:rPr>
              <a:t>Multiply the weights for example.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209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404270F0-6F60-E9AB-451D-00E7C7D03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148379DD-801C-0CE8-66EB-5A496626C7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Cost of a Path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7D84A572-7111-93FC-AC03-DB9F374E12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Our target is to understand some well-known algorithms that will find the  shortest path.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There are some variations in shortest path.</a:t>
            </a:r>
          </a:p>
          <a:p>
            <a:pPr lvl="1"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100" dirty="0">
                <a:solidFill>
                  <a:schemeClr val="tx1"/>
                </a:solidFill>
              </a:rPr>
              <a:t>Single-pair shortest path</a:t>
            </a:r>
          </a:p>
          <a:p>
            <a:pPr lvl="1"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100" dirty="0">
                <a:solidFill>
                  <a:schemeClr val="tx1"/>
                </a:solidFill>
              </a:rPr>
              <a:t>Single-source shortest path</a:t>
            </a:r>
          </a:p>
          <a:p>
            <a:pPr lvl="1"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100" dirty="0">
                <a:solidFill>
                  <a:schemeClr val="tx1"/>
                </a:solidFill>
              </a:rPr>
              <a:t>Single-destination shortest path</a:t>
            </a:r>
          </a:p>
          <a:p>
            <a:pPr lvl="1"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100" dirty="0">
                <a:solidFill>
                  <a:schemeClr val="tx1"/>
                </a:solidFill>
              </a:rPr>
              <a:t>All-pair shortest path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9002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1965D2B2-3EE4-0AAE-6B71-72A7538CF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EA80D627-8A5E-E9E5-295F-72C68992FD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SSSP Algorithms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1B288941-866F-5EE9-FCB6-7B64AB534D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From a source vertex s, find the shortest path to all other vertices in the graph.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Some common algorithms</a:t>
            </a:r>
          </a:p>
          <a:p>
            <a:pPr lvl="1"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100" dirty="0">
                <a:solidFill>
                  <a:schemeClr val="tx1"/>
                </a:solidFill>
              </a:rPr>
              <a:t>Dijkstra’s Algorithm</a:t>
            </a:r>
          </a:p>
          <a:p>
            <a:pPr lvl="1"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r>
              <a:rPr lang="en-SG" sz="2100" dirty="0">
                <a:solidFill>
                  <a:schemeClr val="tx1"/>
                </a:solidFill>
              </a:rPr>
              <a:t>Bellman-Ford Algorithm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4054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E9E74E48-6204-DE1F-548B-014EF0BF4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8EB96098-8BA3-08CD-DAA6-3D6D6692AC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Dijkstra’s Algorithm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26338E42-B091-666A-557E-E8EF697969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Dijkstra's algorithm is used for solving single-source shortest path problems for directed or undirected paths.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Used in maps.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Greedy Approach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Dijkstra's algorithm does not work for graphs with negative edges. For graphs with negative edges, the Bellman-Ford algorithm that is described on the next lecture, can be used instead.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2016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79698E73-D804-F080-563A-36256C881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E204B9A3-6B6E-EC32-744F-E3ED685AB1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Dijkstra’s Algorithm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368C0F75-3BAC-9D53-BCBB-CE3B54DB74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Choose a starting node.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Let </a:t>
            </a:r>
            <a:r>
              <a:rPr lang="en-SG" sz="2500" dirty="0" err="1">
                <a:solidFill>
                  <a:schemeClr val="tx1"/>
                </a:solidFill>
              </a:rPr>
              <a:t>dist</a:t>
            </a:r>
            <a:r>
              <a:rPr lang="en-SG" sz="2500" dirty="0">
                <a:solidFill>
                  <a:schemeClr val="tx1"/>
                </a:solidFill>
              </a:rPr>
              <a:t>[N] be the distance of node N from the source node.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Initially, set the distance of all the nodes to infinity.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We will try to improve the distances step by step.</a:t>
            </a:r>
          </a:p>
        </p:txBody>
      </p:sp>
    </p:spTree>
    <p:extLst>
      <p:ext uri="{BB962C8B-B14F-4D97-AF65-F5344CB8AC3E}">
        <p14:creationId xmlns:p14="http://schemas.microsoft.com/office/powerpoint/2010/main" val="3162816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37F61842-3198-2826-2ADF-765421AB5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05AE5844-45DC-D45C-05F0-383D87DAE2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Dijkstra’s Algorithm: Working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D3F4FF96-048B-CB16-FAF0-A12EF3C937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510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27050" lvl="0" indent="-4572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+mj-lt"/>
              <a:buAutoNum type="arabicPeriod"/>
            </a:pPr>
            <a:r>
              <a:rPr lang="en-SG" sz="2500" dirty="0">
                <a:solidFill>
                  <a:schemeClr val="tx1"/>
                </a:solidFill>
              </a:rPr>
              <a:t>Mark all nodes as unvisited. Create a set of all the unvisited nodes – unvisited set.</a:t>
            </a:r>
          </a:p>
          <a:p>
            <a:pPr marL="527050" lvl="0" indent="-4572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+mj-lt"/>
              <a:buAutoNum type="arabicPeriod"/>
            </a:pPr>
            <a:r>
              <a:rPr lang="en-SG" sz="2500" dirty="0">
                <a:solidFill>
                  <a:schemeClr val="tx1"/>
                </a:solidFill>
              </a:rPr>
              <a:t>Assign to every node a distance from start value. For starting node it is zero, For other nodes it is infinity.</a:t>
            </a:r>
          </a:p>
          <a:p>
            <a:pPr marL="527050" lvl="0" indent="-4572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+mj-lt"/>
              <a:buAutoNum type="arabicPeriod"/>
            </a:pPr>
            <a:r>
              <a:rPr lang="en-SG" sz="2500" dirty="0">
                <a:solidFill>
                  <a:schemeClr val="tx1"/>
                </a:solidFill>
              </a:rPr>
              <a:t>From the unvisited set, select the node with smallest finite distance as current node.</a:t>
            </a:r>
          </a:p>
          <a:p>
            <a:pPr marL="527050" lvl="0" indent="-4572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+mj-lt"/>
              <a:buAutoNum type="arabicPeriod"/>
            </a:pPr>
            <a:r>
              <a:rPr lang="en-SG" sz="2500" dirty="0">
                <a:solidFill>
                  <a:schemeClr val="tx1"/>
                </a:solidFill>
              </a:rPr>
              <a:t>For the current node, consider all of its unvisited neighbours and update their distance through the current node.</a:t>
            </a:r>
          </a:p>
          <a:p>
            <a:pPr marL="527050" lvl="0" indent="-4572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+mj-lt"/>
              <a:buAutoNum type="arabicPeriod"/>
            </a:pPr>
            <a:r>
              <a:rPr lang="en-SG" sz="2500" dirty="0">
                <a:solidFill>
                  <a:schemeClr val="tx1"/>
                </a:solidFill>
              </a:rPr>
              <a:t>Mark the current node as visited and remove it from the unvisited.</a:t>
            </a:r>
          </a:p>
          <a:p>
            <a:pPr marL="527050" lvl="0" indent="-4572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+mj-lt"/>
              <a:buAutoNum type="arabicPeriod"/>
            </a:pPr>
            <a:r>
              <a:rPr lang="en-SG" sz="2500" dirty="0">
                <a:solidFill>
                  <a:schemeClr val="tx1"/>
                </a:solidFill>
              </a:rPr>
              <a:t>Once the loop exits every visited node will contain its shortest distance from the starting node.</a:t>
            </a:r>
          </a:p>
        </p:txBody>
      </p:sp>
    </p:spTree>
    <p:extLst>
      <p:ext uri="{BB962C8B-B14F-4D97-AF65-F5344CB8AC3E}">
        <p14:creationId xmlns:p14="http://schemas.microsoft.com/office/powerpoint/2010/main" val="2650658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1F26C980-F035-1AEA-D835-94492E6A2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96A3F347-89A1-EC70-FE7D-3C98851A63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Algorithm Simulation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050A5451-7EC5-3DD0-23EF-AE38964390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93693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Relaxation: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If d(u)+ 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)&lt;d(v)=20+10&lt;40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Then d(v)=d(u)+c(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7251163-9A35-284F-66E9-6356811ED493}"/>
              </a:ext>
            </a:extLst>
          </p:cNvPr>
          <p:cNvSpPr/>
          <p:nvPr/>
        </p:nvSpPr>
        <p:spPr>
          <a:xfrm>
            <a:off x="2650733" y="3914454"/>
            <a:ext cx="565078" cy="5445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6ECB35-2776-C421-C581-E7EB6A31D710}"/>
              </a:ext>
            </a:extLst>
          </p:cNvPr>
          <p:cNvSpPr txBox="1"/>
          <p:nvPr/>
        </p:nvSpPr>
        <p:spPr>
          <a:xfrm>
            <a:off x="2804845" y="3972586"/>
            <a:ext cx="154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4282733-CF50-D65E-5D58-085B161F4712}"/>
              </a:ext>
            </a:extLst>
          </p:cNvPr>
          <p:cNvSpPr/>
          <p:nvPr/>
        </p:nvSpPr>
        <p:spPr>
          <a:xfrm>
            <a:off x="4179870" y="3895990"/>
            <a:ext cx="565078" cy="5445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EF6D0A-3AE0-E9C6-277D-F0B0C67447E4}"/>
              </a:ext>
            </a:extLst>
          </p:cNvPr>
          <p:cNvSpPr txBox="1"/>
          <p:nvPr/>
        </p:nvSpPr>
        <p:spPr>
          <a:xfrm>
            <a:off x="4333982" y="3954122"/>
            <a:ext cx="154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AFD51CA-8FA3-3AED-F76F-03ABBC32EC3C}"/>
              </a:ext>
            </a:extLst>
          </p:cNvPr>
          <p:cNvSpPr/>
          <p:nvPr/>
        </p:nvSpPr>
        <p:spPr>
          <a:xfrm>
            <a:off x="5826732" y="3856322"/>
            <a:ext cx="565078" cy="5445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76F90B-3BEF-8A0B-CC95-839320A84C02}"/>
              </a:ext>
            </a:extLst>
          </p:cNvPr>
          <p:cNvSpPr txBox="1"/>
          <p:nvPr/>
        </p:nvSpPr>
        <p:spPr>
          <a:xfrm>
            <a:off x="5980844" y="3914454"/>
            <a:ext cx="154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1BB4CD0-C8F6-F39A-1BBC-B2C3BD20B8F7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 flipV="1">
            <a:off x="3215811" y="4168255"/>
            <a:ext cx="964059" cy="184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A5D784F-9D8D-B1DA-236F-3C6B18B1E287}"/>
              </a:ext>
            </a:extLst>
          </p:cNvPr>
          <p:cNvCxnSpPr/>
          <p:nvPr/>
        </p:nvCxnSpPr>
        <p:spPr>
          <a:xfrm flipV="1">
            <a:off x="4785617" y="4124857"/>
            <a:ext cx="964059" cy="184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F30204A-139D-39A6-E338-834B0E1EB09E}"/>
              </a:ext>
            </a:extLst>
          </p:cNvPr>
          <p:cNvCxnSpPr>
            <a:stCxn id="4" idx="4"/>
          </p:cNvCxnSpPr>
          <p:nvPr/>
        </p:nvCxnSpPr>
        <p:spPr>
          <a:xfrm>
            <a:off x="2933272" y="4458984"/>
            <a:ext cx="25685" cy="6164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1345BCB-BDDF-7A3C-DB92-6C26CDFAAA44}"/>
              </a:ext>
            </a:extLst>
          </p:cNvPr>
          <p:cNvCxnSpPr/>
          <p:nvPr/>
        </p:nvCxnSpPr>
        <p:spPr>
          <a:xfrm flipV="1">
            <a:off x="2958957" y="4972692"/>
            <a:ext cx="3175999" cy="10274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8AFF1AF-1DD1-1140-E838-BAB8AC8B9BBB}"/>
              </a:ext>
            </a:extLst>
          </p:cNvPr>
          <p:cNvCxnSpPr>
            <a:cxnSpLocks/>
            <a:endCxn id="8" idx="4"/>
          </p:cNvCxnSpPr>
          <p:nvPr/>
        </p:nvCxnSpPr>
        <p:spPr>
          <a:xfrm flipV="1">
            <a:off x="6096000" y="4400852"/>
            <a:ext cx="13271" cy="5718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6C3907B-F0B8-C3B0-5AEF-98F8D9073898}"/>
              </a:ext>
            </a:extLst>
          </p:cNvPr>
          <p:cNvSpPr txBox="1"/>
          <p:nvPr/>
        </p:nvSpPr>
        <p:spPr>
          <a:xfrm>
            <a:off x="3308279" y="3760342"/>
            <a:ext cx="5650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F54756-035D-0604-E000-6A7C362784D4}"/>
              </a:ext>
            </a:extLst>
          </p:cNvPr>
          <p:cNvSpPr txBox="1"/>
          <p:nvPr/>
        </p:nvSpPr>
        <p:spPr>
          <a:xfrm>
            <a:off x="4955141" y="3709665"/>
            <a:ext cx="5650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4D3779-22CF-3732-35A7-A9DFA8ADB76E}"/>
              </a:ext>
            </a:extLst>
          </p:cNvPr>
          <p:cNvSpPr txBox="1"/>
          <p:nvPr/>
        </p:nvSpPr>
        <p:spPr>
          <a:xfrm>
            <a:off x="4264417" y="5075434"/>
            <a:ext cx="5650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425F0E-E125-9057-6495-8E94A7C2DFF4}"/>
              </a:ext>
            </a:extLst>
          </p:cNvPr>
          <p:cNvSpPr txBox="1"/>
          <p:nvPr/>
        </p:nvSpPr>
        <p:spPr>
          <a:xfrm>
            <a:off x="2696967" y="3521815"/>
            <a:ext cx="5650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CAB428-BF74-4592-7E67-89DA3536C2DF}"/>
              </a:ext>
            </a:extLst>
          </p:cNvPr>
          <p:cNvSpPr txBox="1"/>
          <p:nvPr/>
        </p:nvSpPr>
        <p:spPr>
          <a:xfrm>
            <a:off x="4220967" y="3471138"/>
            <a:ext cx="5650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A8BFEB-8569-98DE-352F-FC0EE58B0315}"/>
              </a:ext>
            </a:extLst>
          </p:cNvPr>
          <p:cNvSpPr txBox="1"/>
          <p:nvPr/>
        </p:nvSpPr>
        <p:spPr>
          <a:xfrm>
            <a:off x="8560297" y="5125625"/>
            <a:ext cx="65754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20E953-1B2A-D0A1-4DCA-4853A1203491}"/>
              </a:ext>
            </a:extLst>
          </p:cNvPr>
          <p:cNvSpPr txBox="1"/>
          <p:nvPr/>
        </p:nvSpPr>
        <p:spPr>
          <a:xfrm>
            <a:off x="10213797" y="4187649"/>
            <a:ext cx="65754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CB0FA7-E857-763D-7A34-5D940941D212}"/>
              </a:ext>
            </a:extLst>
          </p:cNvPr>
          <p:cNvSpPr txBox="1"/>
          <p:nvPr/>
        </p:nvSpPr>
        <p:spPr>
          <a:xfrm>
            <a:off x="5813461" y="3379268"/>
            <a:ext cx="5650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A45749-62A3-07C5-E95E-C31E42EE2FCD}"/>
              </a:ext>
            </a:extLst>
          </p:cNvPr>
          <p:cNvSpPr txBox="1"/>
          <p:nvPr/>
        </p:nvSpPr>
        <p:spPr>
          <a:xfrm>
            <a:off x="8715694" y="2794078"/>
            <a:ext cx="5650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4074704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6D58506E-49C5-F3B1-4EA1-B46D725A6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F3C7CFDC-37AC-AC98-726F-A34F5B19EA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F1D4A397-F372-88A5-6E88-82ECF8578B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93693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Relaxation: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If d(u)+ 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)&lt;d(v)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Then d(v)=d(u)+c(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0A710F-C6AA-1FA2-5E49-34B52C3C7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47" y="3503488"/>
            <a:ext cx="2971657" cy="2193105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3E11E49-E5B7-B0AA-2BED-FDE38770F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450096"/>
              </p:ext>
            </p:extLst>
          </p:nvPr>
        </p:nvGraphicFramePr>
        <p:xfrm>
          <a:off x="4791939" y="2152111"/>
          <a:ext cx="6238698" cy="3779520"/>
        </p:xfrm>
        <a:graphic>
          <a:graphicData uri="http://schemas.openxmlformats.org/drawingml/2006/table">
            <a:tbl>
              <a:tblPr firstRow="1" bandRow="1"/>
              <a:tblGrid>
                <a:gridCol w="1039783">
                  <a:extLst>
                    <a:ext uri="{9D8B030D-6E8A-4147-A177-3AD203B41FA5}">
                      <a16:colId xmlns:a16="http://schemas.microsoft.com/office/drawing/2014/main" val="3727724923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447918118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1189658389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591808452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744196110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324270693"/>
                    </a:ext>
                  </a:extLst>
                </a:gridCol>
              </a:tblGrid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381425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Initial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632487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513249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44133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479978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13035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277580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106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8886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272BF811-E9BF-CC2A-74F8-374E2C61B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0D262DC3-F247-6DFA-24BA-827A1DA03B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4C0AA567-E8ED-FEE8-06A0-1E854E4F67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93693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Relaxation: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If d(u)+ 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)&lt;d(v)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Then d(v)=d(u)+c(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F40E55-9CB4-093E-D691-9548CAE64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47" y="3503488"/>
            <a:ext cx="2971657" cy="2193105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B6648B4-12AD-9489-7521-D2A4C55EB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803974"/>
              </p:ext>
            </p:extLst>
          </p:nvPr>
        </p:nvGraphicFramePr>
        <p:xfrm>
          <a:off x="4791939" y="2152111"/>
          <a:ext cx="6238698" cy="3779520"/>
        </p:xfrm>
        <a:graphic>
          <a:graphicData uri="http://schemas.openxmlformats.org/drawingml/2006/table">
            <a:tbl>
              <a:tblPr firstRow="1" bandRow="1"/>
              <a:tblGrid>
                <a:gridCol w="1039783">
                  <a:extLst>
                    <a:ext uri="{9D8B030D-6E8A-4147-A177-3AD203B41FA5}">
                      <a16:colId xmlns:a16="http://schemas.microsoft.com/office/drawing/2014/main" val="3727724923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447918118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1189658389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591808452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744196110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324270693"/>
                    </a:ext>
                  </a:extLst>
                </a:gridCol>
              </a:tblGrid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381425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Initial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632487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513249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44133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479978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13035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277580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106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7007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F6101865-17EA-5CCD-B610-4B11EF854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0573F367-9717-ACB1-D3EF-1BA84B787B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ED652022-E2BF-0ABC-A28C-F520217C2B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93693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Relaxation: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If d(u)+ 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)&lt;d(v) 7+15&gt;9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Then d(v)=d(u)+c(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260B7E-2C8A-EA4B-D8EB-258DEC25C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47" y="3503488"/>
            <a:ext cx="2971657" cy="2193105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00A8BA0-93FE-DBDF-4FA8-940C5346E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420078"/>
              </p:ext>
            </p:extLst>
          </p:nvPr>
        </p:nvGraphicFramePr>
        <p:xfrm>
          <a:off x="4791939" y="2152111"/>
          <a:ext cx="6238698" cy="3779520"/>
        </p:xfrm>
        <a:graphic>
          <a:graphicData uri="http://schemas.openxmlformats.org/drawingml/2006/table">
            <a:tbl>
              <a:tblPr firstRow="1" bandRow="1"/>
              <a:tblGrid>
                <a:gridCol w="1039783">
                  <a:extLst>
                    <a:ext uri="{9D8B030D-6E8A-4147-A177-3AD203B41FA5}">
                      <a16:colId xmlns:a16="http://schemas.microsoft.com/office/drawing/2014/main" val="3727724923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447918118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1189658389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591808452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744196110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324270693"/>
                    </a:ext>
                  </a:extLst>
                </a:gridCol>
              </a:tblGrid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381425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632487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513249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44133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479978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13035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277580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1064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E6CBFDB-5B8D-5612-D41E-14F2B27673FD}"/>
                  </a:ext>
                </a:extLst>
              </p14:cNvPr>
              <p14:cNvContentPartPr/>
              <p14:nvPr/>
            </p14:nvContentPartPr>
            <p14:xfrm>
              <a:off x="6185014" y="3120504"/>
              <a:ext cx="310680" cy="343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E6CBFDB-5B8D-5612-D41E-14F2B27673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78894" y="3114384"/>
                <a:ext cx="32292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39D8B60-5167-A11A-170E-C4FB4AEB1068}"/>
                  </a:ext>
                </a:extLst>
              </p14:cNvPr>
              <p14:cNvContentPartPr/>
              <p14:nvPr/>
            </p14:nvContentPartPr>
            <p14:xfrm>
              <a:off x="6185014" y="3625944"/>
              <a:ext cx="361800" cy="444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39D8B60-5167-A11A-170E-C4FB4AEB106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78894" y="3619824"/>
                <a:ext cx="374040" cy="45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5677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66057407-EBBC-BBFA-F037-848024550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66AF4D3D-F82B-0B13-5CDC-DA48F4D5CB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0BDA5553-AFB3-790D-C9AC-7CAF2123D8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93693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Relaxation: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If d(u)+ 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)&lt;d(v)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Then d(v)=d(u)+c(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0D1000-13CF-F85D-5F88-3BB72674C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47" y="3503488"/>
            <a:ext cx="2971657" cy="2193105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3B6F0F2-3082-3654-02E9-ABAE36CC8C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519293"/>
              </p:ext>
            </p:extLst>
          </p:nvPr>
        </p:nvGraphicFramePr>
        <p:xfrm>
          <a:off x="4664467" y="2152111"/>
          <a:ext cx="6366170" cy="3779520"/>
        </p:xfrm>
        <a:graphic>
          <a:graphicData uri="http://schemas.openxmlformats.org/drawingml/2006/table">
            <a:tbl>
              <a:tblPr firstRow="1" bandRow="1"/>
              <a:tblGrid>
                <a:gridCol w="1167255">
                  <a:extLst>
                    <a:ext uri="{9D8B030D-6E8A-4147-A177-3AD203B41FA5}">
                      <a16:colId xmlns:a16="http://schemas.microsoft.com/office/drawing/2014/main" val="3727724923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447918118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1189658389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591808452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744196110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324270693"/>
                    </a:ext>
                  </a:extLst>
                </a:gridCol>
              </a:tblGrid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381425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Initial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632487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513249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44133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479978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13035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277580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1064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C3142B8-0B77-848A-39BE-D369C575B977}"/>
                  </a:ext>
                </a:extLst>
              </p14:cNvPr>
              <p14:cNvContentPartPr/>
              <p14:nvPr/>
            </p14:nvContentPartPr>
            <p14:xfrm>
              <a:off x="6019774" y="3636024"/>
              <a:ext cx="635760" cy="463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C3142B8-0B77-848A-39BE-D369C575B97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13654" y="3629904"/>
                <a:ext cx="648000" cy="47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5159D3F-BDAA-F5A8-8A48-743CADE95B73}"/>
                  </a:ext>
                </a:extLst>
              </p14:cNvPr>
              <p14:cNvContentPartPr/>
              <p14:nvPr/>
            </p14:nvContentPartPr>
            <p14:xfrm>
              <a:off x="7281934" y="3668424"/>
              <a:ext cx="240840" cy="258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5159D3F-BDAA-F5A8-8A48-743CADE95B7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75814" y="3662304"/>
                <a:ext cx="25308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93915D9-D031-8A3A-72F5-570DE8CF2B6A}"/>
                  </a:ext>
                </a:extLst>
              </p14:cNvPr>
              <p14:cNvContentPartPr/>
              <p14:nvPr/>
            </p14:nvContentPartPr>
            <p14:xfrm>
              <a:off x="6236494" y="4212384"/>
              <a:ext cx="224640" cy="51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93915D9-D031-8A3A-72F5-570DE8CF2B6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30374" y="4206264"/>
                <a:ext cx="23688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39D9BD1-6DC6-B18A-EAD9-B8D29C5DE3F4}"/>
                  </a:ext>
                </a:extLst>
              </p14:cNvPr>
              <p14:cNvContentPartPr/>
              <p14:nvPr/>
            </p14:nvContentPartPr>
            <p14:xfrm>
              <a:off x="7232974" y="4262784"/>
              <a:ext cx="286200" cy="52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39D9BD1-6DC6-B18A-EAD9-B8D29C5DE3F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26854" y="4256664"/>
                <a:ext cx="298440" cy="6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4188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CA447B2E-C22E-F848-8E82-1102816CC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7E1CE671-B7DA-4E1D-F981-34759272CC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769F6182-073C-DA2D-2D01-753F5CD561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93693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Relaxation: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If d(u)+ 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)&lt;d(v)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Then d(v)=d(u)+c(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01DD1E-E2EC-A076-45A4-00E3FC89A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47" y="3503488"/>
            <a:ext cx="2971657" cy="2193105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F3D73B2-AE4D-C7CF-B96E-FC41E19798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951062"/>
              </p:ext>
            </p:extLst>
          </p:nvPr>
        </p:nvGraphicFramePr>
        <p:xfrm>
          <a:off x="4664467" y="2152111"/>
          <a:ext cx="6366170" cy="3779520"/>
        </p:xfrm>
        <a:graphic>
          <a:graphicData uri="http://schemas.openxmlformats.org/drawingml/2006/table">
            <a:tbl>
              <a:tblPr firstRow="1" bandRow="1"/>
              <a:tblGrid>
                <a:gridCol w="1167255">
                  <a:extLst>
                    <a:ext uri="{9D8B030D-6E8A-4147-A177-3AD203B41FA5}">
                      <a16:colId xmlns:a16="http://schemas.microsoft.com/office/drawing/2014/main" val="3727724923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447918118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1189658389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591808452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744196110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324270693"/>
                    </a:ext>
                  </a:extLst>
                </a:gridCol>
              </a:tblGrid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381425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Initial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632487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513249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44133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479978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1,2,3,6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13035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277580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1064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13722A7-3D7C-5644-07A4-A17D5EDA86F1}"/>
                  </a:ext>
                </a:extLst>
              </p14:cNvPr>
              <p14:cNvContentPartPr/>
              <p14:nvPr/>
            </p14:nvContentPartPr>
            <p14:xfrm>
              <a:off x="6185014" y="4273944"/>
              <a:ext cx="266040" cy="123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13722A7-3D7C-5644-07A4-A17D5EDA86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78894" y="4267824"/>
                <a:ext cx="27828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9168F82-AA90-23DC-6D98-45C59C13C574}"/>
                  </a:ext>
                </a:extLst>
              </p14:cNvPr>
              <p14:cNvContentPartPr/>
              <p14:nvPr/>
            </p14:nvContentPartPr>
            <p14:xfrm>
              <a:off x="7047934" y="4181784"/>
              <a:ext cx="451440" cy="133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9168F82-AA90-23DC-6D98-45C59C13C57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41814" y="4175664"/>
                <a:ext cx="46368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1FC3454-6CFF-A5E2-B92B-62E0C4FB050A}"/>
                  </a:ext>
                </a:extLst>
              </p14:cNvPr>
              <p14:cNvContentPartPr/>
              <p14:nvPr/>
            </p14:nvContentPartPr>
            <p14:xfrm>
              <a:off x="10251934" y="4036704"/>
              <a:ext cx="641160" cy="495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1FC3454-6CFF-A5E2-B92B-62E0C4FB050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245814" y="4030584"/>
                <a:ext cx="653400" cy="50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A2EEDBE-9637-E855-BCFC-5C18C49D7939}"/>
                  </a:ext>
                </a:extLst>
              </p14:cNvPr>
              <p14:cNvContentPartPr/>
              <p14:nvPr/>
            </p14:nvContentPartPr>
            <p14:xfrm>
              <a:off x="6164134" y="4716024"/>
              <a:ext cx="286560" cy="92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A2EEDBE-9637-E855-BCFC-5C18C49D793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58014" y="4709904"/>
                <a:ext cx="29880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3BBB3FD-209D-37B2-2949-A99FACB746DF}"/>
                  </a:ext>
                </a:extLst>
              </p14:cNvPr>
              <p14:cNvContentPartPr/>
              <p14:nvPr/>
            </p14:nvContentPartPr>
            <p14:xfrm>
              <a:off x="7232974" y="4704504"/>
              <a:ext cx="348120" cy="212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3BBB3FD-209D-37B2-2949-A99FACB746D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226854" y="4698384"/>
                <a:ext cx="36036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5F9A8AE-E57C-B403-3A13-C8F8B0F8D9C1}"/>
                  </a:ext>
                </a:extLst>
              </p14:cNvPr>
              <p14:cNvContentPartPr/>
              <p14:nvPr/>
            </p14:nvContentPartPr>
            <p14:xfrm>
              <a:off x="10417894" y="4646184"/>
              <a:ext cx="288720" cy="120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5F9A8AE-E57C-B403-3A13-C8F8B0F8D9C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411774" y="4640064"/>
                <a:ext cx="300960" cy="13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4160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6A6D7E7B-DBAD-A5CB-AC12-51518BB25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A1C0D2F2-BCD3-468A-669A-74FDA55C93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97B63A79-B0C2-8F26-BE25-064C4D3C72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93693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Relaxation: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If d(u)+ 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)&lt;d(v)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Then d(v)=d(u)+c(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17335B-1B9E-8185-E51A-FC297E7D1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47" y="3503488"/>
            <a:ext cx="2971657" cy="2193105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5A11516-8791-5325-84B6-0AB0B9B9FD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510813"/>
              </p:ext>
            </p:extLst>
          </p:nvPr>
        </p:nvGraphicFramePr>
        <p:xfrm>
          <a:off x="4274049" y="2152111"/>
          <a:ext cx="6756588" cy="3779520"/>
        </p:xfrm>
        <a:graphic>
          <a:graphicData uri="http://schemas.openxmlformats.org/drawingml/2006/table">
            <a:tbl>
              <a:tblPr firstRow="1" bandRow="1"/>
              <a:tblGrid>
                <a:gridCol w="1557673">
                  <a:extLst>
                    <a:ext uri="{9D8B030D-6E8A-4147-A177-3AD203B41FA5}">
                      <a16:colId xmlns:a16="http://schemas.microsoft.com/office/drawing/2014/main" val="3727724923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447918118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1189658389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591808452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744196110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324270693"/>
                    </a:ext>
                  </a:extLst>
                </a:gridCol>
              </a:tblGrid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381425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Initial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632487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513249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44133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479978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1,2,3,6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13035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1,2,3,6,4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277580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1064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ACCDEB7-B383-9CAB-E0A6-9727C86A82F2}"/>
                  </a:ext>
                </a:extLst>
              </p14:cNvPr>
              <p14:cNvContentPartPr/>
              <p14:nvPr/>
            </p14:nvContentPartPr>
            <p14:xfrm>
              <a:off x="6256654" y="4723944"/>
              <a:ext cx="299880" cy="63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ACCDEB7-B383-9CAB-E0A6-9727C86A82F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50534" y="4717824"/>
                <a:ext cx="31212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D306265-BABE-3175-6298-F7A60BBACCB4}"/>
                  </a:ext>
                </a:extLst>
              </p14:cNvPr>
              <p14:cNvContentPartPr/>
              <p14:nvPr/>
            </p14:nvContentPartPr>
            <p14:xfrm>
              <a:off x="7160974" y="4623504"/>
              <a:ext cx="535320" cy="174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D306265-BABE-3175-6298-F7A60BBACCB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54854" y="4617384"/>
                <a:ext cx="54756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96AA0F5-B800-4C7D-5531-DCB0664215DA}"/>
                  </a:ext>
                </a:extLst>
              </p14:cNvPr>
              <p14:cNvContentPartPr/>
              <p14:nvPr/>
            </p14:nvContentPartPr>
            <p14:xfrm>
              <a:off x="10181734" y="4679304"/>
              <a:ext cx="725040" cy="150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96AA0F5-B800-4C7D-5531-DCB0664215D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175614" y="4673184"/>
                <a:ext cx="73728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7348711-1E62-7C72-D60B-AB8B49C406AF}"/>
                  </a:ext>
                </a:extLst>
              </p14:cNvPr>
              <p14:cNvContentPartPr/>
              <p14:nvPr/>
            </p14:nvContentPartPr>
            <p14:xfrm>
              <a:off x="8208574" y="4623144"/>
              <a:ext cx="799920" cy="185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7348711-1E62-7C72-D60B-AB8B49C406A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202454" y="4617024"/>
                <a:ext cx="81216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C7E190E-BB0D-1EBF-7857-6DBEE5832D28}"/>
                  </a:ext>
                </a:extLst>
              </p14:cNvPr>
              <p14:cNvContentPartPr/>
              <p14:nvPr/>
            </p14:nvContentPartPr>
            <p14:xfrm>
              <a:off x="6082054" y="5126424"/>
              <a:ext cx="311040" cy="54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C7E190E-BB0D-1EBF-7857-6DBEE5832D2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075934" y="5120304"/>
                <a:ext cx="32328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E72CE51-8A17-9011-2ECD-2EDFB54616B9}"/>
                  </a:ext>
                </a:extLst>
              </p14:cNvPr>
              <p14:cNvContentPartPr/>
              <p14:nvPr/>
            </p14:nvContentPartPr>
            <p14:xfrm>
              <a:off x="7119934" y="5233344"/>
              <a:ext cx="331920" cy="68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E72CE51-8A17-9011-2ECD-2EDFB54616B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113814" y="5227224"/>
                <a:ext cx="34416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D5E1684-DB42-407B-1FD4-898B41385EC6}"/>
                  </a:ext>
                </a:extLst>
              </p14:cNvPr>
              <p14:cNvContentPartPr/>
              <p14:nvPr/>
            </p14:nvContentPartPr>
            <p14:xfrm>
              <a:off x="8290654" y="5065224"/>
              <a:ext cx="417960" cy="176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D5E1684-DB42-407B-1FD4-898B41385EC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284534" y="5059104"/>
                <a:ext cx="43020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7EE7509-A0CD-C8CC-FD2E-09806BE1E62E}"/>
                  </a:ext>
                </a:extLst>
              </p14:cNvPr>
              <p14:cNvContentPartPr/>
              <p14:nvPr/>
            </p14:nvContentPartPr>
            <p14:xfrm>
              <a:off x="10314934" y="4951104"/>
              <a:ext cx="790920" cy="279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7EE7509-A0CD-C8CC-FD2E-09806BE1E62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308814" y="4944984"/>
                <a:ext cx="80316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7BF8F22-E6CB-FF1E-2E55-AA6E0D3C8521}"/>
                  </a:ext>
                </a:extLst>
              </p14:cNvPr>
              <p14:cNvContentPartPr/>
              <p14:nvPr/>
            </p14:nvContentPartPr>
            <p14:xfrm>
              <a:off x="9431494" y="5083944"/>
              <a:ext cx="353520" cy="1458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7BF8F22-E6CB-FF1E-2E55-AA6E0D3C852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425374" y="5077824"/>
                <a:ext cx="365760" cy="15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3468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C1E91A74-BFCD-4ADE-3178-E083424A3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F4EC4A20-99CD-1FD8-E8E6-B2721D6F7B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Example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92FCAFD0-E242-A688-CEBD-5565CB38A3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93693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Relaxation: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If d(u)+ 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)&lt;d(v)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Then d(v)=d(u)+c(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7B812A-C1CF-CA9A-5F37-A41EE3424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747" y="3503488"/>
            <a:ext cx="2971657" cy="2193105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DA470DB-E83A-6434-E62B-87C512EAC9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310100"/>
              </p:ext>
            </p:extLst>
          </p:nvPr>
        </p:nvGraphicFramePr>
        <p:xfrm>
          <a:off x="4274049" y="2152111"/>
          <a:ext cx="6756588" cy="3779520"/>
        </p:xfrm>
        <a:graphic>
          <a:graphicData uri="http://schemas.openxmlformats.org/drawingml/2006/table">
            <a:tbl>
              <a:tblPr firstRow="1" bandRow="1"/>
              <a:tblGrid>
                <a:gridCol w="1557673">
                  <a:extLst>
                    <a:ext uri="{9D8B030D-6E8A-4147-A177-3AD203B41FA5}">
                      <a16:colId xmlns:a16="http://schemas.microsoft.com/office/drawing/2014/main" val="3727724923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447918118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1189658389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591808452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744196110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324270693"/>
                    </a:ext>
                  </a:extLst>
                </a:gridCol>
              </a:tblGrid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381425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Initial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632487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513249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44133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479978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1,2,3,6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13035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1,2,3,6,4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277580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1,2,3,6,4,5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106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9404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DC2BE81E-6757-3F95-3B4F-7389DE1BB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F00AD356-057C-C816-F4E9-6ECF18EDA9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Example: Solution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CB0C2325-067F-2D4C-B2CE-FE110DAB1B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93693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Relaxation: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If d(u)+ 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)&lt;d(v)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Then d(v)=d(u)+c(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D11DA72-B233-7FA0-796E-5248111BAA04}"/>
              </a:ext>
            </a:extLst>
          </p:cNvPr>
          <p:cNvGraphicFramePr>
            <a:graphicFrameLocks noGrp="1"/>
          </p:cNvGraphicFramePr>
          <p:nvPr/>
        </p:nvGraphicFramePr>
        <p:xfrm>
          <a:off x="4274049" y="2152111"/>
          <a:ext cx="6756588" cy="3779520"/>
        </p:xfrm>
        <a:graphic>
          <a:graphicData uri="http://schemas.openxmlformats.org/drawingml/2006/table">
            <a:tbl>
              <a:tblPr firstRow="1" bandRow="1"/>
              <a:tblGrid>
                <a:gridCol w="1557673">
                  <a:extLst>
                    <a:ext uri="{9D8B030D-6E8A-4147-A177-3AD203B41FA5}">
                      <a16:colId xmlns:a16="http://schemas.microsoft.com/office/drawing/2014/main" val="3727724923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447918118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1189658389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591808452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744196110"/>
                    </a:ext>
                  </a:extLst>
                </a:gridCol>
                <a:gridCol w="1039783">
                  <a:extLst>
                    <a:ext uri="{9D8B030D-6E8A-4147-A177-3AD203B41FA5}">
                      <a16:colId xmlns:a16="http://schemas.microsoft.com/office/drawing/2014/main" val="3324270693"/>
                    </a:ext>
                  </a:extLst>
                </a:gridCol>
              </a:tblGrid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381425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Initial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632487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513249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44133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479978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1,2,3,6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130352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1,2,3,6,4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277580"/>
                  </a:ext>
                </a:extLst>
              </a:tr>
              <a:tr h="42192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1,2,3,6,4,5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106407"/>
                  </a:ext>
                </a:extLst>
              </a:tr>
            </a:tbl>
          </a:graphicData>
        </a:graphic>
      </p:graphicFrame>
      <p:sp>
        <p:nvSpPr>
          <p:cNvPr id="6" name="Oval 5">
            <a:extLst>
              <a:ext uri="{FF2B5EF4-FFF2-40B4-BE49-F238E27FC236}">
                <a16:creationId xmlns:a16="http://schemas.microsoft.com/office/drawing/2014/main" id="{7BABC1D9-FA57-4C75-8D11-E7771DBFA34A}"/>
              </a:ext>
            </a:extLst>
          </p:cNvPr>
          <p:cNvSpPr/>
          <p:nvPr/>
        </p:nvSpPr>
        <p:spPr>
          <a:xfrm>
            <a:off x="2640458" y="3735868"/>
            <a:ext cx="565078" cy="5445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F6BDC9-90AD-12AC-229A-47B2BEC821BA}"/>
              </a:ext>
            </a:extLst>
          </p:cNvPr>
          <p:cNvSpPr txBox="1"/>
          <p:nvPr/>
        </p:nvSpPr>
        <p:spPr>
          <a:xfrm>
            <a:off x="2743199" y="3769606"/>
            <a:ext cx="2157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8D28108-9BAB-4F9D-5CA9-4372C7B3BEB0}"/>
              </a:ext>
            </a:extLst>
          </p:cNvPr>
          <p:cNvSpPr/>
          <p:nvPr/>
        </p:nvSpPr>
        <p:spPr>
          <a:xfrm>
            <a:off x="1837362" y="4672019"/>
            <a:ext cx="565078" cy="5445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76DAD1-DB38-308D-4786-54C62DD39EED}"/>
              </a:ext>
            </a:extLst>
          </p:cNvPr>
          <p:cNvSpPr txBox="1"/>
          <p:nvPr/>
        </p:nvSpPr>
        <p:spPr>
          <a:xfrm>
            <a:off x="1940103" y="4705757"/>
            <a:ext cx="2157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4062D8A-126E-29EA-4A95-4AE98D54B254}"/>
              </a:ext>
            </a:extLst>
          </p:cNvPr>
          <p:cNvSpPr/>
          <p:nvPr/>
        </p:nvSpPr>
        <p:spPr>
          <a:xfrm>
            <a:off x="3083104" y="4599790"/>
            <a:ext cx="565078" cy="5445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942B3D-ABB1-2BA1-CFDD-F1FA5B08EA76}"/>
              </a:ext>
            </a:extLst>
          </p:cNvPr>
          <p:cNvSpPr txBox="1"/>
          <p:nvPr/>
        </p:nvSpPr>
        <p:spPr>
          <a:xfrm>
            <a:off x="3185845" y="4633528"/>
            <a:ext cx="2157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DC6BB99-E57E-E054-CACA-67069CCEA701}"/>
              </a:ext>
            </a:extLst>
          </p:cNvPr>
          <p:cNvSpPr/>
          <p:nvPr/>
        </p:nvSpPr>
        <p:spPr>
          <a:xfrm>
            <a:off x="986320" y="5506949"/>
            <a:ext cx="565078" cy="5445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91CBE5-94B1-7555-47E6-C45AE90D4D6D}"/>
              </a:ext>
            </a:extLst>
          </p:cNvPr>
          <p:cNvSpPr txBox="1"/>
          <p:nvPr/>
        </p:nvSpPr>
        <p:spPr>
          <a:xfrm>
            <a:off x="1089061" y="5540687"/>
            <a:ext cx="2157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50312AD-E314-55D0-715D-80186A4FDD19}"/>
              </a:ext>
            </a:extLst>
          </p:cNvPr>
          <p:cNvSpPr/>
          <p:nvPr/>
        </p:nvSpPr>
        <p:spPr>
          <a:xfrm>
            <a:off x="1241461" y="3922006"/>
            <a:ext cx="565078" cy="5445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99BE21-09DE-F1A6-4F56-24574269663F}"/>
              </a:ext>
            </a:extLst>
          </p:cNvPr>
          <p:cNvSpPr txBox="1"/>
          <p:nvPr/>
        </p:nvSpPr>
        <p:spPr>
          <a:xfrm>
            <a:off x="1344202" y="3955744"/>
            <a:ext cx="2157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60E31B8-B221-F4F7-D41E-9B05A074402F}"/>
              </a:ext>
            </a:extLst>
          </p:cNvPr>
          <p:cNvSpPr/>
          <p:nvPr/>
        </p:nvSpPr>
        <p:spPr>
          <a:xfrm>
            <a:off x="2347645" y="5578043"/>
            <a:ext cx="565078" cy="54453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00676D-47AA-C09D-AC42-710766CCCE83}"/>
              </a:ext>
            </a:extLst>
          </p:cNvPr>
          <p:cNvSpPr txBox="1"/>
          <p:nvPr/>
        </p:nvSpPr>
        <p:spPr>
          <a:xfrm>
            <a:off x="2448246" y="5609972"/>
            <a:ext cx="2157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9477892-2430-1A5D-E4FC-E19640419E1F}"/>
              </a:ext>
            </a:extLst>
          </p:cNvPr>
          <p:cNvCxnSpPr>
            <a:stCxn id="18" idx="6"/>
            <a:endCxn id="6" idx="2"/>
          </p:cNvCxnSpPr>
          <p:nvPr/>
        </p:nvCxnSpPr>
        <p:spPr>
          <a:xfrm flipV="1">
            <a:off x="1806539" y="4008133"/>
            <a:ext cx="833919" cy="18613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7391121-8598-A008-90EB-656E38CBE3A6}"/>
              </a:ext>
            </a:extLst>
          </p:cNvPr>
          <p:cNvCxnSpPr>
            <a:stCxn id="18" idx="5"/>
            <a:endCxn id="12" idx="0"/>
          </p:cNvCxnSpPr>
          <p:nvPr/>
        </p:nvCxnSpPr>
        <p:spPr>
          <a:xfrm>
            <a:off x="1723785" y="4386791"/>
            <a:ext cx="324197" cy="318966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8ED2FB8-6D42-340B-2CB1-D56995F6FEF4}"/>
              </a:ext>
            </a:extLst>
          </p:cNvPr>
          <p:cNvCxnSpPr>
            <a:stCxn id="11" idx="6"/>
            <a:endCxn id="14" idx="2"/>
          </p:cNvCxnSpPr>
          <p:nvPr/>
        </p:nvCxnSpPr>
        <p:spPr>
          <a:xfrm flipV="1">
            <a:off x="2402440" y="4872055"/>
            <a:ext cx="680664" cy="7222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3478293-44D0-FB72-0F6F-313EC18F95C2}"/>
              </a:ext>
            </a:extLst>
          </p:cNvPr>
          <p:cNvCxnSpPr>
            <a:stCxn id="16" idx="7"/>
          </p:cNvCxnSpPr>
          <p:nvPr/>
        </p:nvCxnSpPr>
        <p:spPr>
          <a:xfrm flipV="1">
            <a:off x="1468644" y="5110582"/>
            <a:ext cx="471459" cy="47611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9592190-CB8A-04C1-06F9-F72C45A3D46F}"/>
              </a:ext>
            </a:extLst>
          </p:cNvPr>
          <p:cNvCxnSpPr>
            <a:stCxn id="16" idx="6"/>
            <a:endCxn id="21" idx="1"/>
          </p:cNvCxnSpPr>
          <p:nvPr/>
        </p:nvCxnSpPr>
        <p:spPr>
          <a:xfrm>
            <a:off x="1551398" y="5779214"/>
            <a:ext cx="896848" cy="6928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373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1210D6B0-3DF7-DBBE-DB56-E5C17925C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6FB00790-178B-CBDF-6D85-75E3D231E6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Time Complexity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7F6192C8-AE91-B457-2BC9-4E717D874E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93693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/>
              <a:t>Initializing the distance array will take O(V).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/>
              <a:t>In the main loop, we find the vertex with minimum distance. This will take O(V).	​	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And the loop will run for each vertex, hence O(V).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So the total complexity is O(V</a:t>
            </a:r>
            <a:r>
              <a:rPr lang="en-SG" sz="2500" baseline="30000" dirty="0">
                <a:solidFill>
                  <a:schemeClr val="tx1"/>
                </a:solidFill>
              </a:rPr>
              <a:t>2</a:t>
            </a:r>
            <a:r>
              <a:rPr lang="en-SG" sz="2500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757694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75251C70-DCFB-486A-F5D4-B742403A0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594ADD80-04A1-0A15-2FFF-6140D13E2D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 err="1">
                <a:solidFill>
                  <a:srgbClr val="833C0B"/>
                </a:solidFill>
              </a:rPr>
              <a:t>Bellmanford</a:t>
            </a:r>
            <a:r>
              <a:rPr lang="en-US" b="1" dirty="0">
                <a:solidFill>
                  <a:srgbClr val="833C0B"/>
                </a:solidFill>
              </a:rPr>
              <a:t> Algorithm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FEBA9943-24D0-08E7-9C0C-49E9B0405C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 err="1">
                <a:solidFill>
                  <a:schemeClr val="tx1"/>
                </a:solidFill>
              </a:rPr>
              <a:t>Bellmanford</a:t>
            </a:r>
            <a:r>
              <a:rPr lang="en-SG" sz="2500" dirty="0">
                <a:solidFill>
                  <a:schemeClr val="tx1"/>
                </a:solidFill>
              </a:rPr>
              <a:t> algorithm is used for solving single-source shortest path problems for directed or undirected paths.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Works in the cases of negative edges.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Able to detect negative cycles as well.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75285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F454CE65-F931-03AB-90CB-03E77B661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72764368-16AB-0FC7-A81F-9686FBF1D2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Negative Edge Cycle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11BABB4B-7BBF-0E4D-F12D-6424076689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A negative weight cycle is a cycle in a graph, whose sum of edge weights is negative. 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If you traverse the cycle, the total weight accumulated would be less than zero.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C63017-4CD0-3848-772E-28D2655DE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3870" y="3429000"/>
            <a:ext cx="3428732" cy="304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457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EE37092A-B465-C303-EE3D-F83C551B0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9FA0686D-7F87-1493-D4B2-7401052BA7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Why Dijkstra’s Algorithm Fails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E4AF05A5-6EBB-2C96-047F-D10570D852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E7B5130-A3F9-B55F-E886-DE97A04DF793}"/>
              </a:ext>
            </a:extLst>
          </p:cNvPr>
          <p:cNvSpPr/>
          <p:nvPr/>
        </p:nvSpPr>
        <p:spPr>
          <a:xfrm>
            <a:off x="2126751" y="2938409"/>
            <a:ext cx="534256" cy="49059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521B67-F6B6-80FD-5A8F-B7331886E014}"/>
              </a:ext>
            </a:extLst>
          </p:cNvPr>
          <p:cNvSpPr txBox="1"/>
          <p:nvPr/>
        </p:nvSpPr>
        <p:spPr>
          <a:xfrm>
            <a:off x="2219218" y="2938409"/>
            <a:ext cx="4417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7B7FECB-93DA-8E34-F29B-4121B44C19D8}"/>
              </a:ext>
            </a:extLst>
          </p:cNvPr>
          <p:cNvSpPr/>
          <p:nvPr/>
        </p:nvSpPr>
        <p:spPr>
          <a:xfrm>
            <a:off x="3347664" y="1899007"/>
            <a:ext cx="534256" cy="49059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2D5D75-9BE8-99BA-DC6F-4B20FBB04E6A}"/>
              </a:ext>
            </a:extLst>
          </p:cNvPr>
          <p:cNvSpPr txBox="1"/>
          <p:nvPr/>
        </p:nvSpPr>
        <p:spPr>
          <a:xfrm>
            <a:off x="3440131" y="1899007"/>
            <a:ext cx="4417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2E8250B-F5D0-6728-AA4A-7E385A4494FF}"/>
              </a:ext>
            </a:extLst>
          </p:cNvPr>
          <p:cNvSpPr/>
          <p:nvPr/>
        </p:nvSpPr>
        <p:spPr>
          <a:xfrm>
            <a:off x="3840824" y="3601278"/>
            <a:ext cx="534256" cy="49059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4B675E-45EA-1817-F454-B8CC6C0BDA96}"/>
              </a:ext>
            </a:extLst>
          </p:cNvPr>
          <p:cNvSpPr txBox="1"/>
          <p:nvPr/>
        </p:nvSpPr>
        <p:spPr>
          <a:xfrm>
            <a:off x="3933291" y="3601278"/>
            <a:ext cx="4417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1EA5AFE-5FCD-43F4-BBFB-540AF2D73D98}"/>
              </a:ext>
            </a:extLst>
          </p:cNvPr>
          <p:cNvCxnSpPr>
            <a:stCxn id="2" idx="0"/>
            <a:endCxn id="5" idx="2"/>
          </p:cNvCxnSpPr>
          <p:nvPr/>
        </p:nvCxnSpPr>
        <p:spPr>
          <a:xfrm flipV="1">
            <a:off x="2393879" y="2144303"/>
            <a:ext cx="953785" cy="79410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BBE5CFC-6C01-DC3E-093A-13AE9AFF0218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2661007" y="3273043"/>
            <a:ext cx="1179817" cy="5735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B655A28-7B83-3766-514F-48F8D8236139}"/>
              </a:ext>
            </a:extLst>
          </p:cNvPr>
          <p:cNvCxnSpPr>
            <a:stCxn id="5" idx="4"/>
          </p:cNvCxnSpPr>
          <p:nvPr/>
        </p:nvCxnSpPr>
        <p:spPr>
          <a:xfrm>
            <a:off x="3614792" y="2389598"/>
            <a:ext cx="402404" cy="12116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781E3F4-AA7F-215A-A571-4E86BCF52B55}"/>
              </a:ext>
            </a:extLst>
          </p:cNvPr>
          <p:cNvSpPr txBox="1"/>
          <p:nvPr/>
        </p:nvSpPr>
        <p:spPr>
          <a:xfrm>
            <a:off x="2661007" y="3492168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9DE0B8-4357-AD01-894B-2DC35C4D263D}"/>
              </a:ext>
            </a:extLst>
          </p:cNvPr>
          <p:cNvSpPr txBox="1"/>
          <p:nvPr/>
        </p:nvSpPr>
        <p:spPr>
          <a:xfrm>
            <a:off x="2438401" y="2093866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30D7F4-2EF7-283D-BCCC-545B86C5E01C}"/>
              </a:ext>
            </a:extLst>
          </p:cNvPr>
          <p:cNvSpPr txBox="1"/>
          <p:nvPr/>
        </p:nvSpPr>
        <p:spPr>
          <a:xfrm>
            <a:off x="3840824" y="2759480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-8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F12BA5E-6C71-865A-4A04-7886C4A34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880916"/>
              </p:ext>
            </p:extLst>
          </p:nvPr>
        </p:nvGraphicFramePr>
        <p:xfrm>
          <a:off x="6331451" y="2031541"/>
          <a:ext cx="4204413" cy="2409985"/>
        </p:xfrm>
        <a:graphic>
          <a:graphicData uri="http://schemas.openxmlformats.org/drawingml/2006/table">
            <a:tbl>
              <a:tblPr firstRow="1" bandRow="1"/>
              <a:tblGrid>
                <a:gridCol w="1401471">
                  <a:extLst>
                    <a:ext uri="{9D8B030D-6E8A-4147-A177-3AD203B41FA5}">
                      <a16:colId xmlns:a16="http://schemas.microsoft.com/office/drawing/2014/main" val="775101963"/>
                    </a:ext>
                  </a:extLst>
                </a:gridCol>
                <a:gridCol w="1401471">
                  <a:extLst>
                    <a:ext uri="{9D8B030D-6E8A-4147-A177-3AD203B41FA5}">
                      <a16:colId xmlns:a16="http://schemas.microsoft.com/office/drawing/2014/main" val="955084513"/>
                    </a:ext>
                  </a:extLst>
                </a:gridCol>
                <a:gridCol w="1401471">
                  <a:extLst>
                    <a:ext uri="{9D8B030D-6E8A-4147-A177-3AD203B41FA5}">
                      <a16:colId xmlns:a16="http://schemas.microsoft.com/office/drawing/2014/main" val="743249056"/>
                    </a:ext>
                  </a:extLst>
                </a:gridCol>
              </a:tblGrid>
              <a:tr h="481997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773722"/>
                  </a:ext>
                </a:extLst>
              </a:tr>
              <a:tr h="481997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823814"/>
                  </a:ext>
                </a:extLst>
              </a:tr>
              <a:tr h="481997"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4669407"/>
                  </a:ext>
                </a:extLst>
              </a:tr>
              <a:tr h="481997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A,C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610654"/>
                  </a:ext>
                </a:extLst>
              </a:tr>
              <a:tr h="481997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A,C,B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962188"/>
                  </a:ext>
                </a:extLst>
              </a:tr>
            </a:tbl>
          </a:graphicData>
        </a:graphic>
      </p:graphicFrame>
      <p:sp>
        <p:nvSpPr>
          <p:cNvPr id="21" name="Oval 20">
            <a:extLst>
              <a:ext uri="{FF2B5EF4-FFF2-40B4-BE49-F238E27FC236}">
                <a16:creationId xmlns:a16="http://schemas.microsoft.com/office/drawing/2014/main" id="{12ADC1D6-1E61-3D1D-5A41-51FB4F219906}"/>
              </a:ext>
            </a:extLst>
          </p:cNvPr>
          <p:cNvSpPr/>
          <p:nvPr/>
        </p:nvSpPr>
        <p:spPr>
          <a:xfrm>
            <a:off x="9657708" y="3082247"/>
            <a:ext cx="344187" cy="33321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856E03B-B63D-DD4C-FDA8-A269D44DF4A3}"/>
              </a:ext>
            </a:extLst>
          </p:cNvPr>
          <p:cNvSpPr/>
          <p:nvPr/>
        </p:nvSpPr>
        <p:spPr>
          <a:xfrm>
            <a:off x="8253859" y="3546723"/>
            <a:ext cx="359596" cy="36794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5E1A01-B71E-D614-18CC-81642063BB50}"/>
              </a:ext>
            </a:extLst>
          </p:cNvPr>
          <p:cNvSpPr txBox="1"/>
          <p:nvPr/>
        </p:nvSpPr>
        <p:spPr>
          <a:xfrm>
            <a:off x="1859622" y="4890499"/>
            <a:ext cx="482885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 answer: A-&gt;C distance =2</a:t>
            </a:r>
          </a:p>
        </p:txBody>
      </p:sp>
    </p:spTree>
    <p:extLst>
      <p:ext uri="{BB962C8B-B14F-4D97-AF65-F5344CB8AC3E}">
        <p14:creationId xmlns:p14="http://schemas.microsoft.com/office/powerpoint/2010/main" val="39260107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6B964D6A-287A-F3F3-FA70-E6EAE6EE3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6844FF0E-D1D5-EF47-E0C1-C6783135DB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 err="1">
                <a:solidFill>
                  <a:srgbClr val="833C0B"/>
                </a:solidFill>
              </a:rPr>
              <a:t>Bellmanford</a:t>
            </a:r>
            <a:r>
              <a:rPr lang="en-US" b="1" dirty="0">
                <a:solidFill>
                  <a:srgbClr val="833C0B"/>
                </a:solidFill>
              </a:rPr>
              <a:t> Algorithm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EE8389D3-1A92-423E-B442-10F1107682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For </a:t>
            </a:r>
            <a:r>
              <a:rPr lang="en-SG" sz="2500" dirty="0" err="1">
                <a:solidFill>
                  <a:schemeClr val="tx1"/>
                </a:solidFill>
              </a:rPr>
              <a:t>Bellmanford</a:t>
            </a:r>
            <a:r>
              <a:rPr lang="en-SG" sz="2500" dirty="0">
                <a:solidFill>
                  <a:schemeClr val="tx1"/>
                </a:solidFill>
              </a:rPr>
              <a:t> algorithm we have to relax each edge |V|-1 times.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Why relaxing edges |V|-1 times gives us SSSP?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Wingdings" panose="05000000000000000000" pitchFamily="2" charset="2"/>
              <a:buChar char="Ø"/>
            </a:pPr>
            <a:r>
              <a:rPr lang="en-SG" sz="2500" dirty="0">
                <a:solidFill>
                  <a:schemeClr val="tx1"/>
                </a:solidFill>
              </a:rPr>
              <a:t>A shortest path between two vertices can have at most (V - 1) edges.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Wingdings" panose="05000000000000000000" pitchFamily="2" charset="2"/>
              <a:buChar char="Ø"/>
            </a:pPr>
            <a:r>
              <a:rPr lang="en-SG" sz="2500" dirty="0">
                <a:solidFill>
                  <a:schemeClr val="tx1"/>
                </a:solidFill>
              </a:rPr>
              <a:t>It is not possible to have a simple path with more than (V - 1) edges (otherwise it would form a cycle). 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Wingdings" panose="05000000000000000000" pitchFamily="2" charset="2"/>
              <a:buChar char="Ø"/>
            </a:pPr>
            <a:r>
              <a:rPr lang="en-SG" sz="2500" dirty="0">
                <a:solidFill>
                  <a:schemeClr val="tx1"/>
                </a:solidFill>
              </a:rPr>
              <a:t>Therefore, repeating the relaxation process (V - 1) times ensures that all possible paths between source and any other node have been covered.</a:t>
            </a:r>
          </a:p>
        </p:txBody>
      </p:sp>
    </p:spTree>
    <p:extLst>
      <p:ext uri="{BB962C8B-B14F-4D97-AF65-F5344CB8AC3E}">
        <p14:creationId xmlns:p14="http://schemas.microsoft.com/office/powerpoint/2010/main" val="35407825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F6070E45-BED2-C184-56CF-233181C61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C82D337D-E438-03B5-0FE4-5F8FDCB8BC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Finding Negative Weight Cycle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44D9368-F424-EF96-79D2-734EC6DB4094}"/>
              </a:ext>
            </a:extLst>
          </p:cNvPr>
          <p:cNvSpPr/>
          <p:nvPr/>
        </p:nvSpPr>
        <p:spPr>
          <a:xfrm>
            <a:off x="2044558" y="1880171"/>
            <a:ext cx="534256" cy="49059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A4A574-BB3E-F12C-2F40-F5CF0B51909D}"/>
              </a:ext>
            </a:extLst>
          </p:cNvPr>
          <p:cNvSpPr txBox="1"/>
          <p:nvPr/>
        </p:nvSpPr>
        <p:spPr>
          <a:xfrm>
            <a:off x="2137025" y="1880171"/>
            <a:ext cx="4417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245C715-0C02-8DB1-F71D-C1FA4AA48546}"/>
              </a:ext>
            </a:extLst>
          </p:cNvPr>
          <p:cNvSpPr/>
          <p:nvPr/>
        </p:nvSpPr>
        <p:spPr>
          <a:xfrm>
            <a:off x="3902468" y="1880171"/>
            <a:ext cx="534256" cy="49059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0F4D78-CED4-809D-7E19-1E658AF7A593}"/>
              </a:ext>
            </a:extLst>
          </p:cNvPr>
          <p:cNvSpPr txBox="1"/>
          <p:nvPr/>
        </p:nvSpPr>
        <p:spPr>
          <a:xfrm>
            <a:off x="3994935" y="1880171"/>
            <a:ext cx="4417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5A3EB44-E2CC-107A-CBD8-B047DFDE7965}"/>
              </a:ext>
            </a:extLst>
          </p:cNvPr>
          <p:cNvSpPr/>
          <p:nvPr/>
        </p:nvSpPr>
        <p:spPr>
          <a:xfrm>
            <a:off x="5782638" y="1866634"/>
            <a:ext cx="534256" cy="49059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5DAE48-2E4C-D0A7-E336-CA5CFEC0B78A}"/>
              </a:ext>
            </a:extLst>
          </p:cNvPr>
          <p:cNvSpPr txBox="1"/>
          <p:nvPr/>
        </p:nvSpPr>
        <p:spPr>
          <a:xfrm>
            <a:off x="5875105" y="1866634"/>
            <a:ext cx="4417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3E024D6-DC39-3DAF-8793-3931ECCB6BCC}"/>
              </a:ext>
            </a:extLst>
          </p:cNvPr>
          <p:cNvCxnSpPr>
            <a:stCxn id="3" idx="3"/>
            <a:endCxn id="4" idx="2"/>
          </p:cNvCxnSpPr>
          <p:nvPr/>
        </p:nvCxnSpPr>
        <p:spPr>
          <a:xfrm>
            <a:off x="2578814" y="2118698"/>
            <a:ext cx="1323654" cy="67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FBC28DF-B342-5F2F-CBA1-12B619A1F570}"/>
              </a:ext>
            </a:extLst>
          </p:cNvPr>
          <p:cNvCxnSpPr>
            <a:cxnSpLocks/>
            <a:stCxn id="5" idx="3"/>
            <a:endCxn id="6" idx="2"/>
          </p:cNvCxnSpPr>
          <p:nvPr/>
        </p:nvCxnSpPr>
        <p:spPr>
          <a:xfrm flipV="1">
            <a:off x="4436724" y="2111930"/>
            <a:ext cx="1345914" cy="67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DB881D65-EB58-E10F-F65D-D37B81D26E60}"/>
              </a:ext>
            </a:extLst>
          </p:cNvPr>
          <p:cNvCxnSpPr>
            <a:stCxn id="6" idx="0"/>
            <a:endCxn id="5" idx="0"/>
          </p:cNvCxnSpPr>
          <p:nvPr/>
        </p:nvCxnSpPr>
        <p:spPr>
          <a:xfrm rot="16200000" flipH="1" flipV="1">
            <a:off x="5126029" y="956434"/>
            <a:ext cx="13537" cy="1833936"/>
          </a:xfrm>
          <a:prstGeom prst="bentConnector3">
            <a:avLst>
              <a:gd name="adj1" fmla="val -1688705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0A30B4A-FED9-DCF7-11E1-826617AF8111}"/>
              </a:ext>
            </a:extLst>
          </p:cNvPr>
          <p:cNvSpPr txBox="1"/>
          <p:nvPr/>
        </p:nvSpPr>
        <p:spPr>
          <a:xfrm>
            <a:off x="2785154" y="2132235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91F783-E8DD-10EC-0DFD-BDD805188D7A}"/>
              </a:ext>
            </a:extLst>
          </p:cNvPr>
          <p:cNvSpPr txBox="1"/>
          <p:nvPr/>
        </p:nvSpPr>
        <p:spPr>
          <a:xfrm>
            <a:off x="4685873" y="2132235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F232D6-A4AE-C06C-B6DC-925A6CB71046}"/>
              </a:ext>
            </a:extLst>
          </p:cNvPr>
          <p:cNvSpPr txBox="1"/>
          <p:nvPr/>
        </p:nvSpPr>
        <p:spPr>
          <a:xfrm>
            <a:off x="4798887" y="1189541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-30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596E08-F213-7034-5232-8DA8B4B2A292}"/>
              </a:ext>
            </a:extLst>
          </p:cNvPr>
          <p:cNvSpPr txBox="1"/>
          <p:nvPr/>
        </p:nvSpPr>
        <p:spPr>
          <a:xfrm>
            <a:off x="888359" y="3029831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R1: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24119CB-BB04-1122-FF4B-4D66071E2781}"/>
              </a:ext>
            </a:extLst>
          </p:cNvPr>
          <p:cNvSpPr/>
          <p:nvPr/>
        </p:nvSpPr>
        <p:spPr>
          <a:xfrm>
            <a:off x="2044558" y="4590836"/>
            <a:ext cx="534256" cy="49059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B06992-C4EB-EA14-3A68-FE8AB283277A}"/>
              </a:ext>
            </a:extLst>
          </p:cNvPr>
          <p:cNvSpPr txBox="1"/>
          <p:nvPr/>
        </p:nvSpPr>
        <p:spPr>
          <a:xfrm>
            <a:off x="2137025" y="4590836"/>
            <a:ext cx="4417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5806E5B-EB04-7310-8B0C-FF423F876020}"/>
              </a:ext>
            </a:extLst>
          </p:cNvPr>
          <p:cNvSpPr/>
          <p:nvPr/>
        </p:nvSpPr>
        <p:spPr>
          <a:xfrm>
            <a:off x="3902468" y="4590836"/>
            <a:ext cx="534256" cy="49059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B15E614-3FFD-9F7A-2F0F-4F4ADE9CF44E}"/>
              </a:ext>
            </a:extLst>
          </p:cNvPr>
          <p:cNvSpPr txBox="1"/>
          <p:nvPr/>
        </p:nvSpPr>
        <p:spPr>
          <a:xfrm>
            <a:off x="3994935" y="4590836"/>
            <a:ext cx="4417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1A2FC17-5D1E-8A72-3D99-8E9D5881213B}"/>
              </a:ext>
            </a:extLst>
          </p:cNvPr>
          <p:cNvSpPr/>
          <p:nvPr/>
        </p:nvSpPr>
        <p:spPr>
          <a:xfrm>
            <a:off x="5782638" y="4577299"/>
            <a:ext cx="534256" cy="49059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224B73-5896-0BA4-57A1-E130E51F9A9C}"/>
              </a:ext>
            </a:extLst>
          </p:cNvPr>
          <p:cNvSpPr txBox="1"/>
          <p:nvPr/>
        </p:nvSpPr>
        <p:spPr>
          <a:xfrm>
            <a:off x="5875105" y="4577299"/>
            <a:ext cx="4417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CF549D2-5FAB-2766-E438-5D4C552CC1D8}"/>
              </a:ext>
            </a:extLst>
          </p:cNvPr>
          <p:cNvCxnSpPr>
            <a:stCxn id="32" idx="3"/>
            <a:endCxn id="33" idx="2"/>
          </p:cNvCxnSpPr>
          <p:nvPr/>
        </p:nvCxnSpPr>
        <p:spPr>
          <a:xfrm>
            <a:off x="2578814" y="4829363"/>
            <a:ext cx="1323654" cy="67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12CF4DC-55A2-D9B6-95C8-1486F84103C5}"/>
              </a:ext>
            </a:extLst>
          </p:cNvPr>
          <p:cNvCxnSpPr>
            <a:stCxn id="34" idx="3"/>
            <a:endCxn id="35" idx="2"/>
          </p:cNvCxnSpPr>
          <p:nvPr/>
        </p:nvCxnSpPr>
        <p:spPr>
          <a:xfrm flipV="1">
            <a:off x="4436724" y="4822595"/>
            <a:ext cx="1345914" cy="67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EDF8911C-7C8D-C6EF-3312-D7755259B35E}"/>
              </a:ext>
            </a:extLst>
          </p:cNvPr>
          <p:cNvCxnSpPr>
            <a:stCxn id="35" idx="0"/>
            <a:endCxn id="34" idx="0"/>
          </p:cNvCxnSpPr>
          <p:nvPr/>
        </p:nvCxnSpPr>
        <p:spPr>
          <a:xfrm rot="16200000" flipH="1" flipV="1">
            <a:off x="5126029" y="3667099"/>
            <a:ext cx="13537" cy="1833936"/>
          </a:xfrm>
          <a:prstGeom prst="bentConnector3">
            <a:avLst>
              <a:gd name="adj1" fmla="val -1688705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09EA9AD-8458-CFDC-C781-EA3A4170D1CF}"/>
              </a:ext>
            </a:extLst>
          </p:cNvPr>
          <p:cNvSpPr txBox="1"/>
          <p:nvPr/>
        </p:nvSpPr>
        <p:spPr>
          <a:xfrm>
            <a:off x="2785154" y="4842900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F9F94E0-CFE2-091E-64A5-349DFFB5D72A}"/>
              </a:ext>
            </a:extLst>
          </p:cNvPr>
          <p:cNvSpPr txBox="1"/>
          <p:nvPr/>
        </p:nvSpPr>
        <p:spPr>
          <a:xfrm>
            <a:off x="4685873" y="4842900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685D579-7734-FA5B-36C8-9317B62362A1}"/>
              </a:ext>
            </a:extLst>
          </p:cNvPr>
          <p:cNvSpPr txBox="1"/>
          <p:nvPr/>
        </p:nvSpPr>
        <p:spPr>
          <a:xfrm>
            <a:off x="4798887" y="3900206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-30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0A82F89-E45F-EBD4-48E2-EF559C1B9600}"/>
              </a:ext>
            </a:extLst>
          </p:cNvPr>
          <p:cNvSpPr txBox="1"/>
          <p:nvPr/>
        </p:nvSpPr>
        <p:spPr>
          <a:xfrm>
            <a:off x="8489523" y="2990474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R2: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C393005-0290-F1D5-D015-6C33DBE16620}"/>
              </a:ext>
            </a:extLst>
          </p:cNvPr>
          <p:cNvSpPr/>
          <p:nvPr/>
        </p:nvSpPr>
        <p:spPr>
          <a:xfrm>
            <a:off x="7508697" y="4455559"/>
            <a:ext cx="534256" cy="49059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5DA5767-7535-AAF2-E34C-D41FE352486A}"/>
              </a:ext>
            </a:extLst>
          </p:cNvPr>
          <p:cNvSpPr txBox="1"/>
          <p:nvPr/>
        </p:nvSpPr>
        <p:spPr>
          <a:xfrm>
            <a:off x="7601164" y="4455559"/>
            <a:ext cx="4417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BC615C1-2E4A-1462-98D7-2F2EC1407919}"/>
              </a:ext>
            </a:extLst>
          </p:cNvPr>
          <p:cNvSpPr/>
          <p:nvPr/>
        </p:nvSpPr>
        <p:spPr>
          <a:xfrm>
            <a:off x="9366607" y="4455559"/>
            <a:ext cx="534256" cy="49059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B813EA0-DA24-B1EA-52C2-732E24163E43}"/>
              </a:ext>
            </a:extLst>
          </p:cNvPr>
          <p:cNvSpPr txBox="1"/>
          <p:nvPr/>
        </p:nvSpPr>
        <p:spPr>
          <a:xfrm>
            <a:off x="9459074" y="4455559"/>
            <a:ext cx="4417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4A53B661-D37F-849E-E0BD-5380D4F985F4}"/>
              </a:ext>
            </a:extLst>
          </p:cNvPr>
          <p:cNvSpPr/>
          <p:nvPr/>
        </p:nvSpPr>
        <p:spPr>
          <a:xfrm>
            <a:off x="11246777" y="4442022"/>
            <a:ext cx="534256" cy="49059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4835CF4-A3B9-7525-3CEC-ACDEC4DC8A10}"/>
              </a:ext>
            </a:extLst>
          </p:cNvPr>
          <p:cNvSpPr txBox="1"/>
          <p:nvPr/>
        </p:nvSpPr>
        <p:spPr>
          <a:xfrm>
            <a:off x="11339244" y="4442022"/>
            <a:ext cx="4417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E8F7CDC-22A9-D0F2-7F04-19379F9A08D2}"/>
              </a:ext>
            </a:extLst>
          </p:cNvPr>
          <p:cNvCxnSpPr>
            <a:stCxn id="59" idx="3"/>
            <a:endCxn id="60" idx="2"/>
          </p:cNvCxnSpPr>
          <p:nvPr/>
        </p:nvCxnSpPr>
        <p:spPr>
          <a:xfrm>
            <a:off x="8042953" y="4694086"/>
            <a:ext cx="1323654" cy="67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B84F55F-37D1-737B-6719-15FB66C92EC3}"/>
              </a:ext>
            </a:extLst>
          </p:cNvPr>
          <p:cNvCxnSpPr>
            <a:stCxn id="61" idx="3"/>
            <a:endCxn id="62" idx="2"/>
          </p:cNvCxnSpPr>
          <p:nvPr/>
        </p:nvCxnSpPr>
        <p:spPr>
          <a:xfrm flipV="1">
            <a:off x="9900863" y="4687318"/>
            <a:ext cx="1345914" cy="67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D7B77B6A-3EB6-6481-3D30-B54343CCD762}"/>
              </a:ext>
            </a:extLst>
          </p:cNvPr>
          <p:cNvCxnSpPr>
            <a:stCxn id="62" idx="0"/>
            <a:endCxn id="61" idx="0"/>
          </p:cNvCxnSpPr>
          <p:nvPr/>
        </p:nvCxnSpPr>
        <p:spPr>
          <a:xfrm rot="16200000" flipH="1" flipV="1">
            <a:off x="10590168" y="3531822"/>
            <a:ext cx="13537" cy="1833936"/>
          </a:xfrm>
          <a:prstGeom prst="bentConnector3">
            <a:avLst>
              <a:gd name="adj1" fmla="val -1688705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D49A9EFA-E2AA-6E3F-DC69-A4F080691E0B}"/>
              </a:ext>
            </a:extLst>
          </p:cNvPr>
          <p:cNvSpPr txBox="1"/>
          <p:nvPr/>
        </p:nvSpPr>
        <p:spPr>
          <a:xfrm>
            <a:off x="8249293" y="4707623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3D7ECA3-2804-9EA6-3D6D-DD98DFEC172A}"/>
              </a:ext>
            </a:extLst>
          </p:cNvPr>
          <p:cNvSpPr txBox="1"/>
          <p:nvPr/>
        </p:nvSpPr>
        <p:spPr>
          <a:xfrm>
            <a:off x="10150012" y="4707623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635DF43-2667-7C41-D54E-8E7C1B4ACE3A}"/>
              </a:ext>
            </a:extLst>
          </p:cNvPr>
          <p:cNvSpPr txBox="1"/>
          <p:nvPr/>
        </p:nvSpPr>
        <p:spPr>
          <a:xfrm>
            <a:off x="10263026" y="3764929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-30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B50F939-7978-DA44-53FE-15B071B59F7E}"/>
              </a:ext>
            </a:extLst>
          </p:cNvPr>
          <p:cNvSpPr txBox="1"/>
          <p:nvPr/>
        </p:nvSpPr>
        <p:spPr>
          <a:xfrm>
            <a:off x="1981201" y="2347283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140529B-2AB3-C139-2EF9-6C81AA7F3E73}"/>
              </a:ext>
            </a:extLst>
          </p:cNvPr>
          <p:cNvSpPr txBox="1"/>
          <p:nvPr/>
        </p:nvSpPr>
        <p:spPr>
          <a:xfrm>
            <a:off x="3835686" y="2384300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B9197E2-10B0-C2D2-EE45-0D7E97808EB6}"/>
              </a:ext>
            </a:extLst>
          </p:cNvPr>
          <p:cNvSpPr txBox="1"/>
          <p:nvPr/>
        </p:nvSpPr>
        <p:spPr>
          <a:xfrm>
            <a:off x="5782638" y="2393890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05402F7-B2C4-678C-8227-3643DDC6EFC0}"/>
              </a:ext>
            </a:extLst>
          </p:cNvPr>
          <p:cNvSpPr txBox="1"/>
          <p:nvPr/>
        </p:nvSpPr>
        <p:spPr>
          <a:xfrm>
            <a:off x="1992760" y="5081427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ACC2E25-22AC-A5FA-F897-485E1ABB22EF}"/>
              </a:ext>
            </a:extLst>
          </p:cNvPr>
          <p:cNvSpPr txBox="1"/>
          <p:nvPr/>
        </p:nvSpPr>
        <p:spPr>
          <a:xfrm>
            <a:off x="3841680" y="5059849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10B0343-95B9-7E81-68BB-30BF6A9B5091}"/>
              </a:ext>
            </a:extLst>
          </p:cNvPr>
          <p:cNvSpPr txBox="1"/>
          <p:nvPr/>
        </p:nvSpPr>
        <p:spPr>
          <a:xfrm>
            <a:off x="5742399" y="5091017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ADE9F31-85C6-91A2-78DF-3D1A323174E8}"/>
              </a:ext>
            </a:extLst>
          </p:cNvPr>
          <p:cNvSpPr txBox="1"/>
          <p:nvPr/>
        </p:nvSpPr>
        <p:spPr>
          <a:xfrm>
            <a:off x="7487722" y="4946150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B89E583-83FB-9721-18D6-E5715CB65F64}"/>
              </a:ext>
            </a:extLst>
          </p:cNvPr>
          <p:cNvSpPr txBox="1"/>
          <p:nvPr/>
        </p:nvSpPr>
        <p:spPr>
          <a:xfrm>
            <a:off x="9299825" y="4895542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9BDC618-1AD8-85EC-B8EB-556B7B0ED439}"/>
              </a:ext>
            </a:extLst>
          </p:cNvPr>
          <p:cNvSpPr txBox="1"/>
          <p:nvPr/>
        </p:nvSpPr>
        <p:spPr>
          <a:xfrm>
            <a:off x="11226228" y="4852490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EACA402-4263-532D-2837-E5DE8954E46B}"/>
              </a:ext>
            </a:extLst>
          </p:cNvPr>
          <p:cNvSpPr txBox="1"/>
          <p:nvPr/>
        </p:nvSpPr>
        <p:spPr>
          <a:xfrm>
            <a:off x="7349447" y="1372833"/>
            <a:ext cx="4431586" cy="1188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Relaxation:</a:t>
            </a:r>
          </a:p>
          <a:p>
            <a:pPr marL="69850" lvl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</a:pPr>
            <a:r>
              <a:rPr lang="en-SG" sz="25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d(u)+ c(</a:t>
            </a:r>
            <a:r>
              <a:rPr lang="en-SG" sz="25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u,v</a:t>
            </a:r>
            <a:r>
              <a:rPr lang="en-SG" sz="25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)&lt;d(v)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Then d(v)=d(u)+c(</a:t>
            </a:r>
            <a:r>
              <a:rPr lang="en-SG" sz="25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u,v</a:t>
            </a:r>
            <a:r>
              <a:rPr lang="en-SG" sz="25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SG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223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E5D3C157-35B2-B6AD-8902-D2113E691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ED6F2854-436B-D72A-7BDE-3785AD7D1E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Finding Negative Weight Cycle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21D8BEB-6B71-BA8C-D8B9-D8C0B5486CA7}"/>
              </a:ext>
            </a:extLst>
          </p:cNvPr>
          <p:cNvSpPr/>
          <p:nvPr/>
        </p:nvSpPr>
        <p:spPr>
          <a:xfrm>
            <a:off x="2044558" y="1880171"/>
            <a:ext cx="534256" cy="49059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341DBA-B5E4-8432-EC10-96747BB768AF}"/>
              </a:ext>
            </a:extLst>
          </p:cNvPr>
          <p:cNvSpPr txBox="1"/>
          <p:nvPr/>
        </p:nvSpPr>
        <p:spPr>
          <a:xfrm>
            <a:off x="2137025" y="1880171"/>
            <a:ext cx="4417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0FBD7FA-FD01-44E0-5F16-0650395B7BC0}"/>
              </a:ext>
            </a:extLst>
          </p:cNvPr>
          <p:cNvSpPr/>
          <p:nvPr/>
        </p:nvSpPr>
        <p:spPr>
          <a:xfrm>
            <a:off x="3902468" y="1880171"/>
            <a:ext cx="534256" cy="49059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BFA45E-4009-E84A-FB05-5DAC0B3015D0}"/>
              </a:ext>
            </a:extLst>
          </p:cNvPr>
          <p:cNvSpPr txBox="1"/>
          <p:nvPr/>
        </p:nvSpPr>
        <p:spPr>
          <a:xfrm>
            <a:off x="3994935" y="1880171"/>
            <a:ext cx="4417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D19E90A-F462-8CE3-0BBD-6744BA901E82}"/>
              </a:ext>
            </a:extLst>
          </p:cNvPr>
          <p:cNvSpPr/>
          <p:nvPr/>
        </p:nvSpPr>
        <p:spPr>
          <a:xfrm>
            <a:off x="5782638" y="1866634"/>
            <a:ext cx="534256" cy="49059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FD5AE-E8E8-FA3C-843B-0DE90DC4B938}"/>
              </a:ext>
            </a:extLst>
          </p:cNvPr>
          <p:cNvSpPr txBox="1"/>
          <p:nvPr/>
        </p:nvSpPr>
        <p:spPr>
          <a:xfrm>
            <a:off x="5875105" y="1866634"/>
            <a:ext cx="4417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FBD2660-FE69-ACD8-C393-D6BAFF2A2DB6}"/>
              </a:ext>
            </a:extLst>
          </p:cNvPr>
          <p:cNvCxnSpPr>
            <a:stCxn id="3" idx="3"/>
            <a:endCxn id="4" idx="2"/>
          </p:cNvCxnSpPr>
          <p:nvPr/>
        </p:nvCxnSpPr>
        <p:spPr>
          <a:xfrm>
            <a:off x="2578814" y="2118698"/>
            <a:ext cx="1323654" cy="67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E7E92AB-4C51-8CC1-C7DB-088EA9277315}"/>
              </a:ext>
            </a:extLst>
          </p:cNvPr>
          <p:cNvCxnSpPr>
            <a:cxnSpLocks/>
            <a:stCxn id="5" idx="3"/>
            <a:endCxn id="6" idx="2"/>
          </p:cNvCxnSpPr>
          <p:nvPr/>
        </p:nvCxnSpPr>
        <p:spPr>
          <a:xfrm flipV="1">
            <a:off x="4436724" y="2111930"/>
            <a:ext cx="1345914" cy="67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D009D66E-B21B-A47D-9F08-2B2AA55CD1A0}"/>
              </a:ext>
            </a:extLst>
          </p:cNvPr>
          <p:cNvCxnSpPr>
            <a:stCxn id="6" idx="0"/>
            <a:endCxn id="5" idx="0"/>
          </p:cNvCxnSpPr>
          <p:nvPr/>
        </p:nvCxnSpPr>
        <p:spPr>
          <a:xfrm rot="16200000" flipH="1" flipV="1">
            <a:off x="5126029" y="956434"/>
            <a:ext cx="13537" cy="1833936"/>
          </a:xfrm>
          <a:prstGeom prst="bentConnector3">
            <a:avLst>
              <a:gd name="adj1" fmla="val -1688705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A8F610B-410A-F7C9-7B33-0AEB424BC82B}"/>
              </a:ext>
            </a:extLst>
          </p:cNvPr>
          <p:cNvSpPr txBox="1"/>
          <p:nvPr/>
        </p:nvSpPr>
        <p:spPr>
          <a:xfrm>
            <a:off x="2785154" y="2132235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695621-9517-FB8B-7296-E8ACCA46A139}"/>
              </a:ext>
            </a:extLst>
          </p:cNvPr>
          <p:cNvSpPr txBox="1"/>
          <p:nvPr/>
        </p:nvSpPr>
        <p:spPr>
          <a:xfrm>
            <a:off x="4685873" y="2132235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7B9C62-B1A6-B5DD-9201-F7A5D0D45522}"/>
              </a:ext>
            </a:extLst>
          </p:cNvPr>
          <p:cNvSpPr txBox="1"/>
          <p:nvPr/>
        </p:nvSpPr>
        <p:spPr>
          <a:xfrm>
            <a:off x="4798887" y="1189541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-30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D947AD-F363-B096-0591-D35EC2DC9F21}"/>
              </a:ext>
            </a:extLst>
          </p:cNvPr>
          <p:cNvSpPr txBox="1"/>
          <p:nvPr/>
        </p:nvSpPr>
        <p:spPr>
          <a:xfrm>
            <a:off x="1977776" y="3201993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R2: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1026481-74E4-A972-1AE8-3063EDA121A4}"/>
              </a:ext>
            </a:extLst>
          </p:cNvPr>
          <p:cNvSpPr txBox="1"/>
          <p:nvPr/>
        </p:nvSpPr>
        <p:spPr>
          <a:xfrm>
            <a:off x="1981201" y="2347283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54A3935-9644-733A-BA6A-4095380B022D}"/>
              </a:ext>
            </a:extLst>
          </p:cNvPr>
          <p:cNvSpPr txBox="1"/>
          <p:nvPr/>
        </p:nvSpPr>
        <p:spPr>
          <a:xfrm>
            <a:off x="3835686" y="2384300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8F3AB6E-2EA0-810D-E34F-D2B831174454}"/>
              </a:ext>
            </a:extLst>
          </p:cNvPr>
          <p:cNvSpPr txBox="1"/>
          <p:nvPr/>
        </p:nvSpPr>
        <p:spPr>
          <a:xfrm>
            <a:off x="5782638" y="2393890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57B3274-03E8-3C82-E756-3AB6A085B2B5}"/>
              </a:ext>
            </a:extLst>
          </p:cNvPr>
          <p:cNvSpPr txBox="1"/>
          <p:nvPr/>
        </p:nvSpPr>
        <p:spPr>
          <a:xfrm>
            <a:off x="7349447" y="1372833"/>
            <a:ext cx="4431586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Relaxation:</a:t>
            </a:r>
          </a:p>
          <a:p>
            <a:pPr marL="69850" lvl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</a:pPr>
            <a:r>
              <a:rPr lang="en-SG" sz="25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d(u)+ c(</a:t>
            </a:r>
            <a:r>
              <a:rPr lang="en-SG" sz="25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u,v</a:t>
            </a:r>
            <a:r>
              <a:rPr lang="en-SG" sz="25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)&lt;d(v)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Then d(v)=d(u)+c(</a:t>
            </a:r>
            <a:r>
              <a:rPr lang="en-SG" sz="25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u,v</a:t>
            </a:r>
            <a:r>
              <a:rPr lang="en-SG" sz="25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|V|-1+1 times</a:t>
            </a:r>
            <a:endParaRPr lang="en-SG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7C56F57-6946-F95A-CFC9-6BDD42416AD2}"/>
              </a:ext>
            </a:extLst>
          </p:cNvPr>
          <p:cNvSpPr/>
          <p:nvPr/>
        </p:nvSpPr>
        <p:spPr>
          <a:xfrm>
            <a:off x="1931543" y="4485767"/>
            <a:ext cx="534256" cy="49059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DDCACC-AF0E-6932-5620-AA8B276E53E8}"/>
              </a:ext>
            </a:extLst>
          </p:cNvPr>
          <p:cNvSpPr txBox="1"/>
          <p:nvPr/>
        </p:nvSpPr>
        <p:spPr>
          <a:xfrm>
            <a:off x="2024010" y="4485767"/>
            <a:ext cx="4417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7DC570D-7F18-4CC2-22B8-4BDE4F089D5A}"/>
              </a:ext>
            </a:extLst>
          </p:cNvPr>
          <p:cNvSpPr/>
          <p:nvPr/>
        </p:nvSpPr>
        <p:spPr>
          <a:xfrm>
            <a:off x="3789453" y="4485767"/>
            <a:ext cx="534256" cy="49059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E61666-E9EE-B408-02FD-AAE790F1F8D6}"/>
              </a:ext>
            </a:extLst>
          </p:cNvPr>
          <p:cNvSpPr txBox="1"/>
          <p:nvPr/>
        </p:nvSpPr>
        <p:spPr>
          <a:xfrm>
            <a:off x="3881920" y="4485767"/>
            <a:ext cx="4417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11D89DC-75F9-57C4-7844-CC48B493B92E}"/>
              </a:ext>
            </a:extLst>
          </p:cNvPr>
          <p:cNvSpPr/>
          <p:nvPr/>
        </p:nvSpPr>
        <p:spPr>
          <a:xfrm>
            <a:off x="5669623" y="4472230"/>
            <a:ext cx="534256" cy="49059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1802EB-B64C-CFE8-9D20-7DD2766E8879}"/>
              </a:ext>
            </a:extLst>
          </p:cNvPr>
          <p:cNvSpPr txBox="1"/>
          <p:nvPr/>
        </p:nvSpPr>
        <p:spPr>
          <a:xfrm>
            <a:off x="5762090" y="4472230"/>
            <a:ext cx="4417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23219C3-DB13-433D-43D1-2A5613722225}"/>
              </a:ext>
            </a:extLst>
          </p:cNvPr>
          <p:cNvCxnSpPr>
            <a:stCxn id="9" idx="3"/>
            <a:endCxn id="11" idx="2"/>
          </p:cNvCxnSpPr>
          <p:nvPr/>
        </p:nvCxnSpPr>
        <p:spPr>
          <a:xfrm>
            <a:off x="2465799" y="4724294"/>
            <a:ext cx="1323654" cy="67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2828B61-FD4D-4AA9-9E09-56E916B1B0CA}"/>
              </a:ext>
            </a:extLst>
          </p:cNvPr>
          <p:cNvCxnSpPr>
            <a:stCxn id="13" idx="3"/>
            <a:endCxn id="19" idx="2"/>
          </p:cNvCxnSpPr>
          <p:nvPr/>
        </p:nvCxnSpPr>
        <p:spPr>
          <a:xfrm flipV="1">
            <a:off x="4323709" y="4717526"/>
            <a:ext cx="1345914" cy="67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A5F3BAFC-FC69-711A-6EF6-9C5D387B11C3}"/>
              </a:ext>
            </a:extLst>
          </p:cNvPr>
          <p:cNvCxnSpPr>
            <a:stCxn id="19" idx="0"/>
            <a:endCxn id="13" idx="0"/>
          </p:cNvCxnSpPr>
          <p:nvPr/>
        </p:nvCxnSpPr>
        <p:spPr>
          <a:xfrm rot="16200000" flipH="1" flipV="1">
            <a:off x="5013014" y="3562030"/>
            <a:ext cx="13537" cy="1833936"/>
          </a:xfrm>
          <a:prstGeom prst="bentConnector3">
            <a:avLst>
              <a:gd name="adj1" fmla="val -1688705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89FB31C-8C42-F9F6-3DCA-E23A1421099B}"/>
              </a:ext>
            </a:extLst>
          </p:cNvPr>
          <p:cNvSpPr txBox="1"/>
          <p:nvPr/>
        </p:nvSpPr>
        <p:spPr>
          <a:xfrm>
            <a:off x="2672139" y="4737831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36315E-32FF-BF32-9403-D52017D2E772}"/>
              </a:ext>
            </a:extLst>
          </p:cNvPr>
          <p:cNvSpPr txBox="1"/>
          <p:nvPr/>
        </p:nvSpPr>
        <p:spPr>
          <a:xfrm>
            <a:off x="4572858" y="4737831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BE8AAB-4C16-F355-AF43-05D3C2C445FB}"/>
              </a:ext>
            </a:extLst>
          </p:cNvPr>
          <p:cNvSpPr txBox="1"/>
          <p:nvPr/>
        </p:nvSpPr>
        <p:spPr>
          <a:xfrm>
            <a:off x="4685872" y="3795137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-30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77D4C7-24A4-0FE6-0695-C92F53A89609}"/>
              </a:ext>
            </a:extLst>
          </p:cNvPr>
          <p:cNvSpPr txBox="1"/>
          <p:nvPr/>
        </p:nvSpPr>
        <p:spPr>
          <a:xfrm>
            <a:off x="1910568" y="4976358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12EBC0-74ED-969F-32D0-E9602F18AEFF}"/>
              </a:ext>
            </a:extLst>
          </p:cNvPr>
          <p:cNvSpPr txBox="1"/>
          <p:nvPr/>
        </p:nvSpPr>
        <p:spPr>
          <a:xfrm>
            <a:off x="3722671" y="4925750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22A84A-131A-1C8A-CE52-FDEFD7DC348D}"/>
              </a:ext>
            </a:extLst>
          </p:cNvPr>
          <p:cNvSpPr txBox="1"/>
          <p:nvPr/>
        </p:nvSpPr>
        <p:spPr>
          <a:xfrm>
            <a:off x="5649074" y="4882698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25DF2A-14A0-DD51-7775-F7527E7AC1C6}"/>
              </a:ext>
            </a:extLst>
          </p:cNvPr>
          <p:cNvSpPr txBox="1"/>
          <p:nvPr/>
        </p:nvSpPr>
        <p:spPr>
          <a:xfrm>
            <a:off x="7495143" y="3183228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R3: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51DC6AD-2A36-058D-D09C-E7F01E6D86A8}"/>
              </a:ext>
            </a:extLst>
          </p:cNvPr>
          <p:cNvSpPr/>
          <p:nvPr/>
        </p:nvSpPr>
        <p:spPr>
          <a:xfrm>
            <a:off x="7444128" y="4442812"/>
            <a:ext cx="534256" cy="49059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181AFF-F5D1-F553-79A5-9CA57B23036D}"/>
              </a:ext>
            </a:extLst>
          </p:cNvPr>
          <p:cNvSpPr txBox="1"/>
          <p:nvPr/>
        </p:nvSpPr>
        <p:spPr>
          <a:xfrm>
            <a:off x="7536595" y="4442812"/>
            <a:ext cx="4417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E437037-C55C-D5C5-B3FF-E5AF9915E816}"/>
              </a:ext>
            </a:extLst>
          </p:cNvPr>
          <p:cNvSpPr/>
          <p:nvPr/>
        </p:nvSpPr>
        <p:spPr>
          <a:xfrm>
            <a:off x="9302038" y="4442812"/>
            <a:ext cx="534256" cy="49059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5EFD7D2-F644-8E6A-0742-FD181AB0C3CC}"/>
              </a:ext>
            </a:extLst>
          </p:cNvPr>
          <p:cNvSpPr txBox="1"/>
          <p:nvPr/>
        </p:nvSpPr>
        <p:spPr>
          <a:xfrm>
            <a:off x="9394505" y="4442812"/>
            <a:ext cx="4417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E8CB7B1-F8FE-C053-3F3E-DF935CBE7449}"/>
              </a:ext>
            </a:extLst>
          </p:cNvPr>
          <p:cNvSpPr/>
          <p:nvPr/>
        </p:nvSpPr>
        <p:spPr>
          <a:xfrm>
            <a:off x="11182208" y="4429275"/>
            <a:ext cx="534256" cy="49059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325D715-CEAE-CF90-9121-26BB80ECAB43}"/>
              </a:ext>
            </a:extLst>
          </p:cNvPr>
          <p:cNvSpPr txBox="1"/>
          <p:nvPr/>
        </p:nvSpPr>
        <p:spPr>
          <a:xfrm>
            <a:off x="11274675" y="4429275"/>
            <a:ext cx="44178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FD93FFB-A799-6C07-1E4E-8FD4C158C3F0}"/>
              </a:ext>
            </a:extLst>
          </p:cNvPr>
          <p:cNvCxnSpPr>
            <a:stCxn id="45" idx="3"/>
            <a:endCxn id="46" idx="2"/>
          </p:cNvCxnSpPr>
          <p:nvPr/>
        </p:nvCxnSpPr>
        <p:spPr>
          <a:xfrm>
            <a:off x="7978384" y="4681339"/>
            <a:ext cx="1323654" cy="67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194EF6B-0A68-0F22-1366-D9AEFB8AA37F}"/>
              </a:ext>
            </a:extLst>
          </p:cNvPr>
          <p:cNvCxnSpPr>
            <a:stCxn id="47" idx="3"/>
            <a:endCxn id="48" idx="2"/>
          </p:cNvCxnSpPr>
          <p:nvPr/>
        </p:nvCxnSpPr>
        <p:spPr>
          <a:xfrm flipV="1">
            <a:off x="9836294" y="4674571"/>
            <a:ext cx="1345914" cy="67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EF7CC50B-D000-52D6-B503-74C4C716557B}"/>
              </a:ext>
            </a:extLst>
          </p:cNvPr>
          <p:cNvCxnSpPr>
            <a:stCxn id="48" idx="0"/>
            <a:endCxn id="47" idx="0"/>
          </p:cNvCxnSpPr>
          <p:nvPr/>
        </p:nvCxnSpPr>
        <p:spPr>
          <a:xfrm rot="16200000" flipH="1" flipV="1">
            <a:off x="10525599" y="3519075"/>
            <a:ext cx="13537" cy="1833936"/>
          </a:xfrm>
          <a:prstGeom prst="bentConnector3">
            <a:avLst>
              <a:gd name="adj1" fmla="val -1688705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A383D69-A7F0-DB34-CBAE-A8726DBFE1FA}"/>
              </a:ext>
            </a:extLst>
          </p:cNvPr>
          <p:cNvSpPr txBox="1"/>
          <p:nvPr/>
        </p:nvSpPr>
        <p:spPr>
          <a:xfrm>
            <a:off x="8184724" y="4694876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2BD79C8-167A-A7FA-86A4-B0E301E97B40}"/>
              </a:ext>
            </a:extLst>
          </p:cNvPr>
          <p:cNvSpPr txBox="1"/>
          <p:nvPr/>
        </p:nvSpPr>
        <p:spPr>
          <a:xfrm>
            <a:off x="10085443" y="4694876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02C023E-3193-708A-1348-3D768BF37AAF}"/>
              </a:ext>
            </a:extLst>
          </p:cNvPr>
          <p:cNvSpPr txBox="1"/>
          <p:nvPr/>
        </p:nvSpPr>
        <p:spPr>
          <a:xfrm>
            <a:off x="10198457" y="3752182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-30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6FCB334-382C-CFC0-55A1-052A183537E0}"/>
              </a:ext>
            </a:extLst>
          </p:cNvPr>
          <p:cNvSpPr txBox="1"/>
          <p:nvPr/>
        </p:nvSpPr>
        <p:spPr>
          <a:xfrm>
            <a:off x="11231866" y="4882698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BA72FD5-B38D-E196-BF0A-B03DC1C8A79B}"/>
              </a:ext>
            </a:extLst>
          </p:cNvPr>
          <p:cNvSpPr txBox="1"/>
          <p:nvPr/>
        </p:nvSpPr>
        <p:spPr>
          <a:xfrm>
            <a:off x="9227195" y="4925750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9A1FF7A-DB25-3847-5E7F-63B7AA9E32A1}"/>
              </a:ext>
            </a:extLst>
          </p:cNvPr>
          <p:cNvSpPr txBox="1"/>
          <p:nvPr/>
        </p:nvSpPr>
        <p:spPr>
          <a:xfrm>
            <a:off x="7333682" y="4882698"/>
            <a:ext cx="6678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2535155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8C414FF6-89D9-BEAA-34CF-7D5AA2B28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B89B6A06-4429-65D1-3414-84E18719C1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Negative Weight Cycle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3C4ADC7A-7CB3-AAA1-BCC6-E2AB429F03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Why we cannot find min distance for a graph with negative weight cycle?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Wingdings" panose="05000000000000000000" pitchFamily="2" charset="2"/>
              <a:buChar char="Ø"/>
            </a:pPr>
            <a:r>
              <a:rPr lang="en-SG" sz="2500" dirty="0">
                <a:solidFill>
                  <a:schemeClr val="tx1"/>
                </a:solidFill>
              </a:rPr>
              <a:t>In the presence of negative weight cycle in the graph, the shortest path doesn’t exist.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Wingdings" panose="05000000000000000000" pitchFamily="2" charset="2"/>
              <a:buChar char="Ø"/>
            </a:pPr>
            <a:r>
              <a:rPr lang="en-SG" sz="2500" dirty="0">
                <a:solidFill>
                  <a:schemeClr val="tx1"/>
                </a:solidFill>
              </a:rPr>
              <a:t>Because with each traversal of the cycle shortest path keeps decreasing.</a:t>
            </a:r>
          </a:p>
        </p:txBody>
      </p:sp>
    </p:spTree>
    <p:extLst>
      <p:ext uri="{BB962C8B-B14F-4D97-AF65-F5344CB8AC3E}">
        <p14:creationId xmlns:p14="http://schemas.microsoft.com/office/powerpoint/2010/main" val="27099315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03935786-8189-739B-3A10-57D5D7641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CD01B0B4-7DB4-960A-39AD-CBE849B56B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Time Complexity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8" name="Google Shape;102;p3">
            <a:extLst>
              <a:ext uri="{FF2B5EF4-FFF2-40B4-BE49-F238E27FC236}">
                <a16:creationId xmlns:a16="http://schemas.microsoft.com/office/drawing/2014/main" id="{917A818F-EBF4-E12E-26F3-D25FFCA654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for each vertex v ∈ G do</a:t>
            </a:r>
          </a:p>
          <a:p>
            <a:pPr marL="69850" lvl="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</a:t>
            </a:r>
            <a:r>
              <a:rPr lang="en-SG" sz="2500" dirty="0" err="1">
                <a:solidFill>
                  <a:schemeClr val="tx1"/>
                </a:solidFill>
              </a:rPr>
              <a:t>dist</a:t>
            </a:r>
            <a:r>
              <a:rPr lang="en-SG" sz="2500" dirty="0">
                <a:solidFill>
                  <a:schemeClr val="tx1"/>
                </a:solidFill>
              </a:rPr>
              <a:t>[v] = ∞                                                                 O(V)</a:t>
            </a:r>
          </a:p>
          <a:p>
            <a:pPr marL="69850" lvl="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 err="1">
                <a:solidFill>
                  <a:schemeClr val="tx1"/>
                </a:solidFill>
              </a:rPr>
              <a:t>dist</a:t>
            </a:r>
            <a:r>
              <a:rPr lang="en-SG" sz="2500" dirty="0">
                <a:solidFill>
                  <a:schemeClr val="tx1"/>
                </a:solidFill>
              </a:rPr>
              <a:t>[S] = 0</a:t>
            </a:r>
          </a:p>
          <a:p>
            <a:pPr marL="69850" lvl="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pl-PL" sz="2500" dirty="0">
                <a:solidFill>
                  <a:schemeClr val="tx1"/>
                </a:solidFill>
              </a:rPr>
              <a:t>for i = 1 to |V| − 1 do</a:t>
            </a:r>
          </a:p>
          <a:p>
            <a:pPr marL="69850" lvl="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pl-PL" sz="2500" dirty="0">
                <a:solidFill>
                  <a:schemeClr val="tx1"/>
                </a:solidFill>
              </a:rPr>
              <a:t>    for each edge (u, v) ∈ G do</a:t>
            </a:r>
          </a:p>
          <a:p>
            <a:pPr marL="69850" lvl="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pl-PL" sz="2500" dirty="0">
                <a:solidFill>
                  <a:schemeClr val="tx1"/>
                </a:solidFill>
              </a:rPr>
              <a:t>        Relax(u, v, </a:t>
            </a:r>
            <a:r>
              <a:rPr lang="en-SG" sz="2500" dirty="0">
                <a:solidFill>
                  <a:schemeClr val="tx1"/>
                </a:solidFill>
              </a:rPr>
              <a:t>c</a:t>
            </a:r>
            <a:r>
              <a:rPr lang="pl-PL" sz="2500" dirty="0">
                <a:solidFill>
                  <a:schemeClr val="tx1"/>
                </a:solidFill>
              </a:rPr>
              <a:t>)</a:t>
            </a:r>
            <a:r>
              <a:rPr lang="en-SG" sz="2500" dirty="0">
                <a:solidFill>
                  <a:schemeClr val="tx1"/>
                </a:solidFill>
              </a:rPr>
              <a:t>                                                          </a:t>
            </a:r>
            <a:r>
              <a:rPr lang="en-SG" sz="2500" dirty="0">
                <a:solidFill>
                  <a:srgbClr val="FF0000"/>
                </a:solidFill>
              </a:rPr>
              <a:t>O(VE)</a:t>
            </a:r>
          </a:p>
          <a:p>
            <a:pPr marL="69850" lvl="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for each edge (u, v) ∈ G do</a:t>
            </a:r>
          </a:p>
          <a:p>
            <a:pPr marL="69850" lvl="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if </a:t>
            </a:r>
            <a:r>
              <a:rPr lang="en-SG" sz="2500" dirty="0" err="1">
                <a:solidFill>
                  <a:schemeClr val="tx1"/>
                </a:solidFill>
              </a:rPr>
              <a:t>dist</a:t>
            </a:r>
            <a:r>
              <a:rPr lang="en-SG" sz="2500" dirty="0">
                <a:solidFill>
                  <a:schemeClr val="tx1"/>
                </a:solidFill>
              </a:rPr>
              <a:t>[u] + c(</a:t>
            </a:r>
            <a:r>
              <a:rPr lang="en-SG" sz="2500" dirty="0" err="1">
                <a:solidFill>
                  <a:schemeClr val="tx1"/>
                </a:solidFill>
              </a:rPr>
              <a:t>u,v</a:t>
            </a:r>
            <a:r>
              <a:rPr lang="en-SG" sz="2500" dirty="0">
                <a:solidFill>
                  <a:schemeClr val="tx1"/>
                </a:solidFill>
              </a:rPr>
              <a:t>) &lt; </a:t>
            </a:r>
            <a:r>
              <a:rPr lang="en-SG" sz="2500" dirty="0" err="1">
                <a:solidFill>
                  <a:schemeClr val="tx1"/>
                </a:solidFill>
              </a:rPr>
              <a:t>dist</a:t>
            </a:r>
            <a:r>
              <a:rPr lang="en-SG" sz="2500" dirty="0">
                <a:solidFill>
                  <a:schemeClr val="tx1"/>
                </a:solidFill>
              </a:rPr>
              <a:t>[v]                                                O(E)</a:t>
            </a:r>
          </a:p>
          <a:p>
            <a:pPr marL="69850" lvl="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   return "Graph contains negative weight cycle“</a:t>
            </a:r>
          </a:p>
          <a:p>
            <a:pPr marL="69850" lvl="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69850" lvl="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return distance</a:t>
            </a:r>
          </a:p>
          <a:p>
            <a:pPr marL="69850" lvl="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CCE6B7B-81F5-D678-3982-FBF284989201}"/>
              </a:ext>
            </a:extLst>
          </p:cNvPr>
          <p:cNvCxnSpPr>
            <a:cxnSpLocks/>
          </p:cNvCxnSpPr>
          <p:nvPr/>
        </p:nvCxnSpPr>
        <p:spPr>
          <a:xfrm>
            <a:off x="4017196" y="2332234"/>
            <a:ext cx="271237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0A78ACA-92E7-C344-2040-915D3AC4ECC3}"/>
              </a:ext>
            </a:extLst>
          </p:cNvPr>
          <p:cNvCxnSpPr>
            <a:cxnSpLocks/>
          </p:cNvCxnSpPr>
          <p:nvPr/>
        </p:nvCxnSpPr>
        <p:spPr>
          <a:xfrm>
            <a:off x="4470971" y="3881920"/>
            <a:ext cx="225860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9928919-0273-8470-EB93-3D634B5CDAD6}"/>
              </a:ext>
            </a:extLst>
          </p:cNvPr>
          <p:cNvCxnSpPr>
            <a:cxnSpLocks/>
          </p:cNvCxnSpPr>
          <p:nvPr/>
        </p:nvCxnSpPr>
        <p:spPr>
          <a:xfrm>
            <a:off x="5137079" y="4732963"/>
            <a:ext cx="225860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92689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</a:pPr>
            <a:endParaRPr sz="8000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lang="en-US" sz="8000" dirty="0">
                <a:solidFill>
                  <a:srgbClr val="C00000"/>
                </a:solidFill>
              </a:rPr>
              <a:t>Thank You</a:t>
            </a:r>
            <a:endParaRPr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2679</TotalTime>
  <Words>1721</Words>
  <Application>Microsoft Office PowerPoint</Application>
  <PresentationFormat>Widescreen</PresentationFormat>
  <Paragraphs>526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Wingdings</vt:lpstr>
      <vt:lpstr>Office Theme</vt:lpstr>
      <vt:lpstr>Graph Related Algorithms: Single Source Shortest Path</vt:lpstr>
      <vt:lpstr>Introduction</vt:lpstr>
      <vt:lpstr>Shortest Path Problem</vt:lpstr>
      <vt:lpstr>Shortest Path Problem</vt:lpstr>
      <vt:lpstr>Cost of a Path</vt:lpstr>
      <vt:lpstr>Cost of a Path</vt:lpstr>
      <vt:lpstr>Cost of a Path</vt:lpstr>
      <vt:lpstr>SSSP Algorithms</vt:lpstr>
      <vt:lpstr>Dijkstra’s Algorithm</vt:lpstr>
      <vt:lpstr>Dijkstra’s Algorithm</vt:lpstr>
      <vt:lpstr>Dijkstra’s Algorithm: Working</vt:lpstr>
      <vt:lpstr>Algorithm Simulation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Example: Solution</vt:lpstr>
      <vt:lpstr>Time Complexity</vt:lpstr>
      <vt:lpstr>Bellmanford Algorithm</vt:lpstr>
      <vt:lpstr>Negative Edge Cycle</vt:lpstr>
      <vt:lpstr>Why Dijkstra’s Algorithm Fails</vt:lpstr>
      <vt:lpstr>Bellmanford Algorithm</vt:lpstr>
      <vt:lpstr>Finding Negative Weight Cycle</vt:lpstr>
      <vt:lpstr>Finding Negative Weight Cycle</vt:lpstr>
      <vt:lpstr>Negative Weight Cycle</vt:lpstr>
      <vt:lpstr>Time Complexity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Insanur Shuvo</dc:creator>
  <cp:lastModifiedBy>Maimuna Chowdhury Disha</cp:lastModifiedBy>
  <cp:revision>42</cp:revision>
  <dcterms:created xsi:type="dcterms:W3CDTF">2016-09-19T04:08:53Z</dcterms:created>
  <dcterms:modified xsi:type="dcterms:W3CDTF">2026-03-16T07:01:15Z</dcterms:modified>
</cp:coreProperties>
</file>