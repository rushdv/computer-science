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403" r:id="rId3"/>
    <p:sldId id="431" r:id="rId4"/>
    <p:sldId id="432" r:id="rId5"/>
    <p:sldId id="380" r:id="rId6"/>
    <p:sldId id="444" r:id="rId7"/>
    <p:sldId id="433" r:id="rId8"/>
    <p:sldId id="445" r:id="rId9"/>
    <p:sldId id="435" r:id="rId10"/>
    <p:sldId id="446" r:id="rId11"/>
    <p:sldId id="447" r:id="rId12"/>
    <p:sldId id="436" r:id="rId13"/>
    <p:sldId id="437" r:id="rId14"/>
    <p:sldId id="281" r:id="rId1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9" roundtripDataSignature="AMtx7mgSE3pmRORSF/beTMrWOScEMNows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0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9" Type="http://customschemas.google.com/relationships/presentationmetadata" Target="metadata"/><Relationship Id="rId3" Type="http://schemas.openxmlformats.org/officeDocument/2006/relationships/slide" Target="slides/slide2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3401B2A7-9FA7-FBBA-4A61-0AF74AC10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9E3CEF69-5871-AA18-B49C-0C3821EDAB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21D8F8FB-7039-E06F-0EA7-389F00BD6A5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960943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9B25853B-D147-D1A4-BA75-AD06EB5D30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2A32D24E-CB6B-0055-8F25-B5D27967F23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1CC350FF-3B9B-1DB2-6E38-EB4C60876C6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081183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1B3FE435-3DF5-2BD6-0153-E70B0B1333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6B543230-0F1D-9AE7-C1EF-E1426027EC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CCC6B5D2-18E8-4D19-821C-463AEB9A752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610899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F4ECF8D3-1C28-6D1E-F13B-99E8AE6DF8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6F524784-EF93-E1BF-DF00-16418773835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2621FAF9-FB8D-8796-B555-B4315C04892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246321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90891EA9-98BB-96FA-EF19-34F5421341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EAA627E6-ECBA-861A-520B-F3B8B812AE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FAFBF965-C3F7-37FE-D383-8F2B5C31DEE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617504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472B97CC-6EA1-BD79-1ECA-FDFA585203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96ACFCEF-50A0-A155-E09C-CB811A83958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D618D14A-6393-3EAF-62AF-E24B1322BC0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835464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7D86FA60-7327-BEAB-94B5-37277A6E67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D98D8376-1BFB-7AA8-9451-45D50D12C2E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394771D5-20E4-8015-A6A8-09744F09844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924840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005034C6-732E-FD16-38FF-0A910F2EA0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D067C238-C852-DCA1-B79A-E210EBCED5E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B537E76E-5D1A-C0C0-1A39-8FD1A78DEA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679983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9A465469-1A5F-B5C1-4517-855068FF9D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E064F5E8-8E7C-C140-7274-B540DDFE57E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7872C169-6714-7A69-6439-B94AA5CA5FF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1476723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FE1F9C41-E3CE-5545-F5CC-257E2F1C17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50DBB40A-A31E-93A9-9F6C-29ABBEF720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2728CC2F-8B26-4D1D-A180-D7DFBCFA285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1170477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8CEF36A2-6BBF-4131-0417-9DCA3763E4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84F71DE4-A637-EEF2-67E1-52BF560F65A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F02B213C-301D-EA08-47ED-C698591691E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4790355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7D1881CD-33C5-001D-5D8C-7695405598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0B7AB00D-4D8F-FED1-E74F-EC81EB6160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1A10B3A4-DA05-EB45-9340-04FBCB4EB4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5101302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3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3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3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3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3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3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3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3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3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3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3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3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3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35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35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3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3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6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6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3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3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37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3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3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8"/>
          <p:cNvSpPr txBox="1">
            <a:spLocks noGrp="1"/>
          </p:cNvSpPr>
          <p:nvPr>
            <p:ph type="title"/>
          </p:nvPr>
        </p:nvSpPr>
        <p:spPr>
          <a:xfrm rot="5400000">
            <a:off x="7133400" y="1956625"/>
            <a:ext cx="5811900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38"/>
          <p:cNvSpPr txBox="1">
            <a:spLocks noGrp="1"/>
          </p:cNvSpPr>
          <p:nvPr>
            <p:ph type="body" idx="1"/>
          </p:nvPr>
        </p:nvSpPr>
        <p:spPr>
          <a:xfrm rot="5400000">
            <a:off x="1799400" y="-596075"/>
            <a:ext cx="5811900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3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3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3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>
            <a:spLocks noGrp="1"/>
          </p:cNvSpPr>
          <p:nvPr>
            <p:ph type="ctrTitle"/>
          </p:nvPr>
        </p:nvSpPr>
        <p:spPr>
          <a:xfrm>
            <a:off x="1701421" y="1484029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5400"/>
              <a:buFont typeface="Calibri"/>
              <a:buNone/>
            </a:pPr>
            <a:r>
              <a:rPr lang="en-US" sz="5400" b="1" dirty="0">
                <a:solidFill>
                  <a:srgbClr val="833C0B"/>
                </a:solidFill>
              </a:rPr>
              <a:t>Approximation Algorithm</a:t>
            </a:r>
            <a:endParaRPr dirty="0">
              <a:solidFill>
                <a:srgbClr val="833C0B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E576F098-D70D-A6E9-0986-FC711D9EF0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>
            <a:extLst>
              <a:ext uri="{FF2B5EF4-FFF2-40B4-BE49-F238E27FC236}">
                <a16:creationId xmlns:a16="http://schemas.microsoft.com/office/drawing/2014/main" id="{C13ACAC0-2183-75B4-FBDB-E6CE24BEA78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33735" y="2150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SG" b="1" dirty="0">
                <a:solidFill>
                  <a:srgbClr val="833C0B"/>
                </a:solidFill>
              </a:rPr>
              <a:t>Introduction</a:t>
            </a:r>
            <a:endParaRPr lang="en-SG" dirty="0">
              <a:solidFill>
                <a:srgbClr val="833C0B"/>
              </a:solidFill>
            </a:endParaRPr>
          </a:p>
        </p:txBody>
      </p:sp>
      <p:sp>
        <p:nvSpPr>
          <p:cNvPr id="4" name="Google Shape;102;p3">
            <a:extLst>
              <a:ext uri="{FF2B5EF4-FFF2-40B4-BE49-F238E27FC236}">
                <a16:creationId xmlns:a16="http://schemas.microsoft.com/office/drawing/2014/main" id="{04CC451F-CFD1-5E52-30F8-C40DD17873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540563"/>
            <a:ext cx="10515600" cy="47493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endParaRPr lang="en-SG" sz="2500" dirty="0">
              <a:solidFill>
                <a:schemeClr val="tx1"/>
              </a:solidFill>
            </a:endParaRP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r>
              <a:rPr lang="en-SG" sz="2500" dirty="0">
                <a:solidFill>
                  <a:schemeClr val="tx1"/>
                </a:solidFill>
              </a:rPr>
              <a:t>Approximation algorithms are a class of algorithms designed to find solutions to optimization problems where obtaining an exact solution is computationally infeasible.</a:t>
            </a: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r>
              <a:rPr lang="en-SG" sz="2500" dirty="0">
                <a:solidFill>
                  <a:schemeClr val="tx1"/>
                </a:solidFill>
              </a:rPr>
              <a:t>These problems are not solvable in polynomial time.</a:t>
            </a: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r>
              <a:rPr lang="en-SG" sz="2500" dirty="0">
                <a:solidFill>
                  <a:schemeClr val="tx1"/>
                </a:solidFill>
              </a:rPr>
              <a:t>These problems are known as NP hard problems.</a:t>
            </a: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r>
              <a:rPr lang="en-SG" sz="2500" dirty="0">
                <a:solidFill>
                  <a:schemeClr val="tx1"/>
                </a:solidFill>
              </a:rPr>
              <a:t>These problems are significantly effective to solve real world problems.</a:t>
            </a:r>
          </a:p>
        </p:txBody>
      </p:sp>
    </p:spTree>
    <p:extLst>
      <p:ext uri="{BB962C8B-B14F-4D97-AF65-F5344CB8AC3E}">
        <p14:creationId xmlns:p14="http://schemas.microsoft.com/office/powerpoint/2010/main" val="5638469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E1263E8B-7915-6FC8-C02B-B7B4CF2347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>
            <a:extLst>
              <a:ext uri="{FF2B5EF4-FFF2-40B4-BE49-F238E27FC236}">
                <a16:creationId xmlns:a16="http://schemas.microsoft.com/office/drawing/2014/main" id="{B0D93679-E22E-9F65-106F-4705FCEF4D8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33735" y="2150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SG" b="1" dirty="0">
                <a:solidFill>
                  <a:srgbClr val="833C0B"/>
                </a:solidFill>
              </a:rPr>
              <a:t>Introduction</a:t>
            </a:r>
            <a:endParaRPr lang="en-SG" dirty="0">
              <a:solidFill>
                <a:srgbClr val="833C0B"/>
              </a:solidFill>
            </a:endParaRPr>
          </a:p>
        </p:txBody>
      </p:sp>
      <p:sp>
        <p:nvSpPr>
          <p:cNvPr id="4" name="Google Shape;102;p3">
            <a:extLst>
              <a:ext uri="{FF2B5EF4-FFF2-40B4-BE49-F238E27FC236}">
                <a16:creationId xmlns:a16="http://schemas.microsoft.com/office/drawing/2014/main" id="{617BD053-C3F5-DD42-9BB6-F56B77D139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540563"/>
            <a:ext cx="10515600" cy="47493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endParaRPr lang="en-SG" sz="2500" dirty="0">
              <a:solidFill>
                <a:schemeClr val="tx1"/>
              </a:solidFill>
            </a:endParaRP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r>
              <a:rPr lang="en-SG" sz="2500" dirty="0">
                <a:solidFill>
                  <a:schemeClr val="tx1"/>
                </a:solidFill>
              </a:rPr>
              <a:t>Use of heuristics may help to solve a large instance of problem quickly. We have seen backtracking and branch-and-bound.</a:t>
            </a: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r>
              <a:rPr lang="en-SG" sz="2500" dirty="0">
                <a:solidFill>
                  <a:schemeClr val="tx1"/>
                </a:solidFill>
              </a:rPr>
              <a:t>A heuristic, however, does not work equally effectively on all problem instances. Depending on input, they may take exponential time.</a:t>
            </a: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r>
              <a:rPr lang="en-SG" sz="2500" dirty="0">
                <a:solidFill>
                  <a:schemeClr val="tx1"/>
                </a:solidFill>
              </a:rPr>
              <a:t>Instead of finding an optimal solution, we will try to find a solution that is closer to optimal solution.</a:t>
            </a:r>
          </a:p>
        </p:txBody>
      </p:sp>
    </p:spTree>
    <p:extLst>
      <p:ext uri="{BB962C8B-B14F-4D97-AF65-F5344CB8AC3E}">
        <p14:creationId xmlns:p14="http://schemas.microsoft.com/office/powerpoint/2010/main" val="11727614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DF65FB22-1544-6007-2A8E-D5AF7AB4B2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>
            <a:extLst>
              <a:ext uri="{FF2B5EF4-FFF2-40B4-BE49-F238E27FC236}">
                <a16:creationId xmlns:a16="http://schemas.microsoft.com/office/drawing/2014/main" id="{CA61E96D-FF08-7F68-534A-D95B050170E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33735" y="2150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SG" b="1" dirty="0">
                <a:solidFill>
                  <a:srgbClr val="833C0B"/>
                </a:solidFill>
              </a:rPr>
              <a:t>Introduction</a:t>
            </a:r>
            <a:endParaRPr lang="en-SG" dirty="0">
              <a:solidFill>
                <a:srgbClr val="833C0B"/>
              </a:solidFill>
            </a:endParaRPr>
          </a:p>
        </p:txBody>
      </p:sp>
      <p:sp>
        <p:nvSpPr>
          <p:cNvPr id="4" name="Google Shape;102;p3">
            <a:extLst>
              <a:ext uri="{FF2B5EF4-FFF2-40B4-BE49-F238E27FC236}">
                <a16:creationId xmlns:a16="http://schemas.microsoft.com/office/drawing/2014/main" id="{3E234F76-90DB-B111-B5F1-7904BA6755A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540563"/>
            <a:ext cx="10515600" cy="47493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endParaRPr lang="en-SG" sz="2500" dirty="0">
              <a:solidFill>
                <a:schemeClr val="tx1"/>
              </a:solidFill>
            </a:endParaRP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r>
              <a:rPr lang="en-SG" sz="2500" dirty="0">
                <a:solidFill>
                  <a:schemeClr val="tx1"/>
                </a:solidFill>
              </a:rPr>
              <a:t>A feasible solution with value close to the value of an optimal solution is called an approximate solution.</a:t>
            </a: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r>
              <a:rPr lang="en-SG" sz="2500" dirty="0">
                <a:solidFill>
                  <a:schemeClr val="tx1"/>
                </a:solidFill>
              </a:rPr>
              <a:t>An approximation algorithm for P is an algorithm that generates approximate solutions for P.</a:t>
            </a:r>
          </a:p>
        </p:txBody>
      </p:sp>
    </p:spTree>
    <p:extLst>
      <p:ext uri="{BB962C8B-B14F-4D97-AF65-F5344CB8AC3E}">
        <p14:creationId xmlns:p14="http://schemas.microsoft.com/office/powerpoint/2010/main" val="38938503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A848B1E1-BD59-F7E3-5A06-7EE99E0C0C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>
            <a:extLst>
              <a:ext uri="{FF2B5EF4-FFF2-40B4-BE49-F238E27FC236}">
                <a16:creationId xmlns:a16="http://schemas.microsoft.com/office/drawing/2014/main" id="{99560A57-0E42-49C8-6BC2-D091B18BD1F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33735" y="2150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US" b="1" dirty="0">
                <a:solidFill>
                  <a:srgbClr val="833C0B"/>
                </a:solidFill>
              </a:rPr>
              <a:t>Vertex Cover Problem</a:t>
            </a:r>
            <a:endParaRPr dirty="0">
              <a:solidFill>
                <a:srgbClr val="833C0B"/>
              </a:solidFill>
            </a:endParaRPr>
          </a:p>
        </p:txBody>
      </p:sp>
      <p:sp>
        <p:nvSpPr>
          <p:cNvPr id="2" name="Google Shape;102;p3">
            <a:extLst>
              <a:ext uri="{FF2B5EF4-FFF2-40B4-BE49-F238E27FC236}">
                <a16:creationId xmlns:a16="http://schemas.microsoft.com/office/drawing/2014/main" id="{9D4C9FD5-96CF-A829-D617-1A030271ABA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540563"/>
            <a:ext cx="10515600" cy="47493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endParaRPr lang="en-SG" sz="2500" dirty="0">
              <a:solidFill>
                <a:schemeClr val="tx1"/>
              </a:solidFill>
            </a:endParaRP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r>
              <a:rPr lang="en-SG" sz="2500" dirty="0">
                <a:solidFill>
                  <a:schemeClr val="tx1"/>
                </a:solidFill>
              </a:rPr>
              <a:t>A vertex cover of an undirected graph is a subset of its vertices such that for every edge (u, v) of the graph, either 'u' or 'v’ or both is in the vertex cover.</a:t>
            </a: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endParaRPr lang="en-SG" sz="2500" dirty="0">
              <a:solidFill>
                <a:schemeClr val="tx1"/>
              </a:solidFill>
            </a:endParaRP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r>
              <a:rPr lang="en-SG" sz="2500" dirty="0">
                <a:solidFill>
                  <a:schemeClr val="tx1"/>
                </a:solidFill>
              </a:rPr>
              <a:t>Although the name is Vertex Cover, the set covers all edges of the given graph.</a:t>
            </a: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endParaRPr lang="en-SG" sz="2500" dirty="0">
              <a:solidFill>
                <a:schemeClr val="tx1"/>
              </a:solidFill>
            </a:endParaRP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r>
              <a:rPr lang="en-SG" sz="2500" dirty="0">
                <a:solidFill>
                  <a:schemeClr val="tx1"/>
                </a:solidFill>
              </a:rPr>
              <a:t>Given an undirected graph, the vertex cover problem is to find minimum size vertex cover. </a:t>
            </a:r>
          </a:p>
        </p:txBody>
      </p:sp>
    </p:spTree>
    <p:extLst>
      <p:ext uri="{BB962C8B-B14F-4D97-AF65-F5344CB8AC3E}">
        <p14:creationId xmlns:p14="http://schemas.microsoft.com/office/powerpoint/2010/main" val="41553604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3EC516A2-F245-30DD-7B85-EFAB60001A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>
            <a:extLst>
              <a:ext uri="{FF2B5EF4-FFF2-40B4-BE49-F238E27FC236}">
                <a16:creationId xmlns:a16="http://schemas.microsoft.com/office/drawing/2014/main" id="{B2BED4E5-64C2-5154-076A-8786434406B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33735" y="2150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US" b="1" dirty="0">
                <a:solidFill>
                  <a:srgbClr val="833C0B"/>
                </a:solidFill>
              </a:rPr>
              <a:t>Vertex Cover Problem</a:t>
            </a:r>
            <a:endParaRPr dirty="0">
              <a:solidFill>
                <a:srgbClr val="833C0B"/>
              </a:solidFill>
            </a:endParaRPr>
          </a:p>
        </p:txBody>
      </p:sp>
      <p:sp>
        <p:nvSpPr>
          <p:cNvPr id="2" name="Google Shape;102;p3">
            <a:extLst>
              <a:ext uri="{FF2B5EF4-FFF2-40B4-BE49-F238E27FC236}">
                <a16:creationId xmlns:a16="http://schemas.microsoft.com/office/drawing/2014/main" id="{FF547995-16DE-D4EA-610A-AD8EC53E42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540563"/>
            <a:ext cx="10515600" cy="47493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endParaRPr lang="en-SG" sz="2500" dirty="0">
              <a:solidFill>
                <a:schemeClr val="tx1"/>
              </a:solidFill>
            </a:endParaRPr>
          </a:p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-SG" sz="2500" dirty="0">
                <a:solidFill>
                  <a:schemeClr val="tx1"/>
                </a:solidFill>
              </a:rPr>
              <a:t>Given a graph G=(V,E):</a:t>
            </a: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r>
              <a:rPr lang="en-SG" sz="2500" dirty="0">
                <a:solidFill>
                  <a:schemeClr val="tx1"/>
                </a:solidFill>
              </a:rPr>
              <a:t>V = set of vertices (nodes)</a:t>
            </a: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r>
              <a:rPr lang="en-SG" sz="2500" dirty="0">
                <a:solidFill>
                  <a:schemeClr val="tx1"/>
                </a:solidFill>
              </a:rPr>
              <a:t>E = set of edges (connections)</a:t>
            </a:r>
          </a:p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-SG" sz="2500" dirty="0">
                <a:solidFill>
                  <a:schemeClr val="tx1"/>
                </a:solidFill>
              </a:rPr>
              <a:t>A vertex cover is a subset of vertices C⊆V such that:</a:t>
            </a:r>
          </a:p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-SG" sz="2500" dirty="0">
                <a:solidFill>
                  <a:schemeClr val="tx1"/>
                </a:solidFill>
              </a:rPr>
              <a:t>Every edge in the graph has at least one endpoint in C.</a:t>
            </a:r>
          </a:p>
        </p:txBody>
      </p:sp>
    </p:spTree>
    <p:extLst>
      <p:ext uri="{BB962C8B-B14F-4D97-AF65-F5344CB8AC3E}">
        <p14:creationId xmlns:p14="http://schemas.microsoft.com/office/powerpoint/2010/main" val="21127977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6E797974-F5B2-FA4C-6D43-C21C9546F7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>
            <a:extLst>
              <a:ext uri="{FF2B5EF4-FFF2-40B4-BE49-F238E27FC236}">
                <a16:creationId xmlns:a16="http://schemas.microsoft.com/office/drawing/2014/main" id="{BA833CA9-7B55-34AF-565A-FE1CCF3DBDC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33735" y="2150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US" b="1" dirty="0">
                <a:solidFill>
                  <a:srgbClr val="833C0B"/>
                </a:solidFill>
              </a:rPr>
              <a:t>Vertex Cover Problem</a:t>
            </a:r>
            <a:endParaRPr dirty="0">
              <a:solidFill>
                <a:srgbClr val="833C0B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40F5D82-CC76-AB53-0135-5314A47518F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1103"/>
          <a:stretch>
            <a:fillRect/>
          </a:stretch>
        </p:blipFill>
        <p:spPr>
          <a:xfrm>
            <a:off x="1562046" y="1797977"/>
            <a:ext cx="9256832" cy="3565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34538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2763ED85-8550-83EC-461D-B87E90FAAF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>
            <a:extLst>
              <a:ext uri="{FF2B5EF4-FFF2-40B4-BE49-F238E27FC236}">
                <a16:creationId xmlns:a16="http://schemas.microsoft.com/office/drawing/2014/main" id="{D0909A8F-50E1-5E2C-1CDF-12A8A2D40C3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33735" y="2150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US" b="1" dirty="0">
                <a:solidFill>
                  <a:srgbClr val="833C0B"/>
                </a:solidFill>
              </a:rPr>
              <a:t>Vertex Cover Problem-Algorithm</a:t>
            </a:r>
            <a:endParaRPr dirty="0">
              <a:solidFill>
                <a:srgbClr val="833C0B"/>
              </a:solidFill>
            </a:endParaRPr>
          </a:p>
        </p:txBody>
      </p:sp>
      <p:sp>
        <p:nvSpPr>
          <p:cNvPr id="2" name="Google Shape;102;p3">
            <a:extLst>
              <a:ext uri="{FF2B5EF4-FFF2-40B4-BE49-F238E27FC236}">
                <a16:creationId xmlns:a16="http://schemas.microsoft.com/office/drawing/2014/main" id="{67C3B9F6-16A5-E897-2D25-B25F1FB7156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540563"/>
            <a:ext cx="10515600" cy="47493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endParaRPr lang="en-SG" sz="2500" dirty="0">
              <a:solidFill>
                <a:schemeClr val="tx1"/>
              </a:solidFill>
            </a:endParaRP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r>
              <a:rPr lang="en-SG" sz="2500" b="1" dirty="0">
                <a:solidFill>
                  <a:schemeClr val="tx1"/>
                </a:solidFill>
              </a:rPr>
              <a:t>Step 1 − </a:t>
            </a:r>
            <a:r>
              <a:rPr lang="en-SG" sz="2500" dirty="0">
                <a:solidFill>
                  <a:schemeClr val="tx1"/>
                </a:solidFill>
              </a:rPr>
              <a:t>Select any random edge from the input graph and mark all the edges that are incident on the vertices corresponding to the selected edge.</a:t>
            </a: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endParaRPr lang="en-SG" sz="2500" dirty="0">
              <a:solidFill>
                <a:schemeClr val="tx1"/>
              </a:solidFill>
            </a:endParaRP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r>
              <a:rPr lang="en-SG" sz="2500" b="1" dirty="0">
                <a:solidFill>
                  <a:schemeClr val="tx1"/>
                </a:solidFill>
              </a:rPr>
              <a:t>Step 2 − </a:t>
            </a:r>
            <a:r>
              <a:rPr lang="en-SG" sz="2500" dirty="0">
                <a:solidFill>
                  <a:schemeClr val="tx1"/>
                </a:solidFill>
              </a:rPr>
              <a:t>Add the vertices of the arbitrary edge to an output set.</a:t>
            </a: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endParaRPr lang="en-SG" sz="2500" dirty="0">
              <a:solidFill>
                <a:schemeClr val="tx1"/>
              </a:solidFill>
            </a:endParaRP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r>
              <a:rPr lang="en-SG" sz="2500" b="1" dirty="0">
                <a:solidFill>
                  <a:schemeClr val="tx1"/>
                </a:solidFill>
              </a:rPr>
              <a:t>Step 3 − </a:t>
            </a:r>
            <a:r>
              <a:rPr lang="en-SG" sz="2500" dirty="0">
                <a:solidFill>
                  <a:schemeClr val="tx1"/>
                </a:solidFill>
              </a:rPr>
              <a:t>Repeat Step 1 on the remaining unmarked edges of the graph and add the vertices chosen to the output until </a:t>
            </a:r>
            <a:r>
              <a:rPr lang="en-SG" sz="2500" dirty="0" err="1">
                <a:solidFill>
                  <a:schemeClr val="tx1"/>
                </a:solidFill>
              </a:rPr>
              <a:t>theres</a:t>
            </a:r>
            <a:r>
              <a:rPr lang="en-SG" sz="2500" dirty="0">
                <a:solidFill>
                  <a:schemeClr val="tx1"/>
                </a:solidFill>
              </a:rPr>
              <a:t> no edge left unmarked.</a:t>
            </a: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endParaRPr lang="en-SG" sz="2500" dirty="0">
              <a:solidFill>
                <a:schemeClr val="tx1"/>
              </a:solidFill>
            </a:endParaRP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r>
              <a:rPr lang="en-SG" sz="2500" b="1" dirty="0">
                <a:solidFill>
                  <a:schemeClr val="tx1"/>
                </a:solidFill>
              </a:rPr>
              <a:t>Step 4 − </a:t>
            </a:r>
            <a:r>
              <a:rPr lang="en-SG" sz="2500" dirty="0">
                <a:solidFill>
                  <a:schemeClr val="tx1"/>
                </a:solidFill>
              </a:rPr>
              <a:t>The final output set achieved would be the near-optimal vertex cover.</a:t>
            </a:r>
          </a:p>
        </p:txBody>
      </p:sp>
    </p:spTree>
    <p:extLst>
      <p:ext uri="{BB962C8B-B14F-4D97-AF65-F5344CB8AC3E}">
        <p14:creationId xmlns:p14="http://schemas.microsoft.com/office/powerpoint/2010/main" val="32059676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695DD7BC-6E48-A748-DD05-441A484286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>
            <a:extLst>
              <a:ext uri="{FF2B5EF4-FFF2-40B4-BE49-F238E27FC236}">
                <a16:creationId xmlns:a16="http://schemas.microsoft.com/office/drawing/2014/main" id="{534FF626-93EA-3DAE-3F25-382119AE13D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33735" y="2150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US" b="1" dirty="0">
                <a:solidFill>
                  <a:srgbClr val="833C0B"/>
                </a:solidFill>
              </a:rPr>
              <a:t>Example</a:t>
            </a:r>
            <a:endParaRPr dirty="0">
              <a:solidFill>
                <a:srgbClr val="833C0B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BA94577-24E3-973A-5CEE-916123267B7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0209" b="10688"/>
          <a:stretch>
            <a:fillRect/>
          </a:stretch>
        </p:blipFill>
        <p:spPr>
          <a:xfrm>
            <a:off x="1531224" y="1859623"/>
            <a:ext cx="9414549" cy="3256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89973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0FC062B1-1F6C-341D-8009-A31ECB01D0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>
            <a:extLst>
              <a:ext uri="{FF2B5EF4-FFF2-40B4-BE49-F238E27FC236}">
                <a16:creationId xmlns:a16="http://schemas.microsoft.com/office/drawing/2014/main" id="{7320705F-C380-FE47-E811-2FAC3243847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33735" y="2150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US" b="1" dirty="0">
                <a:solidFill>
                  <a:srgbClr val="833C0B"/>
                </a:solidFill>
              </a:rPr>
              <a:t>Example</a:t>
            </a:r>
            <a:endParaRPr dirty="0">
              <a:solidFill>
                <a:srgbClr val="833C0B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642978E-F62D-EC77-9112-9456525D671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0700" b="12543"/>
          <a:stretch>
            <a:fillRect/>
          </a:stretch>
        </p:blipFill>
        <p:spPr>
          <a:xfrm>
            <a:off x="1613417" y="3051076"/>
            <a:ext cx="8514725" cy="241936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9A29B72-F8BE-3BA2-404C-8C38DDC99882}"/>
              </a:ext>
            </a:extLst>
          </p:cNvPr>
          <p:cNvSpPr txBox="1"/>
          <p:nvPr/>
        </p:nvSpPr>
        <p:spPr>
          <a:xfrm>
            <a:off x="2913579" y="1403707"/>
            <a:ext cx="6097712" cy="11887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r>
              <a:rPr lang="en-SG" sz="25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Pick edge (</a:t>
            </a:r>
            <a:r>
              <a:rPr lang="en-SG" sz="25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b,c</a:t>
            </a:r>
            <a:r>
              <a:rPr lang="en-SG" sz="25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r>
              <a:rPr lang="en-SG" sz="25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Insert b and c to minimum vertex cover and delete all the adjacent edges.</a:t>
            </a:r>
          </a:p>
        </p:txBody>
      </p:sp>
    </p:spTree>
    <p:extLst>
      <p:ext uri="{BB962C8B-B14F-4D97-AF65-F5344CB8AC3E}">
        <p14:creationId xmlns:p14="http://schemas.microsoft.com/office/powerpoint/2010/main" val="29835209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A1794CB3-666F-808C-5418-CBC15D27A0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>
            <a:extLst>
              <a:ext uri="{FF2B5EF4-FFF2-40B4-BE49-F238E27FC236}">
                <a16:creationId xmlns:a16="http://schemas.microsoft.com/office/drawing/2014/main" id="{3B3B22C9-E75D-329D-BC5A-A16A384852F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33735" y="2150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US" b="1" dirty="0">
                <a:solidFill>
                  <a:srgbClr val="833C0B"/>
                </a:solidFill>
              </a:rPr>
              <a:t>Example</a:t>
            </a:r>
            <a:endParaRPr dirty="0">
              <a:solidFill>
                <a:srgbClr val="833C0B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4E593EF-721E-727A-43B1-258791023CB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0177" b="9953"/>
          <a:stretch>
            <a:fillRect/>
          </a:stretch>
        </p:blipFill>
        <p:spPr>
          <a:xfrm>
            <a:off x="1582810" y="3037479"/>
            <a:ext cx="9026380" cy="270542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88081F8-50E3-DB10-5608-25E2461C30D4}"/>
              </a:ext>
            </a:extLst>
          </p:cNvPr>
          <p:cNvSpPr txBox="1"/>
          <p:nvPr/>
        </p:nvSpPr>
        <p:spPr>
          <a:xfrm>
            <a:off x="2913579" y="1403707"/>
            <a:ext cx="6097712" cy="11887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r>
              <a:rPr lang="en-SG" sz="25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Pick edge (</a:t>
            </a:r>
            <a:r>
              <a:rPr lang="en-SG" sz="25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d,e</a:t>
            </a:r>
            <a:r>
              <a:rPr lang="en-SG" sz="25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r>
              <a:rPr lang="en-SG" sz="25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Insert d and e to minimum vertex cover and delete all the adjacent edges.</a:t>
            </a:r>
          </a:p>
        </p:txBody>
      </p:sp>
    </p:spTree>
    <p:extLst>
      <p:ext uri="{BB962C8B-B14F-4D97-AF65-F5344CB8AC3E}">
        <p14:creationId xmlns:p14="http://schemas.microsoft.com/office/powerpoint/2010/main" val="42148044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5506D552-A708-7703-1611-6CB1043634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>
            <a:extLst>
              <a:ext uri="{FF2B5EF4-FFF2-40B4-BE49-F238E27FC236}">
                <a16:creationId xmlns:a16="http://schemas.microsoft.com/office/drawing/2014/main" id="{50493CC3-3C8E-AC8E-EAC3-27588EB7AF8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33735" y="2150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US" b="1" dirty="0">
                <a:solidFill>
                  <a:srgbClr val="833C0B"/>
                </a:solidFill>
              </a:rPr>
              <a:t>Example</a:t>
            </a:r>
            <a:endParaRPr dirty="0">
              <a:solidFill>
                <a:srgbClr val="833C0B"/>
              </a:solidFill>
            </a:endParaRPr>
          </a:p>
        </p:txBody>
      </p:sp>
      <p:sp>
        <p:nvSpPr>
          <p:cNvPr id="2" name="Google Shape;102;p3">
            <a:extLst>
              <a:ext uri="{FF2B5EF4-FFF2-40B4-BE49-F238E27FC236}">
                <a16:creationId xmlns:a16="http://schemas.microsoft.com/office/drawing/2014/main" id="{7932A3BD-AFAF-BD5E-10BD-538247DDB8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42665" y="1252887"/>
            <a:ext cx="10515600" cy="47493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endParaRPr lang="en-SG" sz="2500" dirty="0">
              <a:solidFill>
                <a:schemeClr val="tx1"/>
              </a:solidFill>
            </a:endParaRP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r>
              <a:rPr lang="en-SG" sz="2500" dirty="0">
                <a:solidFill>
                  <a:schemeClr val="tx1"/>
                </a:solidFill>
              </a:rPr>
              <a:t>Lets do it in an optimized way.</a:t>
            </a: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endParaRPr lang="en-SG" sz="2500" dirty="0">
              <a:solidFill>
                <a:schemeClr val="tx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CFB4195-1D02-84B9-EA78-024E13F60C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5484" y="2661006"/>
            <a:ext cx="6255102" cy="2269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07624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9F227B4F-7332-5057-9D34-3665508D7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>
            <a:extLst>
              <a:ext uri="{FF2B5EF4-FFF2-40B4-BE49-F238E27FC236}">
                <a16:creationId xmlns:a16="http://schemas.microsoft.com/office/drawing/2014/main" id="{C327D922-892D-FD84-5BB0-3C1F765E7DA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33735" y="2150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US" b="1" dirty="0">
                <a:solidFill>
                  <a:srgbClr val="833C0B"/>
                </a:solidFill>
              </a:rPr>
              <a:t>Applications</a:t>
            </a:r>
            <a:endParaRPr dirty="0">
              <a:solidFill>
                <a:srgbClr val="833C0B"/>
              </a:solidFill>
            </a:endParaRPr>
          </a:p>
        </p:txBody>
      </p:sp>
      <p:sp>
        <p:nvSpPr>
          <p:cNvPr id="2" name="Google Shape;102;p3">
            <a:extLst>
              <a:ext uri="{FF2B5EF4-FFF2-40B4-BE49-F238E27FC236}">
                <a16:creationId xmlns:a16="http://schemas.microsoft.com/office/drawing/2014/main" id="{F613778F-B00E-D48F-9970-641040B6313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42665" y="1252887"/>
            <a:ext cx="10515600" cy="47493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endParaRPr lang="en-SG" sz="2500" dirty="0">
              <a:solidFill>
                <a:schemeClr val="tx1"/>
              </a:solidFill>
            </a:endParaRP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r>
              <a:rPr lang="en-SG" sz="2500" dirty="0">
                <a:solidFill>
                  <a:schemeClr val="tx1"/>
                </a:solidFill>
              </a:rPr>
              <a:t>Have you ever wondered about the placement of traffic cameras? That how they are efficiently placed without wasting too much budget from the government? </a:t>
            </a:r>
          </a:p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endParaRPr lang="en-SG" sz="2500" dirty="0">
              <a:solidFill>
                <a:schemeClr val="tx1"/>
              </a:solidFill>
            </a:endParaRP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r>
              <a:rPr lang="en-SG" sz="2500" dirty="0">
                <a:solidFill>
                  <a:schemeClr val="tx1"/>
                </a:solidFill>
              </a:rPr>
              <a:t>The answer to that comes in the form of vertex-cover algorithm. The positions of the cameras are chosen in such a way that one camera covers as many roads as possible.</a:t>
            </a:r>
          </a:p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endParaRPr lang="en-SG" sz="2500" dirty="0">
              <a:solidFill>
                <a:schemeClr val="tx1"/>
              </a:solidFill>
            </a:endParaRP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r>
              <a:rPr lang="en-SG" sz="2500" b="1" dirty="0">
                <a:solidFill>
                  <a:schemeClr val="tx1"/>
                </a:solidFill>
              </a:rPr>
              <a:t> </a:t>
            </a:r>
            <a:r>
              <a:rPr lang="en-SG" sz="2500" dirty="0">
                <a:solidFill>
                  <a:schemeClr val="tx1"/>
                </a:solidFill>
              </a:rPr>
              <a:t>i.e., we choose junctions and make sure the camera covers as much area as possible.</a:t>
            </a:r>
          </a:p>
        </p:txBody>
      </p:sp>
    </p:spTree>
    <p:extLst>
      <p:ext uri="{BB962C8B-B14F-4D97-AF65-F5344CB8AC3E}">
        <p14:creationId xmlns:p14="http://schemas.microsoft.com/office/powerpoint/2010/main" val="20255408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</a:pPr>
            <a:endParaRPr sz="8000" dirty="0"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8000"/>
              <a:buNone/>
            </a:pPr>
            <a:r>
              <a:rPr lang="en-US" sz="8000" dirty="0">
                <a:solidFill>
                  <a:srgbClr val="C00000"/>
                </a:solidFill>
              </a:rPr>
              <a:t>Thank You</a:t>
            </a:r>
            <a:endParaRPr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3188</TotalTime>
  <Words>522</Words>
  <Application>Microsoft Office PowerPoint</Application>
  <PresentationFormat>Widescreen</PresentationFormat>
  <Paragraphs>59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Approximation Algorithm</vt:lpstr>
      <vt:lpstr>Introduction</vt:lpstr>
      <vt:lpstr>Introduction</vt:lpstr>
      <vt:lpstr>Introduction</vt:lpstr>
      <vt:lpstr>Vertex Cover Problem</vt:lpstr>
      <vt:lpstr>Vertex Cover Problem</vt:lpstr>
      <vt:lpstr>Vertex Cover Problem</vt:lpstr>
      <vt:lpstr>Vertex Cover Problem-Algorithm</vt:lpstr>
      <vt:lpstr>Example</vt:lpstr>
      <vt:lpstr>Example</vt:lpstr>
      <vt:lpstr>Example</vt:lpstr>
      <vt:lpstr>Example</vt:lpstr>
      <vt:lpstr>Applications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Insanur Shuvo</dc:creator>
  <cp:lastModifiedBy>Maimuna Chowdhury Disha</cp:lastModifiedBy>
  <cp:revision>48</cp:revision>
  <dcterms:created xsi:type="dcterms:W3CDTF">2016-09-19T04:08:53Z</dcterms:created>
  <dcterms:modified xsi:type="dcterms:W3CDTF">2026-04-27T05:23:22Z</dcterms:modified>
</cp:coreProperties>
</file>