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8" r:id="rId3"/>
    <p:sldId id="403" r:id="rId4"/>
    <p:sldId id="380" r:id="rId5"/>
    <p:sldId id="381" r:id="rId6"/>
    <p:sldId id="428" r:id="rId7"/>
    <p:sldId id="404" r:id="rId8"/>
    <p:sldId id="429" r:id="rId9"/>
    <p:sldId id="430" r:id="rId10"/>
    <p:sldId id="281"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gSE3pmRORSF/beTMrWOScEMNow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9" Type="http://customschemas.google.com/relationships/presentationmetadata" Target="metadata"/><Relationship Id="rId3" Type="http://schemas.openxmlformats.org/officeDocument/2006/relationships/slide" Target="slides/slide2.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0"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3401B2A7-9FA7-FBBA-4A61-0AF74AC10D18}"/>
            </a:ext>
          </a:extLst>
        </p:cNvPr>
        <p:cNvGrpSpPr/>
        <p:nvPr/>
      </p:nvGrpSpPr>
      <p:grpSpPr>
        <a:xfrm>
          <a:off x="0" y="0"/>
          <a:ext cx="0" cy="0"/>
          <a:chOff x="0" y="0"/>
          <a:chExt cx="0" cy="0"/>
        </a:xfrm>
      </p:grpSpPr>
      <p:sp>
        <p:nvSpPr>
          <p:cNvPr id="98" name="Google Shape;98;p3:notes">
            <a:extLst>
              <a:ext uri="{FF2B5EF4-FFF2-40B4-BE49-F238E27FC236}">
                <a16:creationId xmlns:a16="http://schemas.microsoft.com/office/drawing/2014/main" id="{9E3CEF69-5871-AA18-B49C-0C3821EDAB8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3:notes">
            <a:extLst>
              <a:ext uri="{FF2B5EF4-FFF2-40B4-BE49-F238E27FC236}">
                <a16:creationId xmlns:a16="http://schemas.microsoft.com/office/drawing/2014/main" id="{21D8F8FB-7039-E06F-0EA7-389F00BD6A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60943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F4ECF8D3-1C28-6D1E-F13B-99E8AE6DF8D3}"/>
            </a:ext>
          </a:extLst>
        </p:cNvPr>
        <p:cNvGrpSpPr/>
        <p:nvPr/>
      </p:nvGrpSpPr>
      <p:grpSpPr>
        <a:xfrm>
          <a:off x="0" y="0"/>
          <a:ext cx="0" cy="0"/>
          <a:chOff x="0" y="0"/>
          <a:chExt cx="0" cy="0"/>
        </a:xfrm>
      </p:grpSpPr>
      <p:sp>
        <p:nvSpPr>
          <p:cNvPr id="98" name="Google Shape;98;p3:notes">
            <a:extLst>
              <a:ext uri="{FF2B5EF4-FFF2-40B4-BE49-F238E27FC236}">
                <a16:creationId xmlns:a16="http://schemas.microsoft.com/office/drawing/2014/main" id="{6F524784-EF93-E1BF-DF00-16418773835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3:notes">
            <a:extLst>
              <a:ext uri="{FF2B5EF4-FFF2-40B4-BE49-F238E27FC236}">
                <a16:creationId xmlns:a16="http://schemas.microsoft.com/office/drawing/2014/main" id="{2621FAF9-FB8D-8796-B555-B4315C0489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4632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E47226B8-BE96-BFD4-F932-6A3DAA5D18AB}"/>
            </a:ext>
          </a:extLst>
        </p:cNvPr>
        <p:cNvGrpSpPr/>
        <p:nvPr/>
      </p:nvGrpSpPr>
      <p:grpSpPr>
        <a:xfrm>
          <a:off x="0" y="0"/>
          <a:ext cx="0" cy="0"/>
          <a:chOff x="0" y="0"/>
          <a:chExt cx="0" cy="0"/>
        </a:xfrm>
      </p:grpSpPr>
      <p:sp>
        <p:nvSpPr>
          <p:cNvPr id="98" name="Google Shape;98;p3:notes">
            <a:extLst>
              <a:ext uri="{FF2B5EF4-FFF2-40B4-BE49-F238E27FC236}">
                <a16:creationId xmlns:a16="http://schemas.microsoft.com/office/drawing/2014/main" id="{569D67D3-C0A5-2C32-B36E-6B2BC659128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3:notes">
            <a:extLst>
              <a:ext uri="{FF2B5EF4-FFF2-40B4-BE49-F238E27FC236}">
                <a16:creationId xmlns:a16="http://schemas.microsoft.com/office/drawing/2014/main" id="{DF6677FF-DC8C-6128-AA12-5A44F0F4F2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4844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89F319B1-62B6-FF19-2047-984AD5B6DFD5}"/>
            </a:ext>
          </a:extLst>
        </p:cNvPr>
        <p:cNvGrpSpPr/>
        <p:nvPr/>
      </p:nvGrpSpPr>
      <p:grpSpPr>
        <a:xfrm>
          <a:off x="0" y="0"/>
          <a:ext cx="0" cy="0"/>
          <a:chOff x="0" y="0"/>
          <a:chExt cx="0" cy="0"/>
        </a:xfrm>
      </p:grpSpPr>
      <p:sp>
        <p:nvSpPr>
          <p:cNvPr id="98" name="Google Shape;98;p3:notes">
            <a:extLst>
              <a:ext uri="{FF2B5EF4-FFF2-40B4-BE49-F238E27FC236}">
                <a16:creationId xmlns:a16="http://schemas.microsoft.com/office/drawing/2014/main" id="{2DCB33AE-E10E-E2B5-892A-28BF8E2FC7B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3:notes">
            <a:extLst>
              <a:ext uri="{FF2B5EF4-FFF2-40B4-BE49-F238E27FC236}">
                <a16:creationId xmlns:a16="http://schemas.microsoft.com/office/drawing/2014/main" id="{DD2BCD86-DA04-D09C-43FF-0D84AEBE92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9772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6A620F98-8F7A-8D15-5395-90D5184938B8}"/>
            </a:ext>
          </a:extLst>
        </p:cNvPr>
        <p:cNvGrpSpPr/>
        <p:nvPr/>
      </p:nvGrpSpPr>
      <p:grpSpPr>
        <a:xfrm>
          <a:off x="0" y="0"/>
          <a:ext cx="0" cy="0"/>
          <a:chOff x="0" y="0"/>
          <a:chExt cx="0" cy="0"/>
        </a:xfrm>
      </p:grpSpPr>
      <p:sp>
        <p:nvSpPr>
          <p:cNvPr id="98" name="Google Shape;98;p3:notes">
            <a:extLst>
              <a:ext uri="{FF2B5EF4-FFF2-40B4-BE49-F238E27FC236}">
                <a16:creationId xmlns:a16="http://schemas.microsoft.com/office/drawing/2014/main" id="{13256F05-B35A-773F-F549-25C6B0B71CE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3:notes">
            <a:extLst>
              <a:ext uri="{FF2B5EF4-FFF2-40B4-BE49-F238E27FC236}">
                <a16:creationId xmlns:a16="http://schemas.microsoft.com/office/drawing/2014/main" id="{2ED0D22B-D98C-D575-2CAE-BFB94C32B6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0565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52D91EC0-224B-B67D-A4F5-BBB5F18A2E3E}"/>
            </a:ext>
          </a:extLst>
        </p:cNvPr>
        <p:cNvGrpSpPr/>
        <p:nvPr/>
      </p:nvGrpSpPr>
      <p:grpSpPr>
        <a:xfrm>
          <a:off x="0" y="0"/>
          <a:ext cx="0" cy="0"/>
          <a:chOff x="0" y="0"/>
          <a:chExt cx="0" cy="0"/>
        </a:xfrm>
      </p:grpSpPr>
      <p:sp>
        <p:nvSpPr>
          <p:cNvPr id="98" name="Google Shape;98;p3:notes">
            <a:extLst>
              <a:ext uri="{FF2B5EF4-FFF2-40B4-BE49-F238E27FC236}">
                <a16:creationId xmlns:a16="http://schemas.microsoft.com/office/drawing/2014/main" id="{FA14FB17-DA4D-4A94-BAAA-5AB4C553089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3:notes">
            <a:extLst>
              <a:ext uri="{FF2B5EF4-FFF2-40B4-BE49-F238E27FC236}">
                <a16:creationId xmlns:a16="http://schemas.microsoft.com/office/drawing/2014/main" id="{7DBCC1E9-34FD-EC65-786D-AC778ACA12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4089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0661EFCA-5B00-1272-B4AC-3E7D5E347865}"/>
            </a:ext>
          </a:extLst>
        </p:cNvPr>
        <p:cNvGrpSpPr/>
        <p:nvPr/>
      </p:nvGrpSpPr>
      <p:grpSpPr>
        <a:xfrm>
          <a:off x="0" y="0"/>
          <a:ext cx="0" cy="0"/>
          <a:chOff x="0" y="0"/>
          <a:chExt cx="0" cy="0"/>
        </a:xfrm>
      </p:grpSpPr>
      <p:sp>
        <p:nvSpPr>
          <p:cNvPr id="98" name="Google Shape;98;p3:notes">
            <a:extLst>
              <a:ext uri="{FF2B5EF4-FFF2-40B4-BE49-F238E27FC236}">
                <a16:creationId xmlns:a16="http://schemas.microsoft.com/office/drawing/2014/main" id="{2A5299FB-8090-FD6A-2770-08F329C128D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3:notes">
            <a:extLst>
              <a:ext uri="{FF2B5EF4-FFF2-40B4-BE49-F238E27FC236}">
                <a16:creationId xmlns:a16="http://schemas.microsoft.com/office/drawing/2014/main" id="{9E49616D-F56B-CF07-5228-6663E4EFC4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2122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8"/>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Calibri"/>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7" name="Google Shape;17;p28"/>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18" name="Google Shape;18;p2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 name="Google Shape;19;p2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 name="Google Shape;20;p2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3" name="Google Shape;23;p2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4" name="Google Shape;24;p2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5" name="Google Shape;25;p2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6" name="Google Shape;26;p2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31"/>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Calibri"/>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31"/>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3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5" name="Google Shape;35;p3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3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3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9" name="Google Shape;39;p32"/>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0" name="Google Shape;40;p32"/>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1" name="Google Shape;41;p3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2" name="Google Shape;42;p3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 name="Google Shape;43;p3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 name="Google Shape;46;p33"/>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47" name="Google Shape;47;p33"/>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8" name="Google Shape;48;p33"/>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49" name="Google Shape;49;p33"/>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50" name="Google Shape;50;p3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3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3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 name="Google Shape;55;p3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3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7" name="Google Shape;57;p3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Calibri"/>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0" name="Google Shape;60;p35"/>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61" name="Google Shape;61;p35"/>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62" name="Google Shape;62;p3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3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4" name="Google Shape;64;p3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Calibri"/>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7" name="Google Shape;67;p36"/>
          <p:cNvSpPr>
            <a:spLocks noGrp="1"/>
          </p:cNvSpPr>
          <p:nvPr>
            <p:ph type="pic" idx="2"/>
          </p:nvPr>
        </p:nvSpPr>
        <p:spPr>
          <a:xfrm>
            <a:off x="5183188" y="987425"/>
            <a:ext cx="6172200" cy="4873500"/>
          </a:xfrm>
          <a:prstGeom prst="rect">
            <a:avLst/>
          </a:prstGeom>
          <a:noFill/>
          <a:ln>
            <a:noFill/>
          </a:ln>
        </p:spPr>
      </p:sp>
      <p:sp>
        <p:nvSpPr>
          <p:cNvPr id="68" name="Google Shape;68;p36"/>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69" name="Google Shape;69;p3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3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1" name="Google Shape;71;p3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4" name="Google Shape;74;p37"/>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5" name="Google Shape;75;p3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3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 name="Google Shape;77;p3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 name="Google Shape;80;p38"/>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1" name="Google Shape;81;p3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3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3" name="Google Shape;83;p3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701421" y="1484029"/>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0000"/>
              </a:buClr>
              <a:buSzPts val="5400"/>
              <a:buFont typeface="Calibri"/>
              <a:buNone/>
            </a:pPr>
            <a:r>
              <a:rPr lang="en-US" sz="5400" b="1" dirty="0">
                <a:solidFill>
                  <a:srgbClr val="833C0B"/>
                </a:solidFill>
              </a:rPr>
              <a:t>Branch and Bound</a:t>
            </a:r>
            <a:endParaRPr dirty="0">
              <a:solidFill>
                <a:srgbClr val="833C0B"/>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txBox="1">
            <a:spLocks noGrp="1"/>
          </p:cNvSpPr>
          <p:nvPr>
            <p:ph type="title"/>
          </p:nvPr>
        </p:nvSpPr>
        <p:spPr>
          <a:xfrm>
            <a:off x="933735" y="215000"/>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US" b="1" dirty="0">
                <a:solidFill>
                  <a:srgbClr val="833C0B"/>
                </a:solidFill>
              </a:rPr>
              <a:t>Introduction</a:t>
            </a:r>
            <a:endParaRPr dirty="0">
              <a:solidFill>
                <a:srgbClr val="833C0B"/>
              </a:solidFill>
            </a:endParaRPr>
          </a:p>
        </p:txBody>
      </p:sp>
      <p:sp>
        <p:nvSpPr>
          <p:cNvPr id="102" name="Google Shape;102;p3"/>
          <p:cNvSpPr txBox="1">
            <a:spLocks noGrp="1"/>
          </p:cNvSpPr>
          <p:nvPr>
            <p:ph type="body" idx="1"/>
          </p:nvPr>
        </p:nvSpPr>
        <p:spPr>
          <a:xfrm>
            <a:off x="838200" y="1540563"/>
            <a:ext cx="10515600" cy="4749307"/>
          </a:xfrm>
          <a:prstGeom prst="rect">
            <a:avLst/>
          </a:prstGeom>
          <a:noFill/>
          <a:ln>
            <a:noFill/>
          </a:ln>
        </p:spPr>
        <p:txBody>
          <a:bodyPr spcFirstLastPara="1" wrap="square" lIns="91425" tIns="45700" rIns="91425" bIns="45700" anchor="t" anchorCtr="0">
            <a:normAutofit/>
          </a:bodyPr>
          <a:lstStyle/>
          <a:p>
            <a:pPr marL="69850" lvl="0" indent="0" algn="just" rtl="0">
              <a:lnSpc>
                <a:spcPct val="95000"/>
              </a:lnSpc>
              <a:spcBef>
                <a:spcPts val="0"/>
              </a:spcBef>
              <a:spcAft>
                <a:spcPts val="0"/>
              </a:spcAft>
              <a:buSzPts val="2500"/>
              <a:buNone/>
            </a:pPr>
            <a:r>
              <a:rPr lang="en-SG" sz="2500" dirty="0">
                <a:solidFill>
                  <a:schemeClr val="tx1"/>
                </a:solidFill>
              </a:rPr>
              <a:t>Branch and bound algorithms are used to find the optimal solution for combinatory, discrete, and general mathematical optimization problems.</a:t>
            </a:r>
          </a:p>
          <a:p>
            <a:pPr marL="457200" lvl="0" indent="-387350" algn="just" rtl="0">
              <a:lnSpc>
                <a:spcPct val="95000"/>
              </a:lnSpc>
              <a:spcBef>
                <a:spcPts val="0"/>
              </a:spcBef>
              <a:spcAft>
                <a:spcPts val="0"/>
              </a:spcAft>
              <a:buSzPts val="2500"/>
              <a:buFont typeface="Calibri"/>
              <a:buChar char="●"/>
            </a:pPr>
            <a:r>
              <a:rPr lang="en-SG" sz="2500" b="1" dirty="0">
                <a:solidFill>
                  <a:schemeClr val="tx1"/>
                </a:solidFill>
              </a:rPr>
              <a:t>Branching: </a:t>
            </a:r>
            <a:r>
              <a:rPr lang="en-SG" sz="2500" dirty="0">
                <a:solidFill>
                  <a:schemeClr val="tx1"/>
                </a:solidFill>
              </a:rPr>
              <a:t>The main problem is broken into smaller subproblems, forming a tree-like structure where each node represents a partial solution.</a:t>
            </a:r>
          </a:p>
          <a:p>
            <a:pPr marL="457200" lvl="0" indent="-387350" algn="just" rtl="0">
              <a:lnSpc>
                <a:spcPct val="95000"/>
              </a:lnSpc>
              <a:spcBef>
                <a:spcPts val="0"/>
              </a:spcBef>
              <a:spcAft>
                <a:spcPts val="0"/>
              </a:spcAft>
              <a:buSzPts val="2500"/>
              <a:buFont typeface="Calibri"/>
              <a:buChar char="●"/>
            </a:pPr>
            <a:r>
              <a:rPr lang="en-SG" sz="2500" b="1" dirty="0">
                <a:solidFill>
                  <a:schemeClr val="tx1"/>
                </a:solidFill>
              </a:rPr>
              <a:t>Bounding: </a:t>
            </a:r>
            <a:r>
              <a:rPr lang="en-SG" sz="2500" dirty="0">
                <a:solidFill>
                  <a:schemeClr val="tx1"/>
                </a:solidFill>
              </a:rPr>
              <a:t>For each node, the algorithm computes an upper or lower bound on the best possible solution within that subproblem. If this bound is worse than the current best-known solution, the node is pruned (i.e., not explored further).</a:t>
            </a:r>
          </a:p>
          <a:p>
            <a:pPr marL="457200" lvl="0" indent="-387350" algn="just" rtl="0">
              <a:lnSpc>
                <a:spcPct val="95000"/>
              </a:lnSpc>
              <a:spcBef>
                <a:spcPts val="0"/>
              </a:spcBef>
              <a:spcAft>
                <a:spcPts val="0"/>
              </a:spcAft>
              <a:buSzPts val="2500"/>
              <a:buFont typeface="Calibri"/>
              <a:buChar char="●"/>
            </a:pPr>
            <a:r>
              <a:rPr lang="en-SG" sz="2500" b="1" dirty="0">
                <a:solidFill>
                  <a:schemeClr val="tx1"/>
                </a:solidFill>
              </a:rPr>
              <a:t>Pruning: </a:t>
            </a:r>
            <a:r>
              <a:rPr lang="en-SG" sz="2500" dirty="0">
                <a:solidFill>
                  <a:schemeClr val="tx1"/>
                </a:solidFill>
              </a:rPr>
              <a:t>By eliminating branches that cannot yield better solutions than the current best, the algorithm reduces the number of computations, enhancing efficiency.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E576F098-D70D-A6E9-0986-FC711D9EF0D4}"/>
            </a:ext>
          </a:extLst>
        </p:cNvPr>
        <p:cNvGrpSpPr/>
        <p:nvPr/>
      </p:nvGrpSpPr>
      <p:grpSpPr>
        <a:xfrm>
          <a:off x="0" y="0"/>
          <a:ext cx="0" cy="0"/>
          <a:chOff x="0" y="0"/>
          <a:chExt cx="0" cy="0"/>
        </a:xfrm>
      </p:grpSpPr>
      <p:sp>
        <p:nvSpPr>
          <p:cNvPr id="101" name="Google Shape;101;p3">
            <a:extLst>
              <a:ext uri="{FF2B5EF4-FFF2-40B4-BE49-F238E27FC236}">
                <a16:creationId xmlns:a16="http://schemas.microsoft.com/office/drawing/2014/main" id="{C13ACAC0-2183-75B4-FBDB-E6CE24BEA784}"/>
              </a:ext>
            </a:extLst>
          </p:cNvPr>
          <p:cNvSpPr txBox="1">
            <a:spLocks noGrp="1"/>
          </p:cNvSpPr>
          <p:nvPr>
            <p:ph type="title"/>
          </p:nvPr>
        </p:nvSpPr>
        <p:spPr>
          <a:xfrm>
            <a:off x="933735" y="215000"/>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US" b="1" dirty="0">
                <a:solidFill>
                  <a:srgbClr val="833C0B"/>
                </a:solidFill>
              </a:rPr>
              <a:t>When to apply Branch and Bound Algorithm</a:t>
            </a:r>
            <a:endParaRPr dirty="0">
              <a:solidFill>
                <a:srgbClr val="833C0B"/>
              </a:solidFill>
            </a:endParaRPr>
          </a:p>
        </p:txBody>
      </p:sp>
      <p:sp>
        <p:nvSpPr>
          <p:cNvPr id="4" name="Google Shape;102;p3">
            <a:extLst>
              <a:ext uri="{FF2B5EF4-FFF2-40B4-BE49-F238E27FC236}">
                <a16:creationId xmlns:a16="http://schemas.microsoft.com/office/drawing/2014/main" id="{04CC451F-CFD1-5E52-30F8-C40DD1787369}"/>
              </a:ext>
            </a:extLst>
          </p:cNvPr>
          <p:cNvSpPr txBox="1">
            <a:spLocks noGrp="1"/>
          </p:cNvSpPr>
          <p:nvPr>
            <p:ph type="body" idx="1"/>
          </p:nvPr>
        </p:nvSpPr>
        <p:spPr>
          <a:xfrm>
            <a:off x="838200" y="1540563"/>
            <a:ext cx="10515600" cy="4749307"/>
          </a:xfrm>
          <a:prstGeom prst="rect">
            <a:avLst/>
          </a:prstGeom>
          <a:noFill/>
          <a:ln>
            <a:noFill/>
          </a:ln>
        </p:spPr>
        <p:txBody>
          <a:bodyPr spcFirstLastPara="1" wrap="square" lIns="91425" tIns="45700" rIns="91425" bIns="45700" anchor="t" anchorCtr="0">
            <a:normAutofit/>
          </a:bodyPr>
          <a:lstStyle/>
          <a:p>
            <a:pPr marL="69850" lvl="0" indent="0" algn="just" rtl="0">
              <a:lnSpc>
                <a:spcPct val="95000"/>
              </a:lnSpc>
              <a:spcBef>
                <a:spcPts val="0"/>
              </a:spcBef>
              <a:spcAft>
                <a:spcPts val="0"/>
              </a:spcAft>
              <a:buSzPts val="2500"/>
              <a:buNone/>
            </a:pPr>
            <a:endParaRPr lang="en-SG" sz="2500" dirty="0">
              <a:solidFill>
                <a:schemeClr val="tx1"/>
              </a:solidFill>
            </a:endParaRPr>
          </a:p>
          <a:p>
            <a:pPr marL="457200" lvl="0" indent="-387350" algn="just" rtl="0">
              <a:lnSpc>
                <a:spcPct val="95000"/>
              </a:lnSpc>
              <a:spcBef>
                <a:spcPts val="0"/>
              </a:spcBef>
              <a:spcAft>
                <a:spcPts val="0"/>
              </a:spcAft>
              <a:buSzPts val="2500"/>
              <a:buFont typeface="Calibri"/>
              <a:buChar char="●"/>
            </a:pPr>
            <a:r>
              <a:rPr lang="en-SG" sz="2500" dirty="0">
                <a:solidFill>
                  <a:schemeClr val="tx1"/>
                </a:solidFill>
              </a:rPr>
              <a:t>It is appropriate to use a branch and bound approach if the given problem is discrete optimization. Discrete optimization refers to problems in which the variables belong to the discrete set. Examples of such problems include 0-1 Integer Programming and Network Flow problems.</a:t>
            </a:r>
          </a:p>
          <a:p>
            <a:pPr marL="457200" lvl="0" indent="-387350" algn="just" rtl="0">
              <a:lnSpc>
                <a:spcPct val="95000"/>
              </a:lnSpc>
              <a:spcBef>
                <a:spcPts val="0"/>
              </a:spcBef>
              <a:spcAft>
                <a:spcPts val="0"/>
              </a:spcAft>
              <a:buSzPts val="2500"/>
              <a:buFont typeface="Calibri"/>
              <a:buChar char="●"/>
            </a:pPr>
            <a:r>
              <a:rPr lang="en-SG" sz="2500" dirty="0">
                <a:solidFill>
                  <a:schemeClr val="tx1"/>
                </a:solidFill>
              </a:rPr>
              <a:t>When it comes to combinatory optimization problems, branch and bound work well. An optimization problem is optimized by combinatory optimization by finding its maximum or minimum based on its objective function.</a:t>
            </a:r>
          </a:p>
        </p:txBody>
      </p:sp>
    </p:spTree>
    <p:extLst>
      <p:ext uri="{BB962C8B-B14F-4D97-AF65-F5344CB8AC3E}">
        <p14:creationId xmlns:p14="http://schemas.microsoft.com/office/powerpoint/2010/main" val="563846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A848B1E1-BD59-F7E3-5A06-7EE99E0C0CA7}"/>
            </a:ext>
          </a:extLst>
        </p:cNvPr>
        <p:cNvGrpSpPr/>
        <p:nvPr/>
      </p:nvGrpSpPr>
      <p:grpSpPr>
        <a:xfrm>
          <a:off x="0" y="0"/>
          <a:ext cx="0" cy="0"/>
          <a:chOff x="0" y="0"/>
          <a:chExt cx="0" cy="0"/>
        </a:xfrm>
      </p:grpSpPr>
      <p:sp>
        <p:nvSpPr>
          <p:cNvPr id="101" name="Google Shape;101;p3">
            <a:extLst>
              <a:ext uri="{FF2B5EF4-FFF2-40B4-BE49-F238E27FC236}">
                <a16:creationId xmlns:a16="http://schemas.microsoft.com/office/drawing/2014/main" id="{99560A57-0E42-49C8-6BC2-D091B18BD1FC}"/>
              </a:ext>
            </a:extLst>
          </p:cNvPr>
          <p:cNvSpPr txBox="1">
            <a:spLocks noGrp="1"/>
          </p:cNvSpPr>
          <p:nvPr>
            <p:ph type="title"/>
          </p:nvPr>
        </p:nvSpPr>
        <p:spPr>
          <a:xfrm>
            <a:off x="933735" y="215000"/>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US" b="1" dirty="0">
                <a:solidFill>
                  <a:srgbClr val="833C0B"/>
                </a:solidFill>
              </a:rPr>
              <a:t>Branch and Bound-Example</a:t>
            </a:r>
            <a:endParaRPr dirty="0">
              <a:solidFill>
                <a:srgbClr val="833C0B"/>
              </a:solidFill>
            </a:endParaRPr>
          </a:p>
        </p:txBody>
      </p:sp>
      <p:pic>
        <p:nvPicPr>
          <p:cNvPr id="5" name="Picture 4">
            <a:extLst>
              <a:ext uri="{FF2B5EF4-FFF2-40B4-BE49-F238E27FC236}">
                <a16:creationId xmlns:a16="http://schemas.microsoft.com/office/drawing/2014/main" id="{AD464FE5-0920-0F11-BD46-4A85CE349A85}"/>
              </a:ext>
            </a:extLst>
          </p:cNvPr>
          <p:cNvPicPr>
            <a:picLocks noChangeAspect="1"/>
          </p:cNvPicPr>
          <p:nvPr/>
        </p:nvPicPr>
        <p:blipFill>
          <a:blip r:embed="rId3"/>
          <a:stretch>
            <a:fillRect/>
          </a:stretch>
        </p:blipFill>
        <p:spPr>
          <a:xfrm>
            <a:off x="6449334" y="1741710"/>
            <a:ext cx="4924158" cy="3631728"/>
          </a:xfrm>
          <a:prstGeom prst="rect">
            <a:avLst/>
          </a:prstGeom>
        </p:spPr>
      </p:pic>
    </p:spTree>
    <p:extLst>
      <p:ext uri="{BB962C8B-B14F-4D97-AF65-F5344CB8AC3E}">
        <p14:creationId xmlns:p14="http://schemas.microsoft.com/office/powerpoint/2010/main" val="4155360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7EF3DC26-0A78-35A7-5D6F-CD694D0AECC1}"/>
            </a:ext>
          </a:extLst>
        </p:cNvPr>
        <p:cNvGrpSpPr/>
        <p:nvPr/>
      </p:nvGrpSpPr>
      <p:grpSpPr>
        <a:xfrm>
          <a:off x="0" y="0"/>
          <a:ext cx="0" cy="0"/>
          <a:chOff x="0" y="0"/>
          <a:chExt cx="0" cy="0"/>
        </a:xfrm>
      </p:grpSpPr>
      <p:sp>
        <p:nvSpPr>
          <p:cNvPr id="101" name="Google Shape;101;p3">
            <a:extLst>
              <a:ext uri="{FF2B5EF4-FFF2-40B4-BE49-F238E27FC236}">
                <a16:creationId xmlns:a16="http://schemas.microsoft.com/office/drawing/2014/main" id="{9D7CB8EA-F482-51AB-1B9E-30BAB52148C1}"/>
              </a:ext>
            </a:extLst>
          </p:cNvPr>
          <p:cNvSpPr txBox="1">
            <a:spLocks noGrp="1"/>
          </p:cNvSpPr>
          <p:nvPr>
            <p:ph type="title"/>
          </p:nvPr>
        </p:nvSpPr>
        <p:spPr>
          <a:xfrm>
            <a:off x="933735" y="215000"/>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US" b="1" dirty="0">
                <a:solidFill>
                  <a:srgbClr val="833C0B"/>
                </a:solidFill>
              </a:rPr>
              <a:t>FIFO Branch and Bound</a:t>
            </a:r>
            <a:endParaRPr dirty="0">
              <a:solidFill>
                <a:srgbClr val="833C0B"/>
              </a:solidFill>
            </a:endParaRPr>
          </a:p>
        </p:txBody>
      </p:sp>
      <p:sp>
        <p:nvSpPr>
          <p:cNvPr id="8" name="Google Shape;102;p3">
            <a:extLst>
              <a:ext uri="{FF2B5EF4-FFF2-40B4-BE49-F238E27FC236}">
                <a16:creationId xmlns:a16="http://schemas.microsoft.com/office/drawing/2014/main" id="{069003B6-B836-BD50-4746-14B915F4CD02}"/>
              </a:ext>
            </a:extLst>
          </p:cNvPr>
          <p:cNvSpPr txBox="1">
            <a:spLocks noGrp="1"/>
          </p:cNvSpPr>
          <p:nvPr>
            <p:ph type="body" idx="1"/>
          </p:nvPr>
        </p:nvSpPr>
        <p:spPr>
          <a:xfrm>
            <a:off x="838200" y="1540563"/>
            <a:ext cx="10515600" cy="4749307"/>
          </a:xfrm>
          <a:prstGeom prst="rect">
            <a:avLst/>
          </a:prstGeom>
          <a:noFill/>
          <a:ln>
            <a:noFill/>
          </a:ln>
        </p:spPr>
        <p:txBody>
          <a:bodyPr spcFirstLastPara="1" wrap="square" lIns="91425" tIns="45700" rIns="91425" bIns="45700" anchor="t" anchorCtr="0">
            <a:normAutofit/>
          </a:bodyPr>
          <a:lstStyle/>
          <a:p>
            <a:pPr marL="69850" lvl="0" indent="0" algn="just" rtl="0">
              <a:lnSpc>
                <a:spcPct val="95000"/>
              </a:lnSpc>
              <a:spcBef>
                <a:spcPts val="0"/>
              </a:spcBef>
              <a:spcAft>
                <a:spcPts val="0"/>
              </a:spcAft>
              <a:buSzPts val="2500"/>
              <a:buNone/>
            </a:pPr>
            <a:endParaRPr lang="en-SG" sz="2500" dirty="0">
              <a:solidFill>
                <a:schemeClr val="tx1"/>
              </a:solidFill>
            </a:endParaRPr>
          </a:p>
          <a:p>
            <a:pPr marL="69850" lvl="0" indent="0" algn="just" rtl="0">
              <a:lnSpc>
                <a:spcPct val="95000"/>
              </a:lnSpc>
              <a:spcBef>
                <a:spcPts val="0"/>
              </a:spcBef>
              <a:spcAft>
                <a:spcPts val="0"/>
              </a:spcAft>
              <a:buSzPts val="2500"/>
              <a:buNone/>
            </a:pPr>
            <a:endParaRPr lang="en-SG" sz="2500" dirty="0">
              <a:solidFill>
                <a:schemeClr val="tx1"/>
              </a:solidFill>
            </a:endParaRPr>
          </a:p>
        </p:txBody>
      </p:sp>
      <p:sp>
        <p:nvSpPr>
          <p:cNvPr id="4" name="Google Shape;102;p3">
            <a:extLst>
              <a:ext uri="{FF2B5EF4-FFF2-40B4-BE49-F238E27FC236}">
                <a16:creationId xmlns:a16="http://schemas.microsoft.com/office/drawing/2014/main" id="{2EC5EE1F-00E6-E729-4C21-30CB7DB0F5B5}"/>
              </a:ext>
            </a:extLst>
          </p:cNvPr>
          <p:cNvSpPr txBox="1">
            <a:spLocks/>
          </p:cNvSpPr>
          <p:nvPr/>
        </p:nvSpPr>
        <p:spPr>
          <a:xfrm>
            <a:off x="990600" y="1692963"/>
            <a:ext cx="10515600" cy="474930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69850" indent="0" algn="just">
              <a:lnSpc>
                <a:spcPct val="95000"/>
              </a:lnSpc>
              <a:spcBef>
                <a:spcPts val="0"/>
              </a:spcBef>
              <a:buSzPts val="2500"/>
              <a:buFont typeface="Arial"/>
              <a:buNone/>
            </a:pPr>
            <a:endParaRPr lang="en-SG" sz="2500" dirty="0">
              <a:solidFill>
                <a:schemeClr val="tx1"/>
              </a:solidFill>
            </a:endParaRPr>
          </a:p>
          <a:p>
            <a:pPr indent="-387350" algn="just">
              <a:lnSpc>
                <a:spcPct val="95000"/>
              </a:lnSpc>
              <a:spcBef>
                <a:spcPts val="0"/>
              </a:spcBef>
              <a:buSzPts val="2500"/>
              <a:buFont typeface="Calibri"/>
              <a:buChar char="●"/>
            </a:pPr>
            <a:r>
              <a:rPr lang="en-SG" sz="2500" dirty="0">
                <a:solidFill>
                  <a:schemeClr val="tx1"/>
                </a:solidFill>
              </a:rPr>
              <a:t>First-In-First-Out is an approach to the branch and bound problem that uses the queue approach to create a state-space tree. </a:t>
            </a:r>
          </a:p>
          <a:p>
            <a:pPr indent="-387350" algn="just">
              <a:lnSpc>
                <a:spcPct val="95000"/>
              </a:lnSpc>
              <a:spcBef>
                <a:spcPts val="0"/>
              </a:spcBef>
              <a:buSzPts val="2500"/>
              <a:buFont typeface="Calibri"/>
              <a:buChar char="●"/>
            </a:pPr>
            <a:endParaRPr lang="en-SG" sz="2500" dirty="0">
              <a:solidFill>
                <a:schemeClr val="tx1"/>
              </a:solidFill>
            </a:endParaRPr>
          </a:p>
          <a:p>
            <a:pPr indent="-387350" algn="just">
              <a:lnSpc>
                <a:spcPct val="95000"/>
              </a:lnSpc>
              <a:spcBef>
                <a:spcPts val="0"/>
              </a:spcBef>
              <a:buSzPts val="2500"/>
              <a:buFont typeface="Calibri"/>
              <a:buChar char="●"/>
            </a:pPr>
            <a:r>
              <a:rPr lang="en-SG" sz="2500" dirty="0">
                <a:solidFill>
                  <a:schemeClr val="tx1"/>
                </a:solidFill>
              </a:rPr>
              <a:t>In this case, the breadth-first search is performed.</a:t>
            </a:r>
          </a:p>
          <a:p>
            <a:pPr indent="-387350" algn="just">
              <a:lnSpc>
                <a:spcPct val="95000"/>
              </a:lnSpc>
              <a:spcBef>
                <a:spcPts val="0"/>
              </a:spcBef>
              <a:buSzPts val="2500"/>
              <a:buFont typeface="Calibri"/>
              <a:buChar char="●"/>
            </a:pPr>
            <a:endParaRPr lang="en-SG" sz="2500" dirty="0">
              <a:solidFill>
                <a:schemeClr val="tx1"/>
              </a:solidFill>
            </a:endParaRPr>
          </a:p>
          <a:p>
            <a:pPr indent="-387350" algn="just">
              <a:lnSpc>
                <a:spcPct val="95000"/>
              </a:lnSpc>
              <a:spcBef>
                <a:spcPts val="0"/>
              </a:spcBef>
              <a:buSzPts val="2500"/>
              <a:buFont typeface="Calibri"/>
              <a:buChar char="●"/>
            </a:pPr>
            <a:r>
              <a:rPr lang="en-SG" sz="2500" dirty="0">
                <a:solidFill>
                  <a:schemeClr val="tx1"/>
                </a:solidFill>
              </a:rPr>
              <a:t>That is, the elements at a certain level are all searched, and then the elements at the next level are searched, starting with the first child of the first node at the previous level.</a:t>
            </a:r>
          </a:p>
          <a:p>
            <a:pPr marL="69850" indent="0" algn="just">
              <a:lnSpc>
                <a:spcPct val="95000"/>
              </a:lnSpc>
              <a:spcBef>
                <a:spcPts val="0"/>
              </a:spcBef>
              <a:buSzPts val="2500"/>
              <a:buNone/>
            </a:pPr>
            <a:r>
              <a:rPr lang="en-SG" sz="2500" dirty="0">
                <a:solidFill>
                  <a:schemeClr val="tx1"/>
                </a:solidFill>
              </a:rPr>
              <a:t> </a:t>
            </a:r>
          </a:p>
        </p:txBody>
      </p:sp>
    </p:spTree>
    <p:extLst>
      <p:ext uri="{BB962C8B-B14F-4D97-AF65-F5344CB8AC3E}">
        <p14:creationId xmlns:p14="http://schemas.microsoft.com/office/powerpoint/2010/main" val="3978300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5DEB5F3B-E54B-117F-E18D-2F46EEA633D4}"/>
            </a:ext>
          </a:extLst>
        </p:cNvPr>
        <p:cNvGrpSpPr/>
        <p:nvPr/>
      </p:nvGrpSpPr>
      <p:grpSpPr>
        <a:xfrm>
          <a:off x="0" y="0"/>
          <a:ext cx="0" cy="0"/>
          <a:chOff x="0" y="0"/>
          <a:chExt cx="0" cy="0"/>
        </a:xfrm>
      </p:grpSpPr>
      <p:sp>
        <p:nvSpPr>
          <p:cNvPr id="101" name="Google Shape;101;p3">
            <a:extLst>
              <a:ext uri="{FF2B5EF4-FFF2-40B4-BE49-F238E27FC236}">
                <a16:creationId xmlns:a16="http://schemas.microsoft.com/office/drawing/2014/main" id="{29F44738-71C3-0EEB-13F5-3C79A62BCF56}"/>
              </a:ext>
            </a:extLst>
          </p:cNvPr>
          <p:cNvSpPr txBox="1">
            <a:spLocks noGrp="1"/>
          </p:cNvSpPr>
          <p:nvPr>
            <p:ph type="title"/>
          </p:nvPr>
        </p:nvSpPr>
        <p:spPr>
          <a:xfrm>
            <a:off x="933735" y="215000"/>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US" b="1" dirty="0">
                <a:solidFill>
                  <a:srgbClr val="833C0B"/>
                </a:solidFill>
              </a:rPr>
              <a:t>0/1 knapsack Problem</a:t>
            </a:r>
            <a:endParaRPr dirty="0">
              <a:solidFill>
                <a:srgbClr val="833C0B"/>
              </a:solidFill>
            </a:endParaRPr>
          </a:p>
        </p:txBody>
      </p:sp>
      <p:sp>
        <p:nvSpPr>
          <p:cNvPr id="8" name="Google Shape;102;p3">
            <a:extLst>
              <a:ext uri="{FF2B5EF4-FFF2-40B4-BE49-F238E27FC236}">
                <a16:creationId xmlns:a16="http://schemas.microsoft.com/office/drawing/2014/main" id="{45E05368-5554-C7E1-B02B-2C2644F69FE6}"/>
              </a:ext>
            </a:extLst>
          </p:cNvPr>
          <p:cNvSpPr txBox="1">
            <a:spLocks noGrp="1"/>
          </p:cNvSpPr>
          <p:nvPr>
            <p:ph type="body" idx="1"/>
          </p:nvPr>
        </p:nvSpPr>
        <p:spPr>
          <a:xfrm>
            <a:off x="838200" y="1540563"/>
            <a:ext cx="10515600" cy="4749307"/>
          </a:xfrm>
          <a:prstGeom prst="rect">
            <a:avLst/>
          </a:prstGeom>
          <a:noFill/>
          <a:ln>
            <a:noFill/>
          </a:ln>
        </p:spPr>
        <p:txBody>
          <a:bodyPr spcFirstLastPara="1" wrap="square" lIns="91425" tIns="45700" rIns="91425" bIns="45700" anchor="t" anchorCtr="0">
            <a:normAutofit/>
          </a:bodyPr>
          <a:lstStyle/>
          <a:p>
            <a:pPr marL="69850" lvl="0" indent="0" algn="just" rtl="0">
              <a:lnSpc>
                <a:spcPct val="95000"/>
              </a:lnSpc>
              <a:spcBef>
                <a:spcPts val="0"/>
              </a:spcBef>
              <a:spcAft>
                <a:spcPts val="0"/>
              </a:spcAft>
              <a:buSzPts val="2500"/>
              <a:buNone/>
            </a:pPr>
            <a:endParaRPr lang="en-SG" sz="2500" dirty="0">
              <a:solidFill>
                <a:schemeClr val="tx1"/>
              </a:solidFill>
            </a:endParaRPr>
          </a:p>
          <a:p>
            <a:pPr marL="69850" lvl="0" indent="0" algn="just" rtl="0">
              <a:lnSpc>
                <a:spcPct val="95000"/>
              </a:lnSpc>
              <a:spcBef>
                <a:spcPts val="0"/>
              </a:spcBef>
              <a:spcAft>
                <a:spcPts val="0"/>
              </a:spcAft>
              <a:buSzPts val="2500"/>
              <a:buNone/>
            </a:pPr>
            <a:endParaRPr lang="en-SG" sz="2500" dirty="0">
              <a:solidFill>
                <a:schemeClr val="tx1"/>
              </a:solidFill>
            </a:endParaRPr>
          </a:p>
        </p:txBody>
      </p:sp>
      <p:graphicFrame>
        <p:nvGraphicFramePr>
          <p:cNvPr id="2" name="Table 1">
            <a:extLst>
              <a:ext uri="{FF2B5EF4-FFF2-40B4-BE49-F238E27FC236}">
                <a16:creationId xmlns:a16="http://schemas.microsoft.com/office/drawing/2014/main" id="{DE537F85-38F6-6381-11FB-6380485DBFBD}"/>
              </a:ext>
            </a:extLst>
          </p:cNvPr>
          <p:cNvGraphicFramePr>
            <a:graphicFrameLocks noGrp="1"/>
          </p:cNvGraphicFramePr>
          <p:nvPr>
            <p:extLst>
              <p:ext uri="{D42A27DB-BD31-4B8C-83A1-F6EECF244321}">
                <p14:modId xmlns:p14="http://schemas.microsoft.com/office/powerpoint/2010/main" val="3740873368"/>
              </p:ext>
            </p:extLst>
          </p:nvPr>
        </p:nvGraphicFramePr>
        <p:xfrm>
          <a:off x="3041722" y="2260315"/>
          <a:ext cx="6108555" cy="2752077"/>
        </p:xfrm>
        <a:graphic>
          <a:graphicData uri="http://schemas.openxmlformats.org/drawingml/2006/table">
            <a:tbl>
              <a:tblPr firstRow="1" bandRow="1"/>
              <a:tblGrid>
                <a:gridCol w="1221711">
                  <a:extLst>
                    <a:ext uri="{9D8B030D-6E8A-4147-A177-3AD203B41FA5}">
                      <a16:colId xmlns:a16="http://schemas.microsoft.com/office/drawing/2014/main" val="326516221"/>
                    </a:ext>
                  </a:extLst>
                </a:gridCol>
                <a:gridCol w="1221711">
                  <a:extLst>
                    <a:ext uri="{9D8B030D-6E8A-4147-A177-3AD203B41FA5}">
                      <a16:colId xmlns:a16="http://schemas.microsoft.com/office/drawing/2014/main" val="1334878454"/>
                    </a:ext>
                  </a:extLst>
                </a:gridCol>
                <a:gridCol w="1221711">
                  <a:extLst>
                    <a:ext uri="{9D8B030D-6E8A-4147-A177-3AD203B41FA5}">
                      <a16:colId xmlns:a16="http://schemas.microsoft.com/office/drawing/2014/main" val="2190638984"/>
                    </a:ext>
                  </a:extLst>
                </a:gridCol>
                <a:gridCol w="1221711">
                  <a:extLst>
                    <a:ext uri="{9D8B030D-6E8A-4147-A177-3AD203B41FA5}">
                      <a16:colId xmlns:a16="http://schemas.microsoft.com/office/drawing/2014/main" val="1882814705"/>
                    </a:ext>
                  </a:extLst>
                </a:gridCol>
                <a:gridCol w="1221711">
                  <a:extLst>
                    <a:ext uri="{9D8B030D-6E8A-4147-A177-3AD203B41FA5}">
                      <a16:colId xmlns:a16="http://schemas.microsoft.com/office/drawing/2014/main" val="1107116143"/>
                    </a:ext>
                  </a:extLst>
                </a:gridCol>
              </a:tblGrid>
              <a:tr h="917359">
                <a:tc>
                  <a:txBody>
                    <a:bodyPr/>
                    <a:lstStyle/>
                    <a:p>
                      <a:pPr algn="ctr"/>
                      <a:r>
                        <a:rPr lang="en-SG" sz="2500" dirty="0" err="1">
                          <a:latin typeface="Calibri" panose="020F0502020204030204" pitchFamily="34" charset="0"/>
                          <a:ea typeface="Calibri" panose="020F0502020204030204" pitchFamily="34" charset="0"/>
                          <a:cs typeface="Calibri" panose="020F0502020204030204" pitchFamily="34" charset="0"/>
                        </a:rPr>
                        <a:t>i</a:t>
                      </a:r>
                      <a:endParaRPr lang="en-SG" sz="25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1</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2</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3</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4</a:t>
                      </a:r>
                    </a:p>
                  </a:txBody>
                  <a:tcPr/>
                </a:tc>
                <a:extLst>
                  <a:ext uri="{0D108BD9-81ED-4DB2-BD59-A6C34878D82A}">
                    <a16:rowId xmlns:a16="http://schemas.microsoft.com/office/drawing/2014/main" val="833304786"/>
                  </a:ext>
                </a:extLst>
              </a:tr>
              <a:tr h="917359">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p</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30</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28</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20</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24</a:t>
                      </a:r>
                    </a:p>
                  </a:txBody>
                  <a:tcPr/>
                </a:tc>
                <a:extLst>
                  <a:ext uri="{0D108BD9-81ED-4DB2-BD59-A6C34878D82A}">
                    <a16:rowId xmlns:a16="http://schemas.microsoft.com/office/drawing/2014/main" val="3880990255"/>
                  </a:ext>
                </a:extLst>
              </a:tr>
              <a:tr h="917359">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w</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5</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7</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4</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2</a:t>
                      </a:r>
                    </a:p>
                  </a:txBody>
                  <a:tcPr/>
                </a:tc>
                <a:extLst>
                  <a:ext uri="{0D108BD9-81ED-4DB2-BD59-A6C34878D82A}">
                    <a16:rowId xmlns:a16="http://schemas.microsoft.com/office/drawing/2014/main" val="997759328"/>
                  </a:ext>
                </a:extLst>
              </a:tr>
            </a:tbl>
          </a:graphicData>
        </a:graphic>
      </p:graphicFrame>
      <p:sp>
        <p:nvSpPr>
          <p:cNvPr id="7" name="TextBox 6">
            <a:extLst>
              <a:ext uri="{FF2B5EF4-FFF2-40B4-BE49-F238E27FC236}">
                <a16:creationId xmlns:a16="http://schemas.microsoft.com/office/drawing/2014/main" id="{7A3BA39E-D304-4F87-6D37-621D2B6BD860}"/>
              </a:ext>
            </a:extLst>
          </p:cNvPr>
          <p:cNvSpPr txBox="1"/>
          <p:nvPr/>
        </p:nvSpPr>
        <p:spPr>
          <a:xfrm>
            <a:off x="4137916" y="5248541"/>
            <a:ext cx="2262884" cy="477054"/>
          </a:xfrm>
          <a:prstGeom prst="rect">
            <a:avLst/>
          </a:prstGeom>
          <a:noFill/>
        </p:spPr>
        <p:txBody>
          <a:bodyPr wrap="square">
            <a:spAutoFit/>
          </a:bodyPr>
          <a:lstStyle/>
          <a:p>
            <a:r>
              <a:rPr lang="en-SG" sz="2500" dirty="0">
                <a:latin typeface="Calibri" panose="020F0502020204030204" pitchFamily="34" charset="0"/>
                <a:ea typeface="Calibri" panose="020F0502020204030204" pitchFamily="34" charset="0"/>
                <a:cs typeface="Calibri" panose="020F0502020204030204" pitchFamily="34" charset="0"/>
              </a:rPr>
              <a:t>Capacity=12</a:t>
            </a:r>
            <a:r>
              <a:rPr lang="en-SG" dirty="0"/>
              <a:t>.</a:t>
            </a:r>
          </a:p>
        </p:txBody>
      </p:sp>
    </p:spTree>
    <p:extLst>
      <p:ext uri="{BB962C8B-B14F-4D97-AF65-F5344CB8AC3E}">
        <p14:creationId xmlns:p14="http://schemas.microsoft.com/office/powerpoint/2010/main" val="553684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4BA9C412-16CA-40F4-DBB8-42D163B47A33}"/>
            </a:ext>
          </a:extLst>
        </p:cNvPr>
        <p:cNvGrpSpPr/>
        <p:nvPr/>
      </p:nvGrpSpPr>
      <p:grpSpPr>
        <a:xfrm>
          <a:off x="0" y="0"/>
          <a:ext cx="0" cy="0"/>
          <a:chOff x="0" y="0"/>
          <a:chExt cx="0" cy="0"/>
        </a:xfrm>
      </p:grpSpPr>
      <p:sp>
        <p:nvSpPr>
          <p:cNvPr id="101" name="Google Shape;101;p3">
            <a:extLst>
              <a:ext uri="{FF2B5EF4-FFF2-40B4-BE49-F238E27FC236}">
                <a16:creationId xmlns:a16="http://schemas.microsoft.com/office/drawing/2014/main" id="{6EB548CB-89C5-194C-B31C-B4315C5064F0}"/>
              </a:ext>
            </a:extLst>
          </p:cNvPr>
          <p:cNvSpPr txBox="1">
            <a:spLocks noGrp="1"/>
          </p:cNvSpPr>
          <p:nvPr>
            <p:ph type="title"/>
          </p:nvPr>
        </p:nvSpPr>
        <p:spPr>
          <a:xfrm>
            <a:off x="933735" y="215000"/>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US" b="1" dirty="0">
                <a:solidFill>
                  <a:srgbClr val="833C0B"/>
                </a:solidFill>
              </a:rPr>
              <a:t>0/1 knapsack Problem-Solution</a:t>
            </a:r>
            <a:endParaRPr dirty="0">
              <a:solidFill>
                <a:srgbClr val="833C0B"/>
              </a:solidFill>
            </a:endParaRPr>
          </a:p>
        </p:txBody>
      </p:sp>
      <p:sp>
        <p:nvSpPr>
          <p:cNvPr id="8" name="Google Shape;102;p3">
            <a:extLst>
              <a:ext uri="{FF2B5EF4-FFF2-40B4-BE49-F238E27FC236}">
                <a16:creationId xmlns:a16="http://schemas.microsoft.com/office/drawing/2014/main" id="{79F7BB69-9D25-7C7B-89FE-D0EDD16E74A6}"/>
              </a:ext>
            </a:extLst>
          </p:cNvPr>
          <p:cNvSpPr txBox="1">
            <a:spLocks noGrp="1"/>
          </p:cNvSpPr>
          <p:nvPr>
            <p:ph type="body" idx="1"/>
          </p:nvPr>
        </p:nvSpPr>
        <p:spPr>
          <a:xfrm>
            <a:off x="838200" y="1540563"/>
            <a:ext cx="10515600" cy="4749307"/>
          </a:xfrm>
          <a:prstGeom prst="rect">
            <a:avLst/>
          </a:prstGeom>
          <a:noFill/>
          <a:ln>
            <a:noFill/>
          </a:ln>
        </p:spPr>
        <p:txBody>
          <a:bodyPr spcFirstLastPara="1" wrap="square" lIns="91425" tIns="45700" rIns="91425" bIns="45700" anchor="t" anchorCtr="0">
            <a:normAutofit/>
          </a:bodyPr>
          <a:lstStyle/>
          <a:p>
            <a:pPr marL="69850" lvl="0" indent="0" algn="just" rtl="0">
              <a:lnSpc>
                <a:spcPct val="95000"/>
              </a:lnSpc>
              <a:spcBef>
                <a:spcPts val="0"/>
              </a:spcBef>
              <a:spcAft>
                <a:spcPts val="0"/>
              </a:spcAft>
              <a:buSzPts val="2500"/>
              <a:buNone/>
            </a:pPr>
            <a:endParaRPr lang="en-SG" sz="2500" dirty="0">
              <a:solidFill>
                <a:schemeClr val="tx1"/>
              </a:solidFill>
            </a:endParaRPr>
          </a:p>
          <a:p>
            <a:pPr marL="69850" lvl="0" indent="0" algn="just" rtl="0">
              <a:lnSpc>
                <a:spcPct val="95000"/>
              </a:lnSpc>
              <a:spcBef>
                <a:spcPts val="0"/>
              </a:spcBef>
              <a:spcAft>
                <a:spcPts val="0"/>
              </a:spcAft>
              <a:buSzPts val="2500"/>
              <a:buNone/>
            </a:pPr>
            <a:endParaRPr lang="en-SG" sz="2500" dirty="0">
              <a:solidFill>
                <a:schemeClr val="tx1"/>
              </a:solidFill>
            </a:endParaRPr>
          </a:p>
        </p:txBody>
      </p:sp>
      <p:pic>
        <p:nvPicPr>
          <p:cNvPr id="4" name="Picture 3">
            <a:extLst>
              <a:ext uri="{FF2B5EF4-FFF2-40B4-BE49-F238E27FC236}">
                <a16:creationId xmlns:a16="http://schemas.microsoft.com/office/drawing/2014/main" id="{5220A9DF-D617-D397-48A7-9F2CBAC56A22}"/>
              </a:ext>
            </a:extLst>
          </p:cNvPr>
          <p:cNvPicPr>
            <a:picLocks noChangeAspect="1"/>
          </p:cNvPicPr>
          <p:nvPr/>
        </p:nvPicPr>
        <p:blipFill>
          <a:blip r:embed="rId3"/>
          <a:stretch>
            <a:fillRect/>
          </a:stretch>
        </p:blipFill>
        <p:spPr>
          <a:xfrm>
            <a:off x="1197181" y="1674688"/>
            <a:ext cx="5254381" cy="4403038"/>
          </a:xfrm>
          <a:prstGeom prst="rect">
            <a:avLst/>
          </a:prstGeom>
        </p:spPr>
      </p:pic>
      <p:graphicFrame>
        <p:nvGraphicFramePr>
          <p:cNvPr id="5" name="Table 4">
            <a:extLst>
              <a:ext uri="{FF2B5EF4-FFF2-40B4-BE49-F238E27FC236}">
                <a16:creationId xmlns:a16="http://schemas.microsoft.com/office/drawing/2014/main" id="{DEF906D5-59FD-11CB-783C-BCDCEE4030E1}"/>
              </a:ext>
            </a:extLst>
          </p:cNvPr>
          <p:cNvGraphicFramePr>
            <a:graphicFrameLocks noGrp="1"/>
          </p:cNvGraphicFramePr>
          <p:nvPr>
            <p:extLst>
              <p:ext uri="{D42A27DB-BD31-4B8C-83A1-F6EECF244321}">
                <p14:modId xmlns:p14="http://schemas.microsoft.com/office/powerpoint/2010/main" val="3188896580"/>
              </p:ext>
            </p:extLst>
          </p:nvPr>
        </p:nvGraphicFramePr>
        <p:xfrm>
          <a:off x="6894771" y="1700890"/>
          <a:ext cx="4818010" cy="2330472"/>
        </p:xfrm>
        <a:graphic>
          <a:graphicData uri="http://schemas.openxmlformats.org/drawingml/2006/table">
            <a:tbl>
              <a:tblPr firstRow="1" bandRow="1"/>
              <a:tblGrid>
                <a:gridCol w="963602">
                  <a:extLst>
                    <a:ext uri="{9D8B030D-6E8A-4147-A177-3AD203B41FA5}">
                      <a16:colId xmlns:a16="http://schemas.microsoft.com/office/drawing/2014/main" val="326516221"/>
                    </a:ext>
                  </a:extLst>
                </a:gridCol>
                <a:gridCol w="963602">
                  <a:extLst>
                    <a:ext uri="{9D8B030D-6E8A-4147-A177-3AD203B41FA5}">
                      <a16:colId xmlns:a16="http://schemas.microsoft.com/office/drawing/2014/main" val="1334878454"/>
                    </a:ext>
                  </a:extLst>
                </a:gridCol>
                <a:gridCol w="963602">
                  <a:extLst>
                    <a:ext uri="{9D8B030D-6E8A-4147-A177-3AD203B41FA5}">
                      <a16:colId xmlns:a16="http://schemas.microsoft.com/office/drawing/2014/main" val="2190638984"/>
                    </a:ext>
                  </a:extLst>
                </a:gridCol>
                <a:gridCol w="963602">
                  <a:extLst>
                    <a:ext uri="{9D8B030D-6E8A-4147-A177-3AD203B41FA5}">
                      <a16:colId xmlns:a16="http://schemas.microsoft.com/office/drawing/2014/main" val="1882814705"/>
                    </a:ext>
                  </a:extLst>
                </a:gridCol>
                <a:gridCol w="963602">
                  <a:extLst>
                    <a:ext uri="{9D8B030D-6E8A-4147-A177-3AD203B41FA5}">
                      <a16:colId xmlns:a16="http://schemas.microsoft.com/office/drawing/2014/main" val="1107116143"/>
                    </a:ext>
                  </a:extLst>
                </a:gridCol>
              </a:tblGrid>
              <a:tr h="776824">
                <a:tc>
                  <a:txBody>
                    <a:bodyPr/>
                    <a:lstStyle/>
                    <a:p>
                      <a:pPr algn="ctr"/>
                      <a:r>
                        <a:rPr lang="en-SG" sz="2500" dirty="0" err="1">
                          <a:latin typeface="Calibri" panose="020F0502020204030204" pitchFamily="34" charset="0"/>
                          <a:ea typeface="Calibri" panose="020F0502020204030204" pitchFamily="34" charset="0"/>
                          <a:cs typeface="Calibri" panose="020F0502020204030204" pitchFamily="34" charset="0"/>
                        </a:rPr>
                        <a:t>i</a:t>
                      </a:r>
                      <a:endParaRPr lang="en-SG" sz="25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1</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2</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3</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4</a:t>
                      </a:r>
                    </a:p>
                  </a:txBody>
                  <a:tcPr/>
                </a:tc>
                <a:extLst>
                  <a:ext uri="{0D108BD9-81ED-4DB2-BD59-A6C34878D82A}">
                    <a16:rowId xmlns:a16="http://schemas.microsoft.com/office/drawing/2014/main" val="833304786"/>
                  </a:ext>
                </a:extLst>
              </a:tr>
              <a:tr h="776824">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p</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30</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28</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20</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24</a:t>
                      </a:r>
                    </a:p>
                  </a:txBody>
                  <a:tcPr/>
                </a:tc>
                <a:extLst>
                  <a:ext uri="{0D108BD9-81ED-4DB2-BD59-A6C34878D82A}">
                    <a16:rowId xmlns:a16="http://schemas.microsoft.com/office/drawing/2014/main" val="3880990255"/>
                  </a:ext>
                </a:extLst>
              </a:tr>
              <a:tr h="776824">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w</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5</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7</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4</a:t>
                      </a:r>
                    </a:p>
                  </a:txBody>
                  <a:tcPr/>
                </a:tc>
                <a:tc>
                  <a:txBody>
                    <a:bodyPr/>
                    <a:lstStyle/>
                    <a:p>
                      <a:pPr algn="ctr"/>
                      <a:r>
                        <a:rPr lang="en-SG" sz="2500" dirty="0">
                          <a:latin typeface="Calibri" panose="020F0502020204030204" pitchFamily="34" charset="0"/>
                          <a:ea typeface="Calibri" panose="020F0502020204030204" pitchFamily="34" charset="0"/>
                          <a:cs typeface="Calibri" panose="020F0502020204030204" pitchFamily="34" charset="0"/>
                        </a:rPr>
                        <a:t>2</a:t>
                      </a:r>
                    </a:p>
                  </a:txBody>
                  <a:tcPr/>
                </a:tc>
                <a:extLst>
                  <a:ext uri="{0D108BD9-81ED-4DB2-BD59-A6C34878D82A}">
                    <a16:rowId xmlns:a16="http://schemas.microsoft.com/office/drawing/2014/main" val="997759328"/>
                  </a:ext>
                </a:extLst>
              </a:tr>
            </a:tbl>
          </a:graphicData>
        </a:graphic>
      </p:graphicFrame>
    </p:spTree>
    <p:extLst>
      <p:ext uri="{BB962C8B-B14F-4D97-AF65-F5344CB8AC3E}">
        <p14:creationId xmlns:p14="http://schemas.microsoft.com/office/powerpoint/2010/main" val="3316262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C6B7DE2F-DFAA-FDF2-5324-CF9882BAF953}"/>
            </a:ext>
          </a:extLst>
        </p:cNvPr>
        <p:cNvGrpSpPr/>
        <p:nvPr/>
      </p:nvGrpSpPr>
      <p:grpSpPr>
        <a:xfrm>
          <a:off x="0" y="0"/>
          <a:ext cx="0" cy="0"/>
          <a:chOff x="0" y="0"/>
          <a:chExt cx="0" cy="0"/>
        </a:xfrm>
      </p:grpSpPr>
      <p:sp>
        <p:nvSpPr>
          <p:cNvPr id="101" name="Google Shape;101;p3">
            <a:extLst>
              <a:ext uri="{FF2B5EF4-FFF2-40B4-BE49-F238E27FC236}">
                <a16:creationId xmlns:a16="http://schemas.microsoft.com/office/drawing/2014/main" id="{E157DF0B-E408-F2A4-177A-BEA0337677BA}"/>
              </a:ext>
            </a:extLst>
          </p:cNvPr>
          <p:cNvSpPr txBox="1">
            <a:spLocks noGrp="1"/>
          </p:cNvSpPr>
          <p:nvPr>
            <p:ph type="title"/>
          </p:nvPr>
        </p:nvSpPr>
        <p:spPr>
          <a:xfrm>
            <a:off x="933735" y="215000"/>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US" b="1" dirty="0">
                <a:solidFill>
                  <a:srgbClr val="833C0B"/>
                </a:solidFill>
              </a:rPr>
              <a:t>DP is often better</a:t>
            </a:r>
            <a:endParaRPr dirty="0">
              <a:solidFill>
                <a:srgbClr val="833C0B"/>
              </a:solidFill>
            </a:endParaRPr>
          </a:p>
        </p:txBody>
      </p:sp>
      <p:sp>
        <p:nvSpPr>
          <p:cNvPr id="8" name="Google Shape;102;p3">
            <a:extLst>
              <a:ext uri="{FF2B5EF4-FFF2-40B4-BE49-F238E27FC236}">
                <a16:creationId xmlns:a16="http://schemas.microsoft.com/office/drawing/2014/main" id="{75E4C0C0-989A-409C-BA25-F9D987594FE7}"/>
              </a:ext>
            </a:extLst>
          </p:cNvPr>
          <p:cNvSpPr txBox="1">
            <a:spLocks noGrp="1"/>
          </p:cNvSpPr>
          <p:nvPr>
            <p:ph type="body" idx="1"/>
          </p:nvPr>
        </p:nvSpPr>
        <p:spPr>
          <a:xfrm>
            <a:off x="838200" y="1540563"/>
            <a:ext cx="10515600" cy="4749307"/>
          </a:xfrm>
          <a:prstGeom prst="rect">
            <a:avLst/>
          </a:prstGeom>
          <a:noFill/>
          <a:ln>
            <a:noFill/>
          </a:ln>
        </p:spPr>
        <p:txBody>
          <a:bodyPr spcFirstLastPara="1" wrap="square" lIns="91425" tIns="45700" rIns="91425" bIns="45700" anchor="t" anchorCtr="0">
            <a:normAutofit/>
          </a:bodyPr>
          <a:lstStyle/>
          <a:p>
            <a:pPr marL="69850" lvl="0" indent="0" algn="just" rtl="0">
              <a:lnSpc>
                <a:spcPct val="95000"/>
              </a:lnSpc>
              <a:spcBef>
                <a:spcPts val="0"/>
              </a:spcBef>
              <a:spcAft>
                <a:spcPts val="0"/>
              </a:spcAft>
              <a:buSzPts val="2500"/>
              <a:buNone/>
            </a:pPr>
            <a:endParaRPr lang="en-SG" sz="2500" dirty="0">
              <a:solidFill>
                <a:schemeClr val="tx1"/>
              </a:solidFill>
            </a:endParaRPr>
          </a:p>
          <a:p>
            <a:pPr marL="69850" lvl="0" indent="0" algn="just" rtl="0">
              <a:lnSpc>
                <a:spcPct val="95000"/>
              </a:lnSpc>
              <a:spcBef>
                <a:spcPts val="0"/>
              </a:spcBef>
              <a:spcAft>
                <a:spcPts val="0"/>
              </a:spcAft>
              <a:buSzPts val="2500"/>
              <a:buNone/>
            </a:pPr>
            <a:r>
              <a:rPr lang="en-SG" sz="2500" dirty="0">
                <a:solidFill>
                  <a:schemeClr val="tx1"/>
                </a:solidFill>
              </a:rPr>
              <a:t>For classic 0/1 knapsack:</a:t>
            </a:r>
          </a:p>
          <a:p>
            <a:pPr marL="457200" lvl="0" indent="-387350" algn="just" rtl="0">
              <a:lnSpc>
                <a:spcPct val="95000"/>
              </a:lnSpc>
              <a:spcBef>
                <a:spcPts val="0"/>
              </a:spcBef>
              <a:spcAft>
                <a:spcPts val="0"/>
              </a:spcAft>
              <a:buSzPts val="2500"/>
              <a:buFont typeface="Calibri"/>
              <a:buChar char="●"/>
            </a:pPr>
            <a:r>
              <a:rPr lang="pt-BR" sz="2500" dirty="0">
                <a:solidFill>
                  <a:schemeClr val="tx1"/>
                </a:solidFill>
              </a:rPr>
              <a:t>Time complexity: O(n × W)</a:t>
            </a:r>
          </a:p>
          <a:p>
            <a:pPr marL="457200" lvl="0" indent="-387350" algn="just" rtl="0">
              <a:lnSpc>
                <a:spcPct val="95000"/>
              </a:lnSpc>
              <a:spcBef>
                <a:spcPts val="0"/>
              </a:spcBef>
              <a:spcAft>
                <a:spcPts val="0"/>
              </a:spcAft>
              <a:buSzPts val="2500"/>
              <a:buFont typeface="Calibri"/>
              <a:buChar char="●"/>
            </a:pPr>
            <a:r>
              <a:rPr lang="en-SG" sz="2500" dirty="0">
                <a:solidFill>
                  <a:schemeClr val="tx1"/>
                </a:solidFill>
              </a:rPr>
              <a:t>Guarantees optimal solution</a:t>
            </a:r>
          </a:p>
          <a:p>
            <a:pPr marL="457200" lvl="0" indent="-387350" algn="just" rtl="0">
              <a:lnSpc>
                <a:spcPct val="95000"/>
              </a:lnSpc>
              <a:spcBef>
                <a:spcPts val="0"/>
              </a:spcBef>
              <a:spcAft>
                <a:spcPts val="0"/>
              </a:spcAft>
              <a:buSzPts val="2500"/>
              <a:buFont typeface="Calibri"/>
              <a:buChar char="●"/>
            </a:pPr>
            <a:r>
              <a:rPr lang="en-SG" sz="2500" dirty="0">
                <a:solidFill>
                  <a:schemeClr val="tx1"/>
                </a:solidFill>
              </a:rPr>
              <a:t>Straightforward to implement</a:t>
            </a:r>
          </a:p>
        </p:txBody>
      </p:sp>
    </p:spTree>
    <p:extLst>
      <p:ext uri="{BB962C8B-B14F-4D97-AF65-F5344CB8AC3E}">
        <p14:creationId xmlns:p14="http://schemas.microsoft.com/office/powerpoint/2010/main" val="2613155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12C5E066-CEB2-B021-BC8F-38C58F8E4005}"/>
            </a:ext>
          </a:extLst>
        </p:cNvPr>
        <p:cNvGrpSpPr/>
        <p:nvPr/>
      </p:nvGrpSpPr>
      <p:grpSpPr>
        <a:xfrm>
          <a:off x="0" y="0"/>
          <a:ext cx="0" cy="0"/>
          <a:chOff x="0" y="0"/>
          <a:chExt cx="0" cy="0"/>
        </a:xfrm>
      </p:grpSpPr>
      <p:sp>
        <p:nvSpPr>
          <p:cNvPr id="101" name="Google Shape;101;p3">
            <a:extLst>
              <a:ext uri="{FF2B5EF4-FFF2-40B4-BE49-F238E27FC236}">
                <a16:creationId xmlns:a16="http://schemas.microsoft.com/office/drawing/2014/main" id="{774D26F6-B764-2E00-CC6C-46DD93191344}"/>
              </a:ext>
            </a:extLst>
          </p:cNvPr>
          <p:cNvSpPr txBox="1">
            <a:spLocks noGrp="1"/>
          </p:cNvSpPr>
          <p:nvPr>
            <p:ph type="title"/>
          </p:nvPr>
        </p:nvSpPr>
        <p:spPr>
          <a:xfrm>
            <a:off x="933735" y="215000"/>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SG" b="1" dirty="0">
                <a:solidFill>
                  <a:srgbClr val="833C0B"/>
                </a:solidFill>
              </a:rPr>
              <a:t>Where Branch and Bound Becomes Useful</a:t>
            </a:r>
            <a:endParaRPr dirty="0">
              <a:solidFill>
                <a:srgbClr val="833C0B"/>
              </a:solidFill>
            </a:endParaRPr>
          </a:p>
        </p:txBody>
      </p:sp>
      <p:sp>
        <p:nvSpPr>
          <p:cNvPr id="8" name="Google Shape;102;p3">
            <a:extLst>
              <a:ext uri="{FF2B5EF4-FFF2-40B4-BE49-F238E27FC236}">
                <a16:creationId xmlns:a16="http://schemas.microsoft.com/office/drawing/2014/main" id="{353DCA42-F1D6-377A-D84A-279AB9B5903D}"/>
              </a:ext>
            </a:extLst>
          </p:cNvPr>
          <p:cNvSpPr txBox="1">
            <a:spLocks noGrp="1"/>
          </p:cNvSpPr>
          <p:nvPr>
            <p:ph type="body" idx="1"/>
          </p:nvPr>
        </p:nvSpPr>
        <p:spPr>
          <a:xfrm>
            <a:off x="838200" y="1540563"/>
            <a:ext cx="10515600" cy="4749307"/>
          </a:xfrm>
          <a:prstGeom prst="rect">
            <a:avLst/>
          </a:prstGeom>
          <a:noFill/>
          <a:ln>
            <a:noFill/>
          </a:ln>
        </p:spPr>
        <p:txBody>
          <a:bodyPr spcFirstLastPara="1" wrap="square" lIns="91425" tIns="45700" rIns="91425" bIns="45700" anchor="t" anchorCtr="0">
            <a:normAutofit/>
          </a:bodyPr>
          <a:lstStyle/>
          <a:p>
            <a:pPr marL="69850" lvl="0" indent="0" algn="just" rtl="0">
              <a:lnSpc>
                <a:spcPct val="95000"/>
              </a:lnSpc>
              <a:spcBef>
                <a:spcPts val="0"/>
              </a:spcBef>
              <a:spcAft>
                <a:spcPts val="0"/>
              </a:spcAft>
              <a:buSzPts val="2500"/>
              <a:buNone/>
            </a:pPr>
            <a:endParaRPr lang="en-SG" sz="2500" dirty="0">
              <a:solidFill>
                <a:schemeClr val="tx1"/>
              </a:solidFill>
            </a:endParaRPr>
          </a:p>
          <a:p>
            <a:pPr marL="69850" lvl="0" indent="0" algn="just" rtl="0">
              <a:lnSpc>
                <a:spcPct val="95000"/>
              </a:lnSpc>
              <a:spcBef>
                <a:spcPts val="0"/>
              </a:spcBef>
              <a:spcAft>
                <a:spcPts val="0"/>
              </a:spcAft>
              <a:buSzPts val="2500"/>
              <a:buNone/>
            </a:pPr>
            <a:r>
              <a:rPr lang="en-SG" sz="2500" dirty="0">
                <a:solidFill>
                  <a:schemeClr val="tx1"/>
                </a:solidFill>
              </a:rPr>
              <a:t>Large Capacity (W is huge)</a:t>
            </a:r>
            <a:r>
              <a:rPr lang="pt-BR" sz="2500" dirty="0">
                <a:solidFill>
                  <a:schemeClr val="tx1"/>
                </a:solidFill>
              </a:rPr>
              <a:t> </a:t>
            </a:r>
          </a:p>
          <a:p>
            <a:pPr marL="457200" lvl="0" indent="-387350" algn="just" rtl="0">
              <a:lnSpc>
                <a:spcPct val="95000"/>
              </a:lnSpc>
              <a:spcBef>
                <a:spcPts val="0"/>
              </a:spcBef>
              <a:spcAft>
                <a:spcPts val="0"/>
              </a:spcAft>
              <a:buSzPts val="2500"/>
              <a:buFont typeface="Calibri"/>
              <a:buChar char="●"/>
            </a:pPr>
            <a:r>
              <a:rPr lang="en-SG" sz="2500" dirty="0">
                <a:solidFill>
                  <a:schemeClr val="tx1"/>
                </a:solidFill>
              </a:rPr>
              <a:t>DP depends on W (capacity).</a:t>
            </a:r>
          </a:p>
          <a:p>
            <a:pPr marL="457200" lvl="0" indent="-387350" algn="just" rtl="0">
              <a:lnSpc>
                <a:spcPct val="95000"/>
              </a:lnSpc>
              <a:spcBef>
                <a:spcPts val="0"/>
              </a:spcBef>
              <a:spcAft>
                <a:spcPts val="0"/>
              </a:spcAft>
              <a:buSzPts val="2500"/>
              <a:buFont typeface="Calibri"/>
              <a:buChar char="●"/>
            </a:pPr>
            <a:r>
              <a:rPr lang="en-SG" sz="2500" dirty="0">
                <a:solidFill>
                  <a:schemeClr val="tx1"/>
                </a:solidFill>
              </a:rPr>
              <a:t>If W = 10⁶ or more then DP table becomes too large (memory + time issue)</a:t>
            </a:r>
          </a:p>
        </p:txBody>
      </p:sp>
    </p:spTree>
    <p:extLst>
      <p:ext uri="{BB962C8B-B14F-4D97-AF65-F5344CB8AC3E}">
        <p14:creationId xmlns:p14="http://schemas.microsoft.com/office/powerpoint/2010/main" val="126875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8000"/>
              <a:buNone/>
            </a:pPr>
            <a:endParaRPr sz="8000" dirty="0"/>
          </a:p>
          <a:p>
            <a:pPr marL="0" lvl="0" indent="0" algn="ctr" rtl="0">
              <a:lnSpc>
                <a:spcPct val="90000"/>
              </a:lnSpc>
              <a:spcBef>
                <a:spcPts val="1000"/>
              </a:spcBef>
              <a:spcAft>
                <a:spcPts val="0"/>
              </a:spcAft>
              <a:buClr>
                <a:srgbClr val="FF0000"/>
              </a:buClr>
              <a:buSzPts val="8000"/>
              <a:buNone/>
            </a:pPr>
            <a:r>
              <a:rPr lang="en-US" sz="8000" dirty="0">
                <a:solidFill>
                  <a:srgbClr val="C00000"/>
                </a:solidFill>
              </a:rPr>
              <a:t>Thank You</a:t>
            </a:r>
            <a:endParaRPr dirty="0">
              <a:solidFill>
                <a:srgbClr val="C0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2996</TotalTime>
  <Words>391</Words>
  <Application>Microsoft Office PowerPoint</Application>
  <PresentationFormat>Widescreen</PresentationFormat>
  <Paragraphs>65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Branch and Bound</vt:lpstr>
      <vt:lpstr>Introduction</vt:lpstr>
      <vt:lpstr>When to apply Branch and Bound Algorithm</vt:lpstr>
      <vt:lpstr>Branch and Bound-Example</vt:lpstr>
      <vt:lpstr>FIFO Branch and Bound</vt:lpstr>
      <vt:lpstr>0/1 knapsack Problem</vt:lpstr>
      <vt:lpstr>0/1 knapsack Problem-Solution</vt:lpstr>
      <vt:lpstr>DP is often better</vt:lpstr>
      <vt:lpstr>Where Branch and Bound Becomes Useful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Insanur Shuvo</dc:creator>
  <cp:lastModifiedBy>Maimuna Chowdhury Disha</cp:lastModifiedBy>
  <cp:revision>45</cp:revision>
  <dcterms:created xsi:type="dcterms:W3CDTF">2016-09-19T04:08:53Z</dcterms:created>
  <dcterms:modified xsi:type="dcterms:W3CDTF">2026-04-20T05:22:00Z</dcterms:modified>
</cp:coreProperties>
</file>