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8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340" r:id="rId4"/>
    <p:sldId id="380" r:id="rId5"/>
    <p:sldId id="381" r:id="rId6"/>
    <p:sldId id="382" r:id="rId7"/>
    <p:sldId id="383" r:id="rId8"/>
    <p:sldId id="384" r:id="rId9"/>
    <p:sldId id="385" r:id="rId10"/>
    <p:sldId id="386" r:id="rId11"/>
    <p:sldId id="359" r:id="rId12"/>
    <p:sldId id="332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65" r:id="rId22"/>
    <p:sldId id="28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gSE3pmRORSF/beTMrWOScEMNo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2:14.54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1 550 24575,'1'-26'0,"1"0"0,2 0 0,0 0 0,2 1 0,11-34 0,5 0 0,31-57 0,-33 72 0,-6 14 0,26-43 0,-38 70 0,1 0 0,-1 0 0,1 0 0,0 0 0,0 1 0,0-1 0,1 1 0,-1 0 0,0 0 0,1 0 0,-1 0 0,1 0 0,0 1 0,0 0 0,-1 0 0,1 0 0,0 0 0,5 0 0,8 0 0,-1 0 0,1 1 0,18 3 0,-2 0 0,33-3 0,-42-1 0,-1 1 0,1 1 0,37 6 0,-47-3 0,0 1 0,0 0 0,0 0 0,-1 1 0,1 1 0,16 12 0,-25-14 0,0 0 0,0 0 0,-1 1 0,0-1 0,0 1 0,-1 0 0,1 1 0,-1-1 0,-1 0 0,4 11 0,8 17 0,10 19 0,-17-36 0,0-1 0,1 0 0,1 0 0,17 22 0,-21-30 0,0 0 0,0 0 0,-1 0 0,0 1 0,0 0 0,-1-1 0,0 1 0,-1 0 0,0 0 0,0 1 0,0 15 0,-1-4 0,-1 0 0,-1 0 0,-1 0 0,-5 23 0,3-27 0,-1 0 0,-13 27 0,10-26 0,-10 37 0,15-43 0,0 0 0,-1 0 0,0-1 0,-1 1 0,-1-1 0,-10 18 0,12-24 0,0 0 0,0 0 0,-1 0 0,1-1 0,-1 0 0,0 1 0,0-2 0,0 1 0,-1-1 0,0 0 0,1 0 0,-1 0 0,0-1 0,0 0 0,-7 2 0,-56 13 0,-105 22 0,144-35 0,0 0 0,-1-2 0,-53-3 0,80 1 0,1 0 0,-1-1 0,1 1 0,-1-1 0,1 0 0,0 0 0,-1 0 0,1-1 0,0 1 0,0-1 0,-1 1 0,1-1 0,1 0 0,-1-1 0,0 1 0,0 0 0,1-1 0,-1 1 0,1-1 0,0 0 0,0 0 0,0 0 0,0 0 0,-1-3 0,0-3 0,0-1 0,1 1 0,0 0 0,0-1 0,1 1 0,0-1 0,1-17 0,0 2 0,-1 0 0,-1 0 0,-6-30 0,2 16 51,5 27-523,-1 0 0,-5-21 0,0 15-6354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2:47.98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1 230 24575,'1'-4'0,"1"0"0,-1 0 0,1 0 0,0 0 0,0 1 0,1-1 0,-1 0 0,1 1 0,0 0 0,-1 0 0,7-6 0,-3 4 0,6-7 0,1 0 0,0 1 0,1 1 0,0 0 0,18-9 0,79-34 0,-94 47 0,-1 0 0,1 2 0,17-3 0,5-1 0,-16 2 0,0 2 0,0 0 0,45 0 0,-59 4 0,0 1 0,0-1 0,1 2 0,-1-1 0,0 2 0,0-1 0,-1 1 0,1 0 0,-1 1 0,1 0 0,-1 0 0,14 10 0,63 64 0,-63-55 0,1-2 0,45 34 0,-47-43 0,-1 2 0,-1 0 0,0 2 0,-1 0 0,30 34 0,-45-45 0,1 1 0,-1 0 0,-1 1 0,1-1 0,-1 0 0,0 1 0,0 0 0,-1-1 0,0 1 0,1 8 0,-1 13 0,-3 33 0,0-23 0,2 25 0,-3 47 0,2-104 0,0 1 0,-1 0 0,0 0 0,0-1 0,0 1 0,-1-1 0,0 0 0,-1 1 0,1-2 0,-1 1 0,-8 9 0,-7 6 0,-36 31 0,3-3 0,16-9 0,-3-2 0,0-1 0,-3-3 0,-71 47 0,96-71 0,-8 6 0,-48 20 0,64-32 0,0-1 0,0 0 0,-1-1 0,1 0 0,-1-1 0,1 0 0,-1 0 0,0-1 0,-13-1 0,19 1 0,0-1 0,-1 0 0,1-1 0,0 1 0,0 0 0,0-1 0,1 0 0,-1 0 0,0 0 0,1-1 0,-1 1 0,1-1 0,0 0 0,0 0 0,-4-4 0,-3-6 0,1 0 0,-14-26 0,-1-1 0,11 20 0,-18-42 0,3 6 0,25 50 0,-5-5 0,1-1 0,1 0 0,0 0 0,1 0 0,0-1 0,1 1 0,0-1 0,1 0 0,-3-25 0,6-236 0,2 119 0,-2 70-1365,0 60-5461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4:41.18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716 117 24575,'737'0'0,"-729"0"0,-1 0 0,1 1 0,0 0 0,0 0 0,0 1 0,-1 0 0,1 0 0,-1 1 0,0 0 0,1 0 0,-1 1 0,-1-1 0,1 2 0,0-1 0,-1 1 0,0 0 0,0 0 0,8 11 0,36 25 0,-43-36 0,0 0 0,0 1 0,0-1 0,0 1 0,-1 1 0,0-1 0,0 1 0,-1 0 0,0 1 0,0-1 0,-1 1 0,6 13 0,-1 7 0,-1 1 0,-1 0 0,-2 1 0,-1-1 0,-1 1 0,-1 0 0,-2-1 0,-1 1 0,-2 0 0,-10 51 0,6-51 0,-1 0 0,-2-1 0,-1 0 0,-1-1 0,-1 0 0,-2-1 0,0 0 0,-2-2 0,-1 0 0,-30 33 0,28-37 0,-1 0 0,-1-2 0,-1 0 0,0-2 0,-1 0 0,-1-2 0,0-1 0,-1 0 0,-1-2 0,-50 15 0,2-9 0,-1-3 0,0-3 0,0-4 0,-89-2 0,132-7 0,0-1 0,0-1 0,0-2 0,0-2 0,1-1 0,0-1 0,0-2 0,1-1 0,1-1 0,0-2 0,1-1 0,-27-20 0,20 11 0,2-1 0,-55-54 0,72 62 0,1-1 0,0-1 0,2 0 0,0-1 0,2 0 0,-13-30 0,8 7 0,2 0 0,1-2 0,3 0 0,2 0 0,-4-63 0,8-238 0,6 337 15,0 0 0,0 0 0,1 0 0,0 0 0,0 0 0,1 1 0,7-17 0,-7 21-108,-1 1 0,1-1 1,0 1-1,0-1 0,0 1 0,1 0 0,0 0 0,-1 0 1,1 0-1,1 1 0,-1 0 0,0 0 0,1 0 1,0 0-1,8-3 0,8 0-6733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4:50.91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35 27 24575,'23'1'0,"0"1"0,1 1 0,-1 1 0,0 1 0,-1 1 0,43 18 0,147 63 0,-187-76 0,-1 1 0,0 1 0,39 29 0,-56-36 0,0 0 0,-1 0 0,0 0 0,0 1 0,-1-1 0,1 2 0,-1-1 0,-1 0 0,0 1 0,0 0 0,0 0 0,-1 0 0,0 1 0,-1-1 0,3 16 0,-1 8 0,-2 0 0,-2-1 0,-5 46 0,4-67 0,-1-1 0,0 1 0,-1 0 0,0-1 0,0 0 0,-1 0 0,0 0 0,-1 0 0,0-1 0,-8 11 0,9-13 0,0-1 0,-1 0 0,0 0 0,0-1 0,0 0 0,0 1 0,-1-2 0,1 1 0,-1-1 0,0 0 0,0 0 0,-1 0 0,1-1 0,-1 0 0,-10 2 0,-16-1 0,-1-2 0,-43-3 0,20 0 0,49 2 0,1-1 0,-1 0 0,0 0 0,0-1 0,1 0 0,-1-1 0,1 1 0,0-1 0,0-1 0,-13-7 0,5 0 0,0 0 0,1-1 0,-19-21 0,-16-9 0,42 37 0,-1 0 0,1-1 0,1 0 0,-1 0 0,1 0 0,0-1 0,0 0 0,1 0 0,0 0 0,0-1 0,1 0 0,-7-15 0,6-2 0,1 0 0,1 0 0,1-1 0,2 1 0,3-41 0,0-1 0,-3-122-1365,0 165-5461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5:01.53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0 143 24575,'20'0'0,"25"-10"0,15-3 0,7 1 0,1 2 0,-9-2 0,-17-4 0,-9 1 0,-6 3 0,-2 4 0,-2 2 0,2 4 0,0-5 0,1 1 0,1 0 0,1 2 0,-5 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5:03.57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1 146 24575,'376'0'0,"-362"-1"0,-1 0 0,1 0 0,0-1 0,-1-1 0,0 0 0,1-1 0,-1-1 0,-1 0 0,1 0 0,-1-1 0,15-10 0,1-2 0,54-27 0,-68 38 0,-4 3-170,0 0-1,1 1 0,-1 0 1,1 0-1,-1 1 0,1 1 1,14-1-1,-1 1-6655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08.45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1 343 24575,'6'-1'0,"-1"0"0,1 0 0,-1-1 0,1 0 0,-1 0 0,0 0 0,0 0 0,1-1 0,4-4 0,11-4 0,195-101 0,-63 32 0,-29 26 0,-21 10 0,-61 30-1365,-22 10-5461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10.53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0 371 24575,'148'-41'0,"387"-149"0,-482 170 0,52-12 0,-50 17 0,-5-4 0,-38 14 0,0 0 0,1 1 0,-1 0 0,22-3 0,165-20-1365,-174 25-5461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17.73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90 403 24575,'0'-2'0,"0"-1"0,1 1 0,0-1 0,-1 1 0,1-1 0,0 1 0,0 0 0,0-1 0,0 1 0,1 0 0,-1 0 0,2-2 0,23-26 0,-14 19 0,114-122 0,-119 126 0,0 0 0,0 0 0,1 0 0,0 1 0,0 0 0,1 0 0,-1 1 0,1 0 0,10-4 0,6 0 0,1 1 0,29-6 0,405-73 0,-380 79 0,1 2 0,102 7 0,-68 2 0,-99-3 0,0 1 0,-1 1 0,1 0 0,-1 1 0,0 1 0,0 1 0,16 6 0,-23-8 0,20 8 0,45 24 0,-63-29 0,-1 0 0,0 0 0,-1 1 0,0 1 0,0-1 0,0 1 0,-1 0 0,8 13 0,-5-5 0,-1 1 0,0 0 0,-2 1 0,0 0 0,-1 0 0,0 1 0,-2-1 0,0 1 0,-1 0 0,-1 0 0,-1 0 0,-1 0 0,0 1 0,-5 26 0,2-31 0,0-1 0,-1 0 0,-1 0 0,-11 24 0,-5 15 0,11-22 0,-1-1 0,-2-1 0,-1 0 0,-1 0 0,-2-1 0,0-1 0,-2-1 0,-1-1 0,-1 0 0,-1-2 0,-2 0 0,0-2 0,-1 0 0,-1-2 0,-46 27 0,-311 175 0,375-216 0,-21 12 0,-1-2 0,0-1 0,-2-1 0,1-2 0,-2 0 0,1-3 0,-1-1 0,0-1 0,-1-2 0,1-1 0,-58-2 0,55-2 0,20 1 0,0 0 0,0-1 0,0 0 0,0-2 0,0 1 0,-26-10 0,26 6 0,0-1 0,0-1 0,0 0 0,1-1 0,0-1 0,1 0 0,0-1 0,-17-18 0,8 3 0,2 0 0,1-2 0,1 0 0,2-1 0,1-1 0,-19-49 0,19 43 0,8 21 0,1-1 0,0 0 0,2-1 0,0 0 0,0 0 0,-3-33 0,6 4 0,6-68 0,-2 95 0,1 1 0,0 0 0,2-1 0,0 2 0,1-1 0,13-26 0,7-12-1365,-16 31-5461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23.57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1 257 24575,'285'-88'0,"-195"59"0,-38 14 0,74-34 0,-93 32 0,-22 11 0,1 0 0,-1 0 0,1 2 0,21-7 0,72-11-1365,-81 19-5461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25.09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59 24575,'664'0'0,"-644"-1"0,-1-1 0,0-1 0,0 0 0,0-2 0,26-9 0,9-2 0,-36 12-455,0 0 0,28-1 0,-21 4-6371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26.85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1 336 24575,'27'-12'0,"36"-12"0,5-2 0,251-124 0,-225 105 0,-79 38 0,0 1 0,1 1 0,-1 0 0,1 1 0,31-3 0,-39 5-4,0 0-1,1-1 1,-1 1-1,0-2 1,0 1-1,8-6 1,7-2-1330,-5 3-5492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08.76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1 177 24575,'5'0'0,"11"0"0,13-5 0,10-1 0,19-5 0,19-5 0,11-5 0,4-4 0,2 3 0,-15 0 0,-17 3 0,-13 6 0,-11 4 0,-6 4 0,-5 3 0,-1 2 0,-5 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10.18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0 485 24575,'24'-5'0,"33"-6"0,30-12 0,31-5 0,8-5 0,13-4 0,16-12 0,6-7-1051,-4 1 1051,-20 1 0,-23 9 0,-26 12 258,-28 7-258,-20 8 0,-16 7-7398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11.61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0 416 24575,'15'0'0,"28"0"0,32-5 0,52-6 0,42-17 0,37-7-1814,17-8 1814,0-2 0,-9 3 0,-27 3 0,-25-2 0,-30 2 179,-34 7-179,-28 10 0,-25 2 0,-21 6-6556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17.13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1 515 24575,'24'0'0,"57"-10"0,77-18 0,76-23 0,60-13-4615,29-10 4615,-6-2-1845,-43 7 1845,-58 15 0,-65 12 1014,-55 13-1014,-43 12-2745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21.04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24575,'15'0'0,"29"0"0,31 4 0,32 8 0,7 1 0,-5 3 0,-12-1 0,-18-3 0,-17-4 0,-14-3 0,-16 2 0,-8 1 0,-3 8 0,-1 1 0,-3-2-8191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22.31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1 189 24575,'459'-17'0,"-226"4"0,-226 12 0,1 0 0,-1-1 0,0-1 0,0 1 0,0-1 0,0 0 0,9-6 0,42-31 0,-57 40 0,14-12 67,22-24-1,1 0-1564,-24 25-5328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23.73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24575,'20'4'0,"25"17"0,40 24 0,38 14 0,24 6 0,15 3-1095,-10-7 1095,-16-7 0,-27-9 0,-27-12 268,-22-12-268,-21-9-7364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25.45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1 774 24575,'29'-15'0,"82"-38"0,125-40 0,95-28 0,39-8-7139,-19 13 7139,-54 21 0,-73 22 222,-70 24-222,-61 19-1274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51.89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0 405 24575,'10'0'0,"22"-5"0,16-7 0,19-10 0,18-12 0,8-4 0,-1-7 0,2 6 0,1-1 0,-12 2 0,-4 2 0,-17 2 0,-14 8 0,-9 8 0,-8 6 0,-8 6-8191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10BFD5F-4660-048A-07F9-B14B7ECB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C971283-068E-1525-124F-EAE47DBA4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06513BF-0D2E-4682-7097-43AE60EEA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890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4ECF8D3-1C28-6D1E-F13B-99E8AE6D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F524784-EF93-E1BF-DF00-164187738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621FAF9-FB8D-8796-B555-B4315C0489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4632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47226B8-BE96-BFD4-F932-6A3DAA5D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69D67D3-C0A5-2C32-B36E-6B2BC6591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F6677FF-DC8C-6128-AA12-5A44F0F4F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4844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A713092-B374-B0C3-6DE2-6CA9D1A1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9ED865C-577D-C79B-973B-50EEC6EFD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A88504E-C46E-AFF3-5B90-0D3187502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770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558A9A0-2F4D-1EDE-2BF8-E01228A5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D65D670-55EB-F24D-6508-F7B5F2D77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C97B4E2-E28B-DC25-F5B6-E6C3CD3D7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220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2221810-68ED-448B-D092-1DE1F956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E193232-A337-C8F3-F248-5E30B6931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4ACBD35-3B67-CF1B-E2D9-9A9B6512FC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557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9B10213-4923-B1A8-9001-4D935ADC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464B1C7-AA14-653C-A7D1-656D8852EC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1CDCC7E-84E0-EE61-A9A3-8E63E4DCA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4823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47E29EF-338A-08D9-EFE7-EC50AB0A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B31D513-E6D3-566B-6BDA-2BDCCAF3B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396E9E4-87BE-3188-E110-530225E19D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0705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88FEF53-EA93-4C22-0818-D8A77A9B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F55E81D-F177-9C71-5F0F-ADD48DE11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D0E796D-B717-E179-6228-DA22C41A4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7259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19660BA-3977-377F-B215-FBB2AA2C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563F7B1-383D-A3B0-8720-6C62C9D6D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0BCE0C7-18C4-B367-3D24-459DA3702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653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44C144C-C850-4760-DED3-0326DD85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9FE4CF5-211F-1A62-B404-AEACD8C62B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E3C7533-C5DF-BB05-5656-F283A0451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7154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42533EB-6FF2-63A1-7C75-E7D569D1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120CA29-01FB-6D60-62AD-2946650D9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69A9C66-90C2-8D89-676F-C2280F978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903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593B4B7-A657-3917-5620-77BA0235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48B3662-21B3-337B-5D72-C8AC8D666B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A3F0D5E-2FB3-C1F2-F6B8-8B9E70C02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38177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A4764C8-EBD4-14FB-1A6A-44D1DC09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5B48EA5-238A-8CD4-6CD5-ED5003FCB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B44C7D3-2E2E-13B6-F72F-3CF0BCE7B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349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CD696A2-6DD4-5F1F-812B-6355EA1A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79B9919-B98F-40DE-1280-EA2C442D4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1F155E9-1F2D-335C-345C-DF7655C0E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3108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35ADDDD-82BA-040C-BD95-BDE000B6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065BAB9-37D0-C90C-B803-B796D3BFD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427B176-AA32-C6A5-8E4A-8AE2923A1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4302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7C4F338-3641-0126-243F-65947022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21E4844-7E29-6095-4496-7CCEB5E1A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EFB668F-B54F-BC2F-65A7-30ADAD4FD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41820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33A89F1-F153-3DE8-12E4-CDE2F3A0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D24DFDD-750C-2759-50F8-447636031B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BDBC743-DEE8-A3B1-7975-E47F104335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53023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B566CD5-D7A0-9A4A-6B21-F834C22E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D589190-455D-77EC-A0C6-2AE5ECEBF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7A1624F-82CE-8099-1BE6-02AAD0E2E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38934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0.png"/><Relationship Id="rId14" Type="http://schemas.openxmlformats.org/officeDocument/2006/relationships/customXml" Target="../ink/ink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18.png"/><Relationship Id="rId18" Type="http://schemas.openxmlformats.org/officeDocument/2006/relationships/customXml" Target="../ink/ink20.xml"/><Relationship Id="rId3" Type="http://schemas.openxmlformats.org/officeDocument/2006/relationships/image" Target="../media/image1.png"/><Relationship Id="rId21" Type="http://schemas.openxmlformats.org/officeDocument/2006/relationships/image" Target="../media/image22.png"/><Relationship Id="rId7" Type="http://schemas.openxmlformats.org/officeDocument/2006/relationships/image" Target="../media/image15.png"/><Relationship Id="rId12" Type="http://schemas.openxmlformats.org/officeDocument/2006/relationships/customXml" Target="../ink/ink17.xm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6" Type="http://schemas.openxmlformats.org/officeDocument/2006/relationships/customXml" Target="../ink/ink19.xml"/><Relationship Id="rId20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5" Type="http://schemas.openxmlformats.org/officeDocument/2006/relationships/image" Target="../media/image19.png"/><Relationship Id="rId10" Type="http://schemas.openxmlformats.org/officeDocument/2006/relationships/customXml" Target="../ink/ink16.xml"/><Relationship Id="rId19" Type="http://schemas.openxmlformats.org/officeDocument/2006/relationships/image" Target="../media/image21.png"/><Relationship Id="rId4" Type="http://schemas.openxmlformats.org/officeDocument/2006/relationships/customXml" Target="../ink/ink13.xml"/><Relationship Id="rId9" Type="http://schemas.openxmlformats.org/officeDocument/2006/relationships/image" Target="../media/image16.png"/><Relationship Id="rId14" Type="http://schemas.openxmlformats.org/officeDocument/2006/relationships/customXml" Target="../ink/ink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701421" y="14840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Calibri"/>
              <a:buNone/>
            </a:pPr>
            <a:r>
              <a:rPr lang="en-US" sz="5400" b="1" dirty="0">
                <a:solidFill>
                  <a:srgbClr val="833C0B"/>
                </a:solidFill>
              </a:rPr>
              <a:t>Graph Related Algorithms:</a:t>
            </a:r>
            <a:br>
              <a:rPr lang="en-US" sz="5400" b="1" dirty="0">
                <a:solidFill>
                  <a:srgbClr val="833C0B"/>
                </a:solidFill>
              </a:rPr>
            </a:br>
            <a:r>
              <a:rPr lang="en-US" sz="5400" b="1" dirty="0">
                <a:solidFill>
                  <a:srgbClr val="833C0B"/>
                </a:solidFill>
              </a:rPr>
              <a:t>Single Source Shortest Path</a:t>
            </a:r>
            <a:endParaRPr dirty="0">
              <a:solidFill>
                <a:srgbClr val="833C0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Introduction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learnt the basic of graph theory in previous semester.  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Nodes, Edges, Paths, etc.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also learnt about graph traversal methods.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BFS and DFS.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saw how we can find the shortest path between two nodes in an unweighted graph.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Using BFS.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But what if the graph is weighted?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1ADC790-FEE6-2223-BE48-990EC0BA3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FF9B83B-1C3A-0ED8-67A0-4C7EF41222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Shortest Path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3C67DF14-7638-8669-4E41-6D6AF6F73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What is a path in a graph 𝐺=(𝑉,𝐸)?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 path is a sequence of vertices(𝑣1,𝑣2,𝑣3,...,𝑣𝑘) such that there is an edge between each pair of consecutive vertices in the sequence.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That is, (𝑣𝑖,𝑣𝑖+1) is an edge in the set 𝐸.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There can be multiple paths between two nodes.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573845-C6FA-DD33-86E5-0285E3D684DC}"/>
              </a:ext>
            </a:extLst>
          </p:cNvPr>
          <p:cNvSpPr/>
          <p:nvPr/>
        </p:nvSpPr>
        <p:spPr>
          <a:xfrm>
            <a:off x="3863084" y="5231632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9C30A6-E689-66D5-E6F5-B323167E769B}"/>
              </a:ext>
            </a:extLst>
          </p:cNvPr>
          <p:cNvSpPr txBox="1"/>
          <p:nvPr/>
        </p:nvSpPr>
        <p:spPr>
          <a:xfrm>
            <a:off x="4017196" y="5289764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7772BB-FBD9-5BB6-761A-C33F5576B51F}"/>
              </a:ext>
            </a:extLst>
          </p:cNvPr>
          <p:cNvSpPr/>
          <p:nvPr/>
        </p:nvSpPr>
        <p:spPr>
          <a:xfrm>
            <a:off x="5392221" y="5213168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9E53E-F49B-D008-CE21-5E3901C68786}"/>
              </a:ext>
            </a:extLst>
          </p:cNvPr>
          <p:cNvSpPr txBox="1"/>
          <p:nvPr/>
        </p:nvSpPr>
        <p:spPr>
          <a:xfrm>
            <a:off x="5546333" y="5271300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004BE8-23BE-B0E3-00F2-344F45CF5600}"/>
              </a:ext>
            </a:extLst>
          </p:cNvPr>
          <p:cNvSpPr/>
          <p:nvPr/>
        </p:nvSpPr>
        <p:spPr>
          <a:xfrm>
            <a:off x="7039083" y="5173500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86ACC9-1112-F9E6-8CE9-0A500DB5572B}"/>
              </a:ext>
            </a:extLst>
          </p:cNvPr>
          <p:cNvSpPr txBox="1"/>
          <p:nvPr/>
        </p:nvSpPr>
        <p:spPr>
          <a:xfrm>
            <a:off x="7193195" y="5231632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7062E7-5241-D413-D9EF-F27785F4C142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4428162" y="5485433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7E3543-7E71-F0D2-29E7-CD6ECBD1E3B4}"/>
              </a:ext>
            </a:extLst>
          </p:cNvPr>
          <p:cNvCxnSpPr/>
          <p:nvPr/>
        </p:nvCxnSpPr>
        <p:spPr>
          <a:xfrm flipV="1">
            <a:off x="5997968" y="5442035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7C6D68-749A-3AE3-5A02-995837FA098A}"/>
              </a:ext>
            </a:extLst>
          </p:cNvPr>
          <p:cNvCxnSpPr>
            <a:stCxn id="9" idx="4"/>
          </p:cNvCxnSpPr>
          <p:nvPr/>
        </p:nvCxnSpPr>
        <p:spPr>
          <a:xfrm>
            <a:off x="4145623" y="5776162"/>
            <a:ext cx="25685" cy="6164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59D6DC-9880-DC6C-120E-D766DA47921C}"/>
              </a:ext>
            </a:extLst>
          </p:cNvPr>
          <p:cNvCxnSpPr/>
          <p:nvPr/>
        </p:nvCxnSpPr>
        <p:spPr>
          <a:xfrm flipV="1">
            <a:off x="4171308" y="6289870"/>
            <a:ext cx="3175999" cy="1027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EDC8DB-0F27-572E-F6A1-CB1A86F92250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7308351" y="5718030"/>
            <a:ext cx="13271" cy="5718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98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848B1E1-BD59-F7E3-5A06-7EE99E0C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9560A57-0E42-49C8-6BC2-D091B18BD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Shortest Path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A17F2BD2-67F9-87E9-1D8A-D4289F318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How do we find the shortest path now?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How can you say a path is longer/shorter than another one?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need to assign a value to each path to compare them. Let’s call this value the cost of a path.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want to find the path with minimum cost.</a:t>
            </a:r>
          </a:p>
        </p:txBody>
      </p:sp>
    </p:spTree>
    <p:extLst>
      <p:ext uri="{BB962C8B-B14F-4D97-AF65-F5344CB8AC3E}">
        <p14:creationId xmlns:p14="http://schemas.microsoft.com/office/powerpoint/2010/main" val="4155360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EF3DC26-0A78-35A7-5D6F-CD694D0A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D7CB8EA-F482-51AB-1B9E-30BAB52148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Cost of a Path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069003B6-B836-BD50-4746-14B915F4C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In an unweighted graph, we considered the cost as number of edges.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same can’t be applied when the graph is weighted.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891C0BC-6B2D-45FF-BEAF-B67CAD8D92C9}"/>
              </a:ext>
            </a:extLst>
          </p:cNvPr>
          <p:cNvSpPr/>
          <p:nvPr/>
        </p:nvSpPr>
        <p:spPr>
          <a:xfrm>
            <a:off x="3503488" y="4304872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D44CD-BD72-6688-58CE-B2FB8A32B47D}"/>
              </a:ext>
            </a:extLst>
          </p:cNvPr>
          <p:cNvSpPr txBox="1"/>
          <p:nvPr/>
        </p:nvSpPr>
        <p:spPr>
          <a:xfrm>
            <a:off x="3657600" y="4363004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A49570-CCC6-7743-F413-F70365FBE03E}"/>
              </a:ext>
            </a:extLst>
          </p:cNvPr>
          <p:cNvSpPr/>
          <p:nvPr/>
        </p:nvSpPr>
        <p:spPr>
          <a:xfrm>
            <a:off x="5032625" y="4286408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03926-5FC1-5A10-54C6-F83294E112EA}"/>
              </a:ext>
            </a:extLst>
          </p:cNvPr>
          <p:cNvSpPr txBox="1"/>
          <p:nvPr/>
        </p:nvSpPr>
        <p:spPr>
          <a:xfrm>
            <a:off x="5186737" y="4344540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31879F-6BF4-3540-A98B-9389A8BEC7A5}"/>
              </a:ext>
            </a:extLst>
          </p:cNvPr>
          <p:cNvSpPr/>
          <p:nvPr/>
        </p:nvSpPr>
        <p:spPr>
          <a:xfrm>
            <a:off x="6679487" y="4246740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47153A-9DBD-8A0E-C715-756DE57FBFDD}"/>
              </a:ext>
            </a:extLst>
          </p:cNvPr>
          <p:cNvSpPr txBox="1"/>
          <p:nvPr/>
        </p:nvSpPr>
        <p:spPr>
          <a:xfrm>
            <a:off x="6833599" y="4304872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F047B3-E944-3CB8-1874-99C5DDBF14AF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 flipV="1">
            <a:off x="4068566" y="4558673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81FDF7-2A99-EDB6-7C61-982DCC99A53F}"/>
              </a:ext>
            </a:extLst>
          </p:cNvPr>
          <p:cNvCxnSpPr/>
          <p:nvPr/>
        </p:nvCxnSpPr>
        <p:spPr>
          <a:xfrm flipV="1">
            <a:off x="5638372" y="4515275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2D4699-35BE-0865-07D3-0C0BB88A023D}"/>
              </a:ext>
            </a:extLst>
          </p:cNvPr>
          <p:cNvCxnSpPr>
            <a:stCxn id="2" idx="4"/>
          </p:cNvCxnSpPr>
          <p:nvPr/>
        </p:nvCxnSpPr>
        <p:spPr>
          <a:xfrm>
            <a:off x="3786027" y="4849402"/>
            <a:ext cx="25685" cy="6164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19C5C4-1FF8-2958-5C9C-C83B51CD60F0}"/>
              </a:ext>
            </a:extLst>
          </p:cNvPr>
          <p:cNvCxnSpPr/>
          <p:nvPr/>
        </p:nvCxnSpPr>
        <p:spPr>
          <a:xfrm flipV="1">
            <a:off x="3811712" y="5363110"/>
            <a:ext cx="3175999" cy="1027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37F067-2F36-F044-39AC-1694832E1C03}"/>
              </a:ext>
            </a:extLst>
          </p:cNvPr>
          <p:cNvCxnSpPr>
            <a:cxnSpLocks/>
            <a:endCxn id="6" idx="4"/>
          </p:cNvCxnSpPr>
          <p:nvPr/>
        </p:nvCxnSpPr>
        <p:spPr>
          <a:xfrm flipV="1">
            <a:off x="6948755" y="4791270"/>
            <a:ext cx="13271" cy="5718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AD7BC08-3B57-B4F2-4458-7B72D54A2D04}"/>
              </a:ext>
            </a:extLst>
          </p:cNvPr>
          <p:cNvSpPr txBox="1"/>
          <p:nvPr/>
        </p:nvSpPr>
        <p:spPr>
          <a:xfrm>
            <a:off x="4161034" y="4150760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077BBB-6056-3DE9-9E47-643BC842FDC7}"/>
              </a:ext>
            </a:extLst>
          </p:cNvPr>
          <p:cNvSpPr txBox="1"/>
          <p:nvPr/>
        </p:nvSpPr>
        <p:spPr>
          <a:xfrm>
            <a:off x="5807896" y="4100083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7F0684-54E5-6317-F051-0DFEF2E0455C}"/>
              </a:ext>
            </a:extLst>
          </p:cNvPr>
          <p:cNvSpPr txBox="1"/>
          <p:nvPr/>
        </p:nvSpPr>
        <p:spPr>
          <a:xfrm>
            <a:off x="5117172" y="5465852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325E4A-73AC-42A0-35BD-A74422F0ED8E}"/>
              </a:ext>
            </a:extLst>
          </p:cNvPr>
          <p:cNvSpPr txBox="1"/>
          <p:nvPr/>
        </p:nvSpPr>
        <p:spPr>
          <a:xfrm>
            <a:off x="3549722" y="3912233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BAEEE1-C302-B12D-8CDD-9255FB1EDAB6}"/>
              </a:ext>
            </a:extLst>
          </p:cNvPr>
          <p:cNvSpPr txBox="1"/>
          <p:nvPr/>
        </p:nvSpPr>
        <p:spPr>
          <a:xfrm>
            <a:off x="5032625" y="3927160"/>
            <a:ext cx="6575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E2A528-62B6-7BA3-4BC9-ED1E8BD5C2F7}"/>
              </a:ext>
            </a:extLst>
          </p:cNvPr>
          <p:cNvSpPr txBox="1"/>
          <p:nvPr/>
        </p:nvSpPr>
        <p:spPr>
          <a:xfrm>
            <a:off x="6669212" y="3852212"/>
            <a:ext cx="6575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</p:spTree>
    <p:extLst>
      <p:ext uri="{BB962C8B-B14F-4D97-AF65-F5344CB8AC3E}">
        <p14:creationId xmlns:p14="http://schemas.microsoft.com/office/powerpoint/2010/main" val="3978300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2A2A8CD-3EA5-145A-ABCB-48F14DD7E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8F59DE16-367A-3826-5245-95CFEB7448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Cost of a Path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ED9E528E-3D41-2012-39C9-8978E6A26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In general, the cost of a path is calculated by summing up the weights of the edges along the path.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But you can change the cost function.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Multiply the weights for example.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209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04270F0-6F60-E9AB-451D-00E7C7D0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148379DD-801C-0CE8-66EB-5A496626C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Cost of a Path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7D84A572-7111-93FC-AC03-DB9F374E1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Our target is to understand some well-known algorithms that will find the  shortest path.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There are some variations in shortest path.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Single-pair shortest path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Single-source shortest path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Single-destination shortest path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All-pair shortest path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002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965D2B2-3EE4-0AAE-6B71-72A7538CF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A80D627-8A5E-E9E5-295F-72C68992F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SSSP Algorithms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1B288941-866F-5EE9-FCB6-7B64AB534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From a source vertex s, find the shortest path to all other vertices in the graph.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Some common algorithms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Dijkstra’s Algorithm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Bellman-Ford Algorithm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054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9E74E48-6204-DE1F-548B-014EF0BF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8EB96098-8BA3-08CD-DAA6-3D6D6692AC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Dijkstra’s Algorithm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26338E42-B091-666A-557E-E8EF69796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Dijkstra's algorithm is used for solving single-source shortest path problems for directed or undirected paths.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Used in maps.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Greedy Approach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Dijkstra's algorithm does not work for graphs with negative edges. For graphs with negative edges, the Bellman-Ford algorithm that is described on the next lecture, can be used instead.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01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9698E73-D804-F080-563A-36256C88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204B9A3-6B6E-EC32-744F-E3ED685AB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Dijkstra’s Algorithm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368C0F75-3BAC-9D53-BCBB-CE3B54DB7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Choose a starting node.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Let </a:t>
            </a:r>
            <a:r>
              <a:rPr lang="en-SG" sz="2500" dirty="0" err="1">
                <a:solidFill>
                  <a:schemeClr val="tx1"/>
                </a:solidFill>
              </a:rPr>
              <a:t>dist</a:t>
            </a:r>
            <a:r>
              <a:rPr lang="en-SG" sz="2500" dirty="0">
                <a:solidFill>
                  <a:schemeClr val="tx1"/>
                </a:solidFill>
              </a:rPr>
              <a:t>[N] be the distance of node N from the source node.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Initially, set the distance of all the nodes to infinity.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will try to improve the distances step by step.</a:t>
            </a:r>
          </a:p>
        </p:txBody>
      </p:sp>
    </p:spTree>
    <p:extLst>
      <p:ext uri="{BB962C8B-B14F-4D97-AF65-F5344CB8AC3E}">
        <p14:creationId xmlns:p14="http://schemas.microsoft.com/office/powerpoint/2010/main" val="3162816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7F61842-3198-2826-2ADF-765421AB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5AE5844-45DC-D45C-05F0-383D87DAE2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Dijkstra’s Algorithm: Working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D3F4FF96-048B-CB16-FAF0-A12EF3C93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Mark all nodes as unvisited. Create a set of all the unvisited nodes – unvisited set.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Assign to every node a distance from start value. For starting node it is zero, For other nodes it is infinity.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From the unvisited set, select the node with smallest finite distance as current node.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For the current node, consider all of its unvisited neighbours and update their distance through the current node.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Mark the current node as visited and remove it from the unvisited.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Once the loop exits every visited node will contain its shortest distance from the starting node.</a:t>
            </a:r>
          </a:p>
        </p:txBody>
      </p:sp>
    </p:spTree>
    <p:extLst>
      <p:ext uri="{BB962C8B-B14F-4D97-AF65-F5344CB8AC3E}">
        <p14:creationId xmlns:p14="http://schemas.microsoft.com/office/powerpoint/2010/main" val="2650658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F26C980-F035-1AEA-D835-94492E6A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6A3F347-89A1-EC70-FE7D-3C98851A63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Algorithm Simulation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050A5451-7EC5-3DD0-23EF-AE3896439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)&lt;d(v)=20+10&lt;40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251163-9A35-284F-66E9-6356811ED493}"/>
              </a:ext>
            </a:extLst>
          </p:cNvPr>
          <p:cNvSpPr/>
          <p:nvPr/>
        </p:nvSpPr>
        <p:spPr>
          <a:xfrm>
            <a:off x="2650733" y="3914454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ECB35-2776-C421-C581-E7EB6A31D710}"/>
              </a:ext>
            </a:extLst>
          </p:cNvPr>
          <p:cNvSpPr txBox="1"/>
          <p:nvPr/>
        </p:nvSpPr>
        <p:spPr>
          <a:xfrm>
            <a:off x="2804845" y="3972586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282733-CF50-D65E-5D58-085B161F4712}"/>
              </a:ext>
            </a:extLst>
          </p:cNvPr>
          <p:cNvSpPr/>
          <p:nvPr/>
        </p:nvSpPr>
        <p:spPr>
          <a:xfrm>
            <a:off x="4179870" y="3895990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F6D0A-3AE0-E9C6-277D-F0B0C67447E4}"/>
              </a:ext>
            </a:extLst>
          </p:cNvPr>
          <p:cNvSpPr txBox="1"/>
          <p:nvPr/>
        </p:nvSpPr>
        <p:spPr>
          <a:xfrm>
            <a:off x="4333982" y="3954122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FD51CA-8FA3-3AED-F76F-03ABBC32EC3C}"/>
              </a:ext>
            </a:extLst>
          </p:cNvPr>
          <p:cNvSpPr/>
          <p:nvPr/>
        </p:nvSpPr>
        <p:spPr>
          <a:xfrm>
            <a:off x="5826732" y="3856322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76F90B-3BEF-8A0B-CC95-839320A84C02}"/>
              </a:ext>
            </a:extLst>
          </p:cNvPr>
          <p:cNvSpPr txBox="1"/>
          <p:nvPr/>
        </p:nvSpPr>
        <p:spPr>
          <a:xfrm>
            <a:off x="5980844" y="3914454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BB4CD0-C8F6-F39A-1BBC-B2C3BD20B8F7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3215811" y="4168255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5D784F-9D8D-B1DA-236F-3C6B18B1E287}"/>
              </a:ext>
            </a:extLst>
          </p:cNvPr>
          <p:cNvCxnSpPr/>
          <p:nvPr/>
        </p:nvCxnSpPr>
        <p:spPr>
          <a:xfrm flipV="1">
            <a:off x="4785617" y="4124857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30204A-139D-39A6-E338-834B0E1EB09E}"/>
              </a:ext>
            </a:extLst>
          </p:cNvPr>
          <p:cNvCxnSpPr>
            <a:stCxn id="4" idx="4"/>
          </p:cNvCxnSpPr>
          <p:nvPr/>
        </p:nvCxnSpPr>
        <p:spPr>
          <a:xfrm>
            <a:off x="2933272" y="4458984"/>
            <a:ext cx="25685" cy="6164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345BCB-BDDF-7A3C-DB92-6C26CDFAAA44}"/>
              </a:ext>
            </a:extLst>
          </p:cNvPr>
          <p:cNvCxnSpPr/>
          <p:nvPr/>
        </p:nvCxnSpPr>
        <p:spPr>
          <a:xfrm flipV="1">
            <a:off x="2958957" y="4972692"/>
            <a:ext cx="3175999" cy="1027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AFF1AF-1DD1-1140-E838-BAB8AC8B9BBB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6096000" y="4400852"/>
            <a:ext cx="13271" cy="5718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6C3907B-F0B8-C3B0-5AEF-98F8D9073898}"/>
              </a:ext>
            </a:extLst>
          </p:cNvPr>
          <p:cNvSpPr txBox="1"/>
          <p:nvPr/>
        </p:nvSpPr>
        <p:spPr>
          <a:xfrm>
            <a:off x="3308279" y="3760342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54756-035D-0604-E000-6A7C362784D4}"/>
              </a:ext>
            </a:extLst>
          </p:cNvPr>
          <p:cNvSpPr txBox="1"/>
          <p:nvPr/>
        </p:nvSpPr>
        <p:spPr>
          <a:xfrm>
            <a:off x="4955141" y="3709665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4D3779-22CF-3732-35A7-A9DFA8ADB76E}"/>
              </a:ext>
            </a:extLst>
          </p:cNvPr>
          <p:cNvSpPr txBox="1"/>
          <p:nvPr/>
        </p:nvSpPr>
        <p:spPr>
          <a:xfrm>
            <a:off x="4264417" y="5075434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425F0E-E125-9057-6495-8E94A7C2DFF4}"/>
              </a:ext>
            </a:extLst>
          </p:cNvPr>
          <p:cNvSpPr txBox="1"/>
          <p:nvPr/>
        </p:nvSpPr>
        <p:spPr>
          <a:xfrm>
            <a:off x="2696967" y="3521815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CAB428-BF74-4592-7E67-89DA3536C2DF}"/>
              </a:ext>
            </a:extLst>
          </p:cNvPr>
          <p:cNvSpPr txBox="1"/>
          <p:nvPr/>
        </p:nvSpPr>
        <p:spPr>
          <a:xfrm>
            <a:off x="4220967" y="3471138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8BFEB-8569-98DE-352F-FC0EE58B0315}"/>
              </a:ext>
            </a:extLst>
          </p:cNvPr>
          <p:cNvSpPr txBox="1"/>
          <p:nvPr/>
        </p:nvSpPr>
        <p:spPr>
          <a:xfrm>
            <a:off x="8560297" y="5125625"/>
            <a:ext cx="6575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20E953-1B2A-D0A1-4DCA-4853A1203491}"/>
              </a:ext>
            </a:extLst>
          </p:cNvPr>
          <p:cNvSpPr txBox="1"/>
          <p:nvPr/>
        </p:nvSpPr>
        <p:spPr>
          <a:xfrm>
            <a:off x="10213797" y="4187649"/>
            <a:ext cx="6575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CB0FA7-E857-763D-7A34-5D940941D212}"/>
              </a:ext>
            </a:extLst>
          </p:cNvPr>
          <p:cNvSpPr txBox="1"/>
          <p:nvPr/>
        </p:nvSpPr>
        <p:spPr>
          <a:xfrm>
            <a:off x="5813461" y="3379268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A45749-62A3-07C5-E95E-C31E42EE2FCD}"/>
              </a:ext>
            </a:extLst>
          </p:cNvPr>
          <p:cNvSpPr txBox="1"/>
          <p:nvPr/>
        </p:nvSpPr>
        <p:spPr>
          <a:xfrm>
            <a:off x="8715694" y="2794078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407470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D58506E-49C5-F3B1-4EA1-B46D725A6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F3C7CFDC-37AC-AC98-726F-A34F5B19E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F1D4A397-F372-88A5-6E88-82ECF8578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0A710F-C6AA-1FA2-5E49-34B52C3C7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3E11E49-E5B7-B0AA-2BED-FDE38770F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450096"/>
              </p:ext>
            </p:extLst>
          </p:nvPr>
        </p:nvGraphicFramePr>
        <p:xfrm>
          <a:off x="4791939" y="2152111"/>
          <a:ext cx="6238698" cy="3779520"/>
        </p:xfrm>
        <a:graphic>
          <a:graphicData uri="http://schemas.openxmlformats.org/drawingml/2006/table">
            <a:tbl>
              <a:tblPr firstRow="1" bandRow="1"/>
              <a:tblGrid>
                <a:gridCol w="103978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886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72BF811-E9BF-CC2A-74F8-374E2C61B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D262DC3-F247-6DFA-24BA-827A1DA03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4C0AA567-E8ED-FEE8-06A0-1E854E4F6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F40E55-9CB4-093E-D691-9548CAE64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B6648B4-12AD-9489-7521-D2A4C55EB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803974"/>
              </p:ext>
            </p:extLst>
          </p:nvPr>
        </p:nvGraphicFramePr>
        <p:xfrm>
          <a:off x="4791939" y="2152111"/>
          <a:ext cx="6238698" cy="3779520"/>
        </p:xfrm>
        <a:graphic>
          <a:graphicData uri="http://schemas.openxmlformats.org/drawingml/2006/table">
            <a:tbl>
              <a:tblPr firstRow="1" bandRow="1"/>
              <a:tblGrid>
                <a:gridCol w="103978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07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6101865-17EA-5CCD-B610-4B11EF85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573F367-9717-ACB1-D3EF-1BA84B787B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ED652022-E2BF-0ABC-A28C-F520217C2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 7+15&gt;9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260B7E-2C8A-EA4B-D8EB-258DEC25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00A8BA0-93FE-DBDF-4FA8-940C5346E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420078"/>
              </p:ext>
            </p:extLst>
          </p:nvPr>
        </p:nvGraphicFramePr>
        <p:xfrm>
          <a:off x="4791939" y="2152111"/>
          <a:ext cx="6238698" cy="3779520"/>
        </p:xfrm>
        <a:graphic>
          <a:graphicData uri="http://schemas.openxmlformats.org/drawingml/2006/table">
            <a:tbl>
              <a:tblPr firstRow="1" bandRow="1"/>
              <a:tblGrid>
                <a:gridCol w="103978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6CBFDB-5B8D-5612-D41E-14F2B27673FD}"/>
                  </a:ext>
                </a:extLst>
              </p14:cNvPr>
              <p14:cNvContentPartPr/>
              <p14:nvPr/>
            </p14:nvContentPartPr>
            <p14:xfrm>
              <a:off x="6185014" y="3120504"/>
              <a:ext cx="310680" cy="343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6CBFDB-5B8D-5612-D41E-14F2B2767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8894" y="3114384"/>
                <a:ext cx="32292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9D8B60-5167-A11A-170E-C4FB4AEB1068}"/>
                  </a:ext>
                </a:extLst>
              </p14:cNvPr>
              <p14:cNvContentPartPr/>
              <p14:nvPr/>
            </p14:nvContentPartPr>
            <p14:xfrm>
              <a:off x="6185014" y="3625944"/>
              <a:ext cx="361800" cy="444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9D8B60-5167-A11A-170E-C4FB4AEB10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78894" y="3619824"/>
                <a:ext cx="374040" cy="45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5677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6057407-EBBC-BBFA-F037-848024550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6AF4D3D-F82B-0B13-5CDC-DA48F4D5CB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0BDA5553-AFB3-790D-C9AC-7CAF2123D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0D1000-13CF-F85D-5F88-3BB72674C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3B6F0F2-3082-3654-02E9-ABAE36CC8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19293"/>
              </p:ext>
            </p:extLst>
          </p:nvPr>
        </p:nvGraphicFramePr>
        <p:xfrm>
          <a:off x="4664467" y="2152111"/>
          <a:ext cx="6366170" cy="3779520"/>
        </p:xfrm>
        <a:graphic>
          <a:graphicData uri="http://schemas.openxmlformats.org/drawingml/2006/table">
            <a:tbl>
              <a:tblPr firstRow="1" bandRow="1"/>
              <a:tblGrid>
                <a:gridCol w="1167255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3142B8-0B77-848A-39BE-D369C575B977}"/>
                  </a:ext>
                </a:extLst>
              </p14:cNvPr>
              <p14:cNvContentPartPr/>
              <p14:nvPr/>
            </p14:nvContentPartPr>
            <p14:xfrm>
              <a:off x="6019774" y="3636024"/>
              <a:ext cx="635760" cy="463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3142B8-0B77-848A-39BE-D369C575B9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13654" y="3629904"/>
                <a:ext cx="64800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5159D3F-BDAA-F5A8-8A48-743CADE95B73}"/>
                  </a:ext>
                </a:extLst>
              </p14:cNvPr>
              <p14:cNvContentPartPr/>
              <p14:nvPr/>
            </p14:nvContentPartPr>
            <p14:xfrm>
              <a:off x="7281934" y="3668424"/>
              <a:ext cx="240840" cy="25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5159D3F-BDAA-F5A8-8A48-743CADE95B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75814" y="3662304"/>
                <a:ext cx="2530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3915D9-D031-8A3A-72F5-570DE8CF2B6A}"/>
                  </a:ext>
                </a:extLst>
              </p14:cNvPr>
              <p14:cNvContentPartPr/>
              <p14:nvPr/>
            </p14:nvContentPartPr>
            <p14:xfrm>
              <a:off x="6236494" y="4212384"/>
              <a:ext cx="224640" cy="51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3915D9-D031-8A3A-72F5-570DE8CF2B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30374" y="4206264"/>
                <a:ext cx="2368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39D9BD1-6DC6-B18A-EAD9-B8D29C5DE3F4}"/>
                  </a:ext>
                </a:extLst>
              </p14:cNvPr>
              <p14:cNvContentPartPr/>
              <p14:nvPr/>
            </p14:nvContentPartPr>
            <p14:xfrm>
              <a:off x="7232974" y="4262784"/>
              <a:ext cx="286200" cy="52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39D9BD1-6DC6-B18A-EAD9-B8D29C5DE3F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26854" y="4256664"/>
                <a:ext cx="298440" cy="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4188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A447B2E-C22E-F848-8E82-1102816CC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E1CE671-B7DA-4E1D-F981-34759272CC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769F6182-073C-DA2D-2D01-753F5CD561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01DD1E-E2EC-A076-45A4-00E3FC89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F3D73B2-AE4D-C7CF-B96E-FC41E1979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51062"/>
              </p:ext>
            </p:extLst>
          </p:nvPr>
        </p:nvGraphicFramePr>
        <p:xfrm>
          <a:off x="4664467" y="2152111"/>
          <a:ext cx="6366170" cy="3779520"/>
        </p:xfrm>
        <a:graphic>
          <a:graphicData uri="http://schemas.openxmlformats.org/drawingml/2006/table">
            <a:tbl>
              <a:tblPr firstRow="1" bandRow="1"/>
              <a:tblGrid>
                <a:gridCol w="1167255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3722A7-3D7C-5644-07A4-A17D5EDA86F1}"/>
                  </a:ext>
                </a:extLst>
              </p14:cNvPr>
              <p14:cNvContentPartPr/>
              <p14:nvPr/>
            </p14:nvContentPartPr>
            <p14:xfrm>
              <a:off x="6185014" y="4273944"/>
              <a:ext cx="266040" cy="123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3722A7-3D7C-5644-07A4-A17D5EDA86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8894" y="4267824"/>
                <a:ext cx="2782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168F82-AA90-23DC-6D98-45C59C13C574}"/>
                  </a:ext>
                </a:extLst>
              </p14:cNvPr>
              <p14:cNvContentPartPr/>
              <p14:nvPr/>
            </p14:nvContentPartPr>
            <p14:xfrm>
              <a:off x="7047934" y="4181784"/>
              <a:ext cx="451440" cy="133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168F82-AA90-23DC-6D98-45C59C13C5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41814" y="4175664"/>
                <a:ext cx="4636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FC3454-6CFF-A5E2-B92B-62E0C4FB050A}"/>
                  </a:ext>
                </a:extLst>
              </p14:cNvPr>
              <p14:cNvContentPartPr/>
              <p14:nvPr/>
            </p14:nvContentPartPr>
            <p14:xfrm>
              <a:off x="10251934" y="4036704"/>
              <a:ext cx="641160" cy="495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FC3454-6CFF-A5E2-B92B-62E0C4FB05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45814" y="4030584"/>
                <a:ext cx="65340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2EEDBE-9637-E855-BCFC-5C18C49D7939}"/>
                  </a:ext>
                </a:extLst>
              </p14:cNvPr>
              <p14:cNvContentPartPr/>
              <p14:nvPr/>
            </p14:nvContentPartPr>
            <p14:xfrm>
              <a:off x="6164134" y="4716024"/>
              <a:ext cx="286560" cy="92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2EEDBE-9637-E855-BCFC-5C18C49D793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58014" y="4709904"/>
                <a:ext cx="2988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3BBB3FD-209D-37B2-2949-A99FACB746DF}"/>
                  </a:ext>
                </a:extLst>
              </p14:cNvPr>
              <p14:cNvContentPartPr/>
              <p14:nvPr/>
            </p14:nvContentPartPr>
            <p14:xfrm>
              <a:off x="7232974" y="4704504"/>
              <a:ext cx="348120" cy="21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3BBB3FD-209D-37B2-2949-A99FACB746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26854" y="4698384"/>
                <a:ext cx="3603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F9A8AE-E57C-B403-3A13-C8F8B0F8D9C1}"/>
                  </a:ext>
                </a:extLst>
              </p14:cNvPr>
              <p14:cNvContentPartPr/>
              <p14:nvPr/>
            </p14:nvContentPartPr>
            <p14:xfrm>
              <a:off x="10417894" y="4646184"/>
              <a:ext cx="288720" cy="120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F9A8AE-E57C-B403-3A13-C8F8B0F8D9C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411774" y="4640064"/>
                <a:ext cx="300960" cy="1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4160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A6D7E7B-DBAD-A5CB-AC12-51518BB2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1C0D2F2-BCD3-468A-669A-74FDA55C9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97B63A79-B0C2-8F26-BE25-064C4D3C72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17335B-1B9E-8185-E51A-FC297E7D1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5A11516-8791-5325-84B6-0AB0B9B9F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510813"/>
              </p:ext>
            </p:extLst>
          </p:nvPr>
        </p:nvGraphicFramePr>
        <p:xfrm>
          <a:off x="4274049" y="2152111"/>
          <a:ext cx="6756588" cy="3779520"/>
        </p:xfrm>
        <a:graphic>
          <a:graphicData uri="http://schemas.openxmlformats.org/drawingml/2006/table">
            <a:tbl>
              <a:tblPr firstRow="1" bandRow="1"/>
              <a:tblGrid>
                <a:gridCol w="155767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ACCDEB7-B383-9CAB-E0A6-9727C86A82F2}"/>
                  </a:ext>
                </a:extLst>
              </p14:cNvPr>
              <p14:cNvContentPartPr/>
              <p14:nvPr/>
            </p14:nvContentPartPr>
            <p14:xfrm>
              <a:off x="6256654" y="4723944"/>
              <a:ext cx="299880" cy="63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CCDEB7-B383-9CAB-E0A6-9727C86A82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50534" y="4717824"/>
                <a:ext cx="3121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306265-BABE-3175-6298-F7A60BBACCB4}"/>
                  </a:ext>
                </a:extLst>
              </p14:cNvPr>
              <p14:cNvContentPartPr/>
              <p14:nvPr/>
            </p14:nvContentPartPr>
            <p14:xfrm>
              <a:off x="7160974" y="4623504"/>
              <a:ext cx="535320" cy="174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306265-BABE-3175-6298-F7A60BBACC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54854" y="4617384"/>
                <a:ext cx="5475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6AA0F5-B800-4C7D-5531-DCB0664215DA}"/>
                  </a:ext>
                </a:extLst>
              </p14:cNvPr>
              <p14:cNvContentPartPr/>
              <p14:nvPr/>
            </p14:nvContentPartPr>
            <p14:xfrm>
              <a:off x="10181734" y="4679304"/>
              <a:ext cx="725040" cy="150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6AA0F5-B800-4C7D-5531-DCB0664215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75614" y="4673184"/>
                <a:ext cx="7372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348711-1E62-7C72-D60B-AB8B49C406AF}"/>
                  </a:ext>
                </a:extLst>
              </p14:cNvPr>
              <p14:cNvContentPartPr/>
              <p14:nvPr/>
            </p14:nvContentPartPr>
            <p14:xfrm>
              <a:off x="8208574" y="4623144"/>
              <a:ext cx="799920" cy="185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348711-1E62-7C72-D60B-AB8B49C406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02454" y="4617024"/>
                <a:ext cx="8121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7E190E-BB0D-1EBF-7857-6DBEE5832D28}"/>
                  </a:ext>
                </a:extLst>
              </p14:cNvPr>
              <p14:cNvContentPartPr/>
              <p14:nvPr/>
            </p14:nvContentPartPr>
            <p14:xfrm>
              <a:off x="6082054" y="5126424"/>
              <a:ext cx="311040" cy="54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7E190E-BB0D-1EBF-7857-6DBEE5832D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75934" y="5120304"/>
                <a:ext cx="3232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E72CE51-8A17-9011-2ECD-2EDFB54616B9}"/>
                  </a:ext>
                </a:extLst>
              </p14:cNvPr>
              <p14:cNvContentPartPr/>
              <p14:nvPr/>
            </p14:nvContentPartPr>
            <p14:xfrm>
              <a:off x="7119934" y="5233344"/>
              <a:ext cx="331920" cy="68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E72CE51-8A17-9011-2ECD-2EDFB54616B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13814" y="5227224"/>
                <a:ext cx="3441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D5E1684-DB42-407B-1FD4-898B41385EC6}"/>
                  </a:ext>
                </a:extLst>
              </p14:cNvPr>
              <p14:cNvContentPartPr/>
              <p14:nvPr/>
            </p14:nvContentPartPr>
            <p14:xfrm>
              <a:off x="8290654" y="5065224"/>
              <a:ext cx="417960" cy="176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D5E1684-DB42-407B-1FD4-898B41385EC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84534" y="5059104"/>
                <a:ext cx="4302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7EE7509-A0CD-C8CC-FD2E-09806BE1E62E}"/>
                  </a:ext>
                </a:extLst>
              </p14:cNvPr>
              <p14:cNvContentPartPr/>
              <p14:nvPr/>
            </p14:nvContentPartPr>
            <p14:xfrm>
              <a:off x="10314934" y="4951104"/>
              <a:ext cx="790920" cy="279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7EE7509-A0CD-C8CC-FD2E-09806BE1E62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308814" y="4944984"/>
                <a:ext cx="80316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7BF8F22-E6CB-FF1E-2E55-AA6E0D3C8521}"/>
                  </a:ext>
                </a:extLst>
              </p14:cNvPr>
              <p14:cNvContentPartPr/>
              <p14:nvPr/>
            </p14:nvContentPartPr>
            <p14:xfrm>
              <a:off x="9431494" y="5083944"/>
              <a:ext cx="353520" cy="145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7BF8F22-E6CB-FF1E-2E55-AA6E0D3C852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25374" y="5077824"/>
                <a:ext cx="365760" cy="15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3468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1E91A74-BFCD-4ADE-3178-E083424A3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F4EC4A20-99CD-1FD8-E8E6-B2721D6F7B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92FCAFD0-E242-A688-CEBD-5565CB38A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7B812A-C1CF-CA9A-5F37-A41EE3424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A470DB-E83A-6434-E62B-87C512EAC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310100"/>
              </p:ext>
            </p:extLst>
          </p:nvPr>
        </p:nvGraphicFramePr>
        <p:xfrm>
          <a:off x="4274049" y="2152111"/>
          <a:ext cx="6756588" cy="3779520"/>
        </p:xfrm>
        <a:graphic>
          <a:graphicData uri="http://schemas.openxmlformats.org/drawingml/2006/table">
            <a:tbl>
              <a:tblPr firstRow="1" bandRow="1"/>
              <a:tblGrid>
                <a:gridCol w="155767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1,2,3,6,4,5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404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C2BE81E-6757-3F95-3B4F-7389DE1B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F00AD356-057C-C816-F4E9-6ECF18EDA9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Example: 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CB0C2325-067F-2D4C-B2CE-FE110DAB1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D11DA72-B233-7FA0-796E-5248111BAA04}"/>
              </a:ext>
            </a:extLst>
          </p:cNvPr>
          <p:cNvGraphicFramePr>
            <a:graphicFrameLocks noGrp="1"/>
          </p:cNvGraphicFramePr>
          <p:nvPr/>
        </p:nvGraphicFramePr>
        <p:xfrm>
          <a:off x="4274049" y="2152111"/>
          <a:ext cx="6756588" cy="3779520"/>
        </p:xfrm>
        <a:graphic>
          <a:graphicData uri="http://schemas.openxmlformats.org/drawingml/2006/table">
            <a:tbl>
              <a:tblPr firstRow="1" bandRow="1"/>
              <a:tblGrid>
                <a:gridCol w="155767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1,2,3,6,4,5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7BABC1D9-FA57-4C75-8D11-E7771DBFA34A}"/>
              </a:ext>
            </a:extLst>
          </p:cNvPr>
          <p:cNvSpPr/>
          <p:nvPr/>
        </p:nvSpPr>
        <p:spPr>
          <a:xfrm>
            <a:off x="2640458" y="3735868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6BDC9-90AD-12AC-229A-47B2BEC821BA}"/>
              </a:ext>
            </a:extLst>
          </p:cNvPr>
          <p:cNvSpPr txBox="1"/>
          <p:nvPr/>
        </p:nvSpPr>
        <p:spPr>
          <a:xfrm>
            <a:off x="2743199" y="3769606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D28108-9BAB-4F9D-5CA9-4372C7B3BEB0}"/>
              </a:ext>
            </a:extLst>
          </p:cNvPr>
          <p:cNvSpPr/>
          <p:nvPr/>
        </p:nvSpPr>
        <p:spPr>
          <a:xfrm>
            <a:off x="1837362" y="4672019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6DAD1-DB38-308D-4786-54C62DD39EED}"/>
              </a:ext>
            </a:extLst>
          </p:cNvPr>
          <p:cNvSpPr txBox="1"/>
          <p:nvPr/>
        </p:nvSpPr>
        <p:spPr>
          <a:xfrm>
            <a:off x="1940103" y="4705757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062D8A-126E-29EA-4A95-4AE98D54B254}"/>
              </a:ext>
            </a:extLst>
          </p:cNvPr>
          <p:cNvSpPr/>
          <p:nvPr/>
        </p:nvSpPr>
        <p:spPr>
          <a:xfrm>
            <a:off x="3083104" y="4599790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42B3D-ABB1-2BA1-CFDD-F1FA5B08EA76}"/>
              </a:ext>
            </a:extLst>
          </p:cNvPr>
          <p:cNvSpPr txBox="1"/>
          <p:nvPr/>
        </p:nvSpPr>
        <p:spPr>
          <a:xfrm>
            <a:off x="3185845" y="4633528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C6BB99-E57E-E054-CACA-67069CCEA701}"/>
              </a:ext>
            </a:extLst>
          </p:cNvPr>
          <p:cNvSpPr/>
          <p:nvPr/>
        </p:nvSpPr>
        <p:spPr>
          <a:xfrm>
            <a:off x="986320" y="5506949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91CBE5-94B1-7555-47E6-C45AE90D4D6D}"/>
              </a:ext>
            </a:extLst>
          </p:cNvPr>
          <p:cNvSpPr txBox="1"/>
          <p:nvPr/>
        </p:nvSpPr>
        <p:spPr>
          <a:xfrm>
            <a:off x="1089061" y="5540687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0312AD-E314-55D0-715D-80186A4FDD19}"/>
              </a:ext>
            </a:extLst>
          </p:cNvPr>
          <p:cNvSpPr/>
          <p:nvPr/>
        </p:nvSpPr>
        <p:spPr>
          <a:xfrm>
            <a:off x="1241461" y="3922006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99BE21-09DE-F1A6-4F56-24574269663F}"/>
              </a:ext>
            </a:extLst>
          </p:cNvPr>
          <p:cNvSpPr txBox="1"/>
          <p:nvPr/>
        </p:nvSpPr>
        <p:spPr>
          <a:xfrm>
            <a:off x="1344202" y="3955744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60E31B8-B221-F4F7-D41E-9B05A074402F}"/>
              </a:ext>
            </a:extLst>
          </p:cNvPr>
          <p:cNvSpPr/>
          <p:nvPr/>
        </p:nvSpPr>
        <p:spPr>
          <a:xfrm>
            <a:off x="2347645" y="5578043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0676D-47AA-C09D-AC42-710766CCCE83}"/>
              </a:ext>
            </a:extLst>
          </p:cNvPr>
          <p:cNvSpPr txBox="1"/>
          <p:nvPr/>
        </p:nvSpPr>
        <p:spPr>
          <a:xfrm>
            <a:off x="2448246" y="5609972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477892-2430-1A5D-E4FC-E19640419E1F}"/>
              </a:ext>
            </a:extLst>
          </p:cNvPr>
          <p:cNvCxnSpPr>
            <a:stCxn id="18" idx="6"/>
            <a:endCxn id="6" idx="2"/>
          </p:cNvCxnSpPr>
          <p:nvPr/>
        </p:nvCxnSpPr>
        <p:spPr>
          <a:xfrm flipV="1">
            <a:off x="1806539" y="4008133"/>
            <a:ext cx="833919" cy="1861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391121-8598-A008-90EB-656E38CBE3A6}"/>
              </a:ext>
            </a:extLst>
          </p:cNvPr>
          <p:cNvCxnSpPr>
            <a:stCxn id="18" idx="5"/>
            <a:endCxn id="12" idx="0"/>
          </p:cNvCxnSpPr>
          <p:nvPr/>
        </p:nvCxnSpPr>
        <p:spPr>
          <a:xfrm>
            <a:off x="1723785" y="4386791"/>
            <a:ext cx="324197" cy="31896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ED2FB8-6D42-340B-2CB1-D56995F6FEF4}"/>
              </a:ext>
            </a:extLst>
          </p:cNvPr>
          <p:cNvCxnSpPr>
            <a:stCxn id="11" idx="6"/>
            <a:endCxn id="14" idx="2"/>
          </p:cNvCxnSpPr>
          <p:nvPr/>
        </p:nvCxnSpPr>
        <p:spPr>
          <a:xfrm flipV="1">
            <a:off x="2402440" y="4872055"/>
            <a:ext cx="680664" cy="722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478293-44D0-FB72-0F6F-313EC18F95C2}"/>
              </a:ext>
            </a:extLst>
          </p:cNvPr>
          <p:cNvCxnSpPr>
            <a:stCxn id="16" idx="7"/>
          </p:cNvCxnSpPr>
          <p:nvPr/>
        </p:nvCxnSpPr>
        <p:spPr>
          <a:xfrm flipV="1">
            <a:off x="1468644" y="5110582"/>
            <a:ext cx="471459" cy="4761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592190-CB8A-04C1-06F9-F72C45A3D46F}"/>
              </a:ext>
            </a:extLst>
          </p:cNvPr>
          <p:cNvCxnSpPr>
            <a:stCxn id="16" idx="6"/>
            <a:endCxn id="21" idx="1"/>
          </p:cNvCxnSpPr>
          <p:nvPr/>
        </p:nvCxnSpPr>
        <p:spPr>
          <a:xfrm>
            <a:off x="1551398" y="5779214"/>
            <a:ext cx="896848" cy="69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373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210D6B0-3DF7-DBBE-DB56-E5C17925C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FB00790-178B-CBDF-6D85-75E3D231E6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Time Complexity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7F6192C8-AE91-B457-2BC9-4E717D874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Initializing the distance array will take O(V).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In the main loop, we find the vertex with minimum distance. This will take O(V).	​	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And the loop will run for each vertex, hence O(V).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So the total complexity is O(V</a:t>
            </a:r>
            <a:r>
              <a:rPr lang="en-SG" sz="2500" baseline="30000" dirty="0">
                <a:solidFill>
                  <a:schemeClr val="tx1"/>
                </a:solidFill>
              </a:rPr>
              <a:t>2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5769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endParaRPr sz="8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US" sz="8000" dirty="0">
                <a:solidFill>
                  <a:srgbClr val="C00000"/>
                </a:solidFill>
              </a:rPr>
              <a:t>Thank You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2569</TotalTime>
  <Words>1214</Words>
  <Application>Microsoft Office PowerPoint</Application>
  <PresentationFormat>Widescreen</PresentationFormat>
  <Paragraphs>403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Graph Related Algorithms: Single Source Shortest Path</vt:lpstr>
      <vt:lpstr>Introduction</vt:lpstr>
      <vt:lpstr>Shortest Path Problem</vt:lpstr>
      <vt:lpstr>Shortest Path Problem</vt:lpstr>
      <vt:lpstr>Cost of a Path</vt:lpstr>
      <vt:lpstr>Cost of a Path</vt:lpstr>
      <vt:lpstr>Cost of a Path</vt:lpstr>
      <vt:lpstr>SSSP Algorithms</vt:lpstr>
      <vt:lpstr>Dijkstra’s Algorithm</vt:lpstr>
      <vt:lpstr>Dijkstra’s Algorithm</vt:lpstr>
      <vt:lpstr>Dijkstra’s Algorithm: Working</vt:lpstr>
      <vt:lpstr>Algorithm Simulation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Example: Solution</vt:lpstr>
      <vt:lpstr>Time Complexity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Insanur Shuvo</dc:creator>
  <cp:lastModifiedBy>Maimuna Chowdhury Disha</cp:lastModifiedBy>
  <cp:revision>40</cp:revision>
  <dcterms:created xsi:type="dcterms:W3CDTF">2016-09-19T04:08:53Z</dcterms:created>
  <dcterms:modified xsi:type="dcterms:W3CDTF">2026-03-14T07:08:09Z</dcterms:modified>
</cp:coreProperties>
</file>