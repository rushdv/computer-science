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3" r:id="rId41"/>
    <p:sldId id="314" r:id="rId42"/>
    <p:sldId id="315" r:id="rId43"/>
    <p:sldId id="316" r:id="rId44"/>
    <p:sldId id="317" r:id="rId45"/>
    <p:sldId id="318" r:id="rId46"/>
    <p:sldId id="319" r:id="rId47"/>
    <p:sldId id="320" r:id="rId48"/>
    <p:sldId id="321" r:id="rId49"/>
    <p:sldId id="322" r:id="rId50"/>
    <p:sldId id="323" r:id="rId51"/>
    <p:sldId id="324" r:id="rId52"/>
    <p:sldId id="325" r:id="rId53"/>
    <p:sldId id="326" r:id="rId54"/>
    <p:sldId id="327" r:id="rId55"/>
    <p:sldId id="328" r:id="rId56"/>
    <p:sldId id="329" r:id="rId57"/>
    <p:sldId id="330" r:id="rId58"/>
    <p:sldId id="331" r:id="rId59"/>
    <p:sldId id="332" r:id="rId60"/>
    <p:sldId id="333" r:id="rId61"/>
    <p:sldId id="334" r:id="rId62"/>
    <p:sldId id="335" r:id="rId63"/>
    <p:sldId id="336" r:id="rId64"/>
    <p:sldId id="337" r:id="rId65"/>
    <p:sldId id="338" r:id="rId66"/>
    <p:sldId id="339" r:id="rId67"/>
    <p:sldId id="340" r:id="rId68"/>
    <p:sldId id="341" r:id="rId69"/>
    <p:sldId id="342" r:id="rId70"/>
    <p:sldId id="343" r:id="rId71"/>
    <p:sldId id="344" r:id="rId72"/>
    <p:sldId id="345" r:id="rId73"/>
    <p:sldId id="346" r:id="rId74"/>
    <p:sldId id="347" r:id="rId75"/>
    <p:sldId id="348" r:id="rId76"/>
    <p:sldId id="349" r:id="rId77"/>
    <p:sldId id="350" r:id="rId78"/>
    <p:sldId id="351" r:id="rId79"/>
    <p:sldId id="352" r:id="rId80"/>
    <p:sldId id="353" r:id="rId81"/>
    <p:sldId id="354" r:id="rId82"/>
    <p:sldId id="355" r:id="rId83"/>
    <p:sldId id="356" r:id="rId84"/>
    <p:sldId id="357" r:id="rId85"/>
    <p:sldId id="358" r:id="rId86"/>
    <p:sldId id="359" r:id="rId87"/>
    <p:sldId id="360" r:id="rId88"/>
    <p:sldId id="361" r:id="rId89"/>
    <p:sldId id="362" r:id="rId90"/>
    <p:sldId id="363" r:id="rId91"/>
    <p:sldId id="364" r:id="rId92"/>
    <p:sldId id="365" r:id="rId9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98525" y="502519"/>
            <a:ext cx="8044815" cy="1306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01295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01295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01295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01295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01295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1225" y="160548"/>
            <a:ext cx="800862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4547" y="1718335"/>
            <a:ext cx="6398895" cy="1558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288775" y="6125901"/>
            <a:ext cx="1740770" cy="732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01295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1151" y="306154"/>
            <a:ext cx="9187815" cy="234188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3670935" marR="5080" indent="-3658870">
              <a:lnSpc>
                <a:spcPts val="8640"/>
              </a:lnSpc>
              <a:spcBef>
                <a:spcPts val="1160"/>
              </a:spcBef>
            </a:pPr>
            <a:r>
              <a:rPr sz="8000" dirty="0"/>
              <a:t>Single</a:t>
            </a:r>
            <a:r>
              <a:rPr sz="8000" spc="-165" dirty="0"/>
              <a:t> </a:t>
            </a:r>
            <a:r>
              <a:rPr sz="8000" dirty="0"/>
              <a:t>Source</a:t>
            </a:r>
            <a:r>
              <a:rPr sz="8000" spc="-160" dirty="0"/>
              <a:t> </a:t>
            </a:r>
            <a:r>
              <a:rPr sz="8000" spc="-10" dirty="0"/>
              <a:t>Shortest </a:t>
            </a:r>
            <a:r>
              <a:rPr sz="8000" spc="-20" dirty="0"/>
              <a:t>Path</a:t>
            </a:r>
            <a:endParaRPr sz="8000"/>
          </a:p>
        </p:txBody>
      </p:sp>
      <p:sp>
        <p:nvSpPr>
          <p:cNvPr id="3" name="object 3"/>
          <p:cNvSpPr txBox="1"/>
          <p:nvPr/>
        </p:nvSpPr>
        <p:spPr>
          <a:xfrm>
            <a:off x="4038600" y="3276600"/>
            <a:ext cx="6019799" cy="15824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dirty="0">
                <a:latin typeface="Calibri"/>
                <a:cs typeface="Calibri"/>
              </a:rPr>
              <a:t>Bellman</a:t>
            </a:r>
            <a:r>
              <a:rPr sz="3400" spc="-90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Ford</a:t>
            </a:r>
            <a:r>
              <a:rPr sz="3400" spc="-90" dirty="0">
                <a:latin typeface="Calibri"/>
                <a:cs typeface="Calibri"/>
              </a:rPr>
              <a:t> </a:t>
            </a:r>
            <a:r>
              <a:rPr sz="3400" spc="-10" dirty="0">
                <a:latin typeface="Calibri"/>
                <a:cs typeface="Calibri"/>
              </a:rPr>
              <a:t>Algorithm</a:t>
            </a:r>
            <a:br>
              <a:rPr lang="en-US" sz="3400" spc="-10" dirty="0">
                <a:latin typeface="Calibri"/>
                <a:cs typeface="Calibri"/>
              </a:rPr>
            </a:br>
            <a:br>
              <a:rPr lang="en-US" sz="3400" spc="-10" dirty="0">
                <a:latin typeface="Calibri"/>
                <a:cs typeface="Calibri"/>
              </a:rPr>
            </a:br>
            <a:endParaRPr sz="3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1225" y="637457"/>
            <a:ext cx="19939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2729" y="2862059"/>
            <a:ext cx="5418224" cy="39282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0750" y="1684338"/>
          <a:ext cx="2432050" cy="4104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(A,B)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(B,A)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(A,C)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(B,C)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(A,D)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(C,D)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(D,C)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(E,D)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(E,B)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(C,E)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071016" y="1039081"/>
            <a:ext cx="292925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D[U]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D[U,V]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D[V]</a:t>
            </a:r>
            <a:endParaRPr sz="28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If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True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D[V]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D[U]+D[U,V]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1225" y="637457"/>
            <a:ext cx="19939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2729" y="1612517"/>
            <a:ext cx="5418224" cy="39282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1225" y="637457"/>
            <a:ext cx="19939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5410" y="1893871"/>
            <a:ext cx="5418224" cy="39282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1295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1225" y="637457"/>
            <a:ext cx="19939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5410" y="1893871"/>
            <a:ext cx="5418224" cy="39282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1295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012" y="356103"/>
            <a:ext cx="2438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Iteration</a:t>
            </a:r>
            <a:r>
              <a:rPr b="1" spc="-19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5410" y="2632425"/>
            <a:ext cx="5418224" cy="39282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E75B5">
                        <a:alpha val="458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E75B5">
                        <a:alpha val="4588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51080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51313" y="1054112"/>
            <a:ext cx="306832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3565" marR="270510" indent="-5715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d[A]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d[A,B]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d[B] </a:t>
            </a:r>
            <a:r>
              <a:rPr sz="2800" spc="-25" dirty="0">
                <a:latin typeface="Calibri"/>
                <a:cs typeface="Calibri"/>
              </a:rPr>
              <a:t>0+(-</a:t>
            </a:r>
            <a:r>
              <a:rPr sz="2800" dirty="0">
                <a:latin typeface="Calibri"/>
                <a:cs typeface="Calibri"/>
              </a:rPr>
              <a:t>1)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50" dirty="0">
                <a:latin typeface="Arial MT"/>
                <a:cs typeface="Arial MT"/>
              </a:rPr>
              <a:t>∞</a:t>
            </a:r>
            <a:endParaRPr sz="2800">
              <a:latin typeface="Arial MT"/>
              <a:cs typeface="Arial MT"/>
            </a:endParaRPr>
          </a:p>
          <a:p>
            <a:pPr marL="893444">
              <a:lnSpc>
                <a:spcPct val="100000"/>
              </a:lnSpc>
              <a:tabLst>
                <a:tab pos="2416810" algn="l"/>
              </a:tabLst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50" dirty="0">
                <a:latin typeface="Arial MT"/>
                <a:cs typeface="Arial MT"/>
              </a:rPr>
              <a:t>∞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30" dirty="0">
                <a:latin typeface="Calibri"/>
                <a:cs typeface="Calibri"/>
              </a:rPr>
              <a:t>True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012" y="356103"/>
            <a:ext cx="2438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Iteration</a:t>
            </a:r>
            <a:r>
              <a:rPr b="1" spc="-19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5410" y="2632425"/>
            <a:ext cx="5418224" cy="39282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E75B5">
                        <a:alpha val="458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E75B5">
                        <a:alpha val="4588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∞</a:t>
                      </a:r>
                      <a:r>
                        <a:rPr sz="2400" spc="-1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1 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51313" y="1054112"/>
            <a:ext cx="306832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3565" marR="270510" indent="-5715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d[A]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d[A,B]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d[B] </a:t>
            </a:r>
            <a:r>
              <a:rPr sz="2800" spc="-25" dirty="0">
                <a:latin typeface="Calibri"/>
                <a:cs typeface="Calibri"/>
              </a:rPr>
              <a:t>0+(-</a:t>
            </a:r>
            <a:r>
              <a:rPr sz="2800" dirty="0">
                <a:latin typeface="Calibri"/>
                <a:cs typeface="Calibri"/>
              </a:rPr>
              <a:t>1)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50" dirty="0">
                <a:latin typeface="Arial MT"/>
                <a:cs typeface="Arial MT"/>
              </a:rPr>
              <a:t>∞</a:t>
            </a:r>
            <a:endParaRPr sz="2800">
              <a:latin typeface="Arial MT"/>
              <a:cs typeface="Arial MT"/>
            </a:endParaRPr>
          </a:p>
          <a:p>
            <a:pPr marL="893444">
              <a:lnSpc>
                <a:spcPct val="100000"/>
              </a:lnSpc>
              <a:tabLst>
                <a:tab pos="2416810" algn="l"/>
              </a:tabLst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50" dirty="0">
                <a:latin typeface="Arial MT"/>
                <a:cs typeface="Arial MT"/>
              </a:rPr>
              <a:t>∞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30" dirty="0">
                <a:latin typeface="Calibri"/>
                <a:cs typeface="Calibri"/>
              </a:rPr>
              <a:t>True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32062" y="2128091"/>
            <a:ext cx="156210" cy="384810"/>
          </a:xfrm>
          <a:custGeom>
            <a:avLst/>
            <a:gdLst/>
            <a:ahLst/>
            <a:cxnLst/>
            <a:rect l="l" t="t" r="r" b="b"/>
            <a:pathLst>
              <a:path w="156210" h="384810">
                <a:moveTo>
                  <a:pt x="0" y="384558"/>
                </a:moveTo>
                <a:lnTo>
                  <a:pt x="155861" y="0"/>
                </a:lnTo>
              </a:path>
            </a:pathLst>
          </a:custGeom>
          <a:ln w="317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19995" y="4914882"/>
            <a:ext cx="156210" cy="384810"/>
          </a:xfrm>
          <a:custGeom>
            <a:avLst/>
            <a:gdLst/>
            <a:ahLst/>
            <a:cxnLst/>
            <a:rect l="l" t="t" r="r" b="b"/>
            <a:pathLst>
              <a:path w="156210" h="384810">
                <a:moveTo>
                  <a:pt x="0" y="384558"/>
                </a:moveTo>
                <a:lnTo>
                  <a:pt x="155862" y="0"/>
                </a:lnTo>
              </a:path>
            </a:pathLst>
          </a:custGeom>
          <a:ln w="317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51080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012" y="356103"/>
            <a:ext cx="2438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Iteration</a:t>
            </a:r>
            <a:r>
              <a:rPr b="1" spc="-19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5410" y="2632425"/>
            <a:ext cx="5418224" cy="39282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E75B5">
                        <a:alpha val="63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E75B5">
                        <a:alpha val="6392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51080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53569" y="1054112"/>
            <a:ext cx="296608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d[B]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d[B,A]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d[A]</a:t>
            </a:r>
            <a:endParaRPr sz="2800">
              <a:latin typeface="Calibri"/>
              <a:cs typeface="Calibri"/>
            </a:endParaRPr>
          </a:p>
          <a:p>
            <a:pPr marL="581660">
              <a:lnSpc>
                <a:spcPct val="100000"/>
              </a:lnSpc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1+2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  <a:p>
            <a:pPr marL="890905">
              <a:lnSpc>
                <a:spcPct val="100000"/>
              </a:lnSpc>
              <a:tabLst>
                <a:tab pos="2231390" algn="l"/>
              </a:tabLst>
            </a:pPr>
            <a:r>
              <a:rPr sz="2800" dirty="0">
                <a:latin typeface="Calibri"/>
                <a:cs typeface="Calibri"/>
              </a:rPr>
              <a:t>1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0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012" y="356103"/>
            <a:ext cx="2438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Iteration</a:t>
            </a:r>
            <a:r>
              <a:rPr b="1" spc="-19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5410" y="2632425"/>
            <a:ext cx="5418224" cy="39282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E75B5">
                        <a:alpha val="6666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E75B5">
                        <a:alpha val="6666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51080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55132" y="1054112"/>
            <a:ext cx="295592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9755" marR="165735" indent="-56769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d[A]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d[A,C]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d[C] </a:t>
            </a:r>
            <a:r>
              <a:rPr sz="2800" dirty="0">
                <a:latin typeface="Calibri"/>
                <a:cs typeface="Calibri"/>
              </a:rPr>
              <a:t>0+2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0" dirty="0">
                <a:latin typeface="Arial MT"/>
                <a:cs typeface="Arial MT"/>
              </a:rPr>
              <a:t>∞</a:t>
            </a:r>
            <a:endParaRPr sz="2800">
              <a:latin typeface="Arial MT"/>
              <a:cs typeface="Arial MT"/>
            </a:endParaRPr>
          </a:p>
          <a:p>
            <a:pPr marL="889635">
              <a:lnSpc>
                <a:spcPct val="100000"/>
              </a:lnSpc>
              <a:tabLst>
                <a:tab pos="2304415" algn="l"/>
              </a:tabLst>
            </a:pPr>
            <a:r>
              <a:rPr sz="2800" dirty="0">
                <a:latin typeface="Calibri"/>
                <a:cs typeface="Calibri"/>
              </a:rPr>
              <a:t>2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0" dirty="0">
                <a:latin typeface="Arial MT"/>
                <a:cs typeface="Arial MT"/>
              </a:rPr>
              <a:t>∞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30" dirty="0">
                <a:latin typeface="Calibri"/>
                <a:cs typeface="Calibri"/>
              </a:rPr>
              <a:t>True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012" y="356103"/>
            <a:ext cx="2438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Iteration</a:t>
            </a:r>
            <a:r>
              <a:rPr b="1" spc="-19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5410" y="2632425"/>
            <a:ext cx="5418224" cy="39282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E75B5">
                        <a:alpha val="6666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E75B5">
                        <a:alpha val="6666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∞</a:t>
                      </a:r>
                      <a:r>
                        <a:rPr sz="2400" spc="-1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1 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55132" y="1054112"/>
            <a:ext cx="295592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9755" marR="165735" indent="-56769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d[A]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d[A,C]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d[C] </a:t>
            </a:r>
            <a:r>
              <a:rPr sz="2800" dirty="0">
                <a:latin typeface="Calibri"/>
                <a:cs typeface="Calibri"/>
              </a:rPr>
              <a:t>0+2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0" dirty="0">
                <a:latin typeface="Arial MT"/>
                <a:cs typeface="Arial MT"/>
              </a:rPr>
              <a:t>∞</a:t>
            </a:r>
            <a:endParaRPr sz="2800">
              <a:latin typeface="Arial MT"/>
              <a:cs typeface="Arial MT"/>
            </a:endParaRPr>
          </a:p>
          <a:p>
            <a:pPr marL="889635">
              <a:lnSpc>
                <a:spcPct val="100000"/>
              </a:lnSpc>
              <a:tabLst>
                <a:tab pos="2304415" algn="l"/>
              </a:tabLst>
            </a:pPr>
            <a:r>
              <a:rPr sz="2800" dirty="0">
                <a:latin typeface="Calibri"/>
                <a:cs typeface="Calibri"/>
              </a:rPr>
              <a:t>2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0" dirty="0">
                <a:latin typeface="Arial MT"/>
                <a:cs typeface="Arial MT"/>
              </a:rPr>
              <a:t>∞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30" dirty="0">
                <a:latin typeface="Calibri"/>
                <a:cs typeface="Calibri"/>
              </a:rPr>
              <a:t>True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88334" y="2540785"/>
            <a:ext cx="156210" cy="384810"/>
          </a:xfrm>
          <a:custGeom>
            <a:avLst/>
            <a:gdLst/>
            <a:ahLst/>
            <a:cxnLst/>
            <a:rect l="l" t="t" r="r" b="b"/>
            <a:pathLst>
              <a:path w="156210" h="384810">
                <a:moveTo>
                  <a:pt x="0" y="384558"/>
                </a:moveTo>
                <a:lnTo>
                  <a:pt x="155862" y="0"/>
                </a:lnTo>
              </a:path>
            </a:pathLst>
          </a:custGeom>
          <a:ln w="317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16470" y="5326843"/>
            <a:ext cx="156210" cy="384810"/>
          </a:xfrm>
          <a:custGeom>
            <a:avLst/>
            <a:gdLst/>
            <a:ahLst/>
            <a:cxnLst/>
            <a:rect l="l" t="t" r="r" b="b"/>
            <a:pathLst>
              <a:path w="156210" h="384810">
                <a:moveTo>
                  <a:pt x="0" y="384558"/>
                </a:moveTo>
                <a:lnTo>
                  <a:pt x="155862" y="0"/>
                </a:lnTo>
              </a:path>
            </a:pathLst>
          </a:custGeom>
          <a:ln w="317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51080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012" y="356103"/>
            <a:ext cx="2438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Iteration</a:t>
            </a:r>
            <a:r>
              <a:rPr b="1" spc="-19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5410" y="2632425"/>
            <a:ext cx="5418224" cy="39282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E75B5">
                        <a:alpha val="588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E75B5">
                        <a:alpha val="5882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51080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71190" y="1054112"/>
            <a:ext cx="294830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d[B]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d[B,C]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d[C]</a:t>
            </a:r>
            <a:endParaRPr sz="2800">
              <a:latin typeface="Calibri"/>
              <a:cs typeface="Calibri"/>
            </a:endParaRPr>
          </a:p>
          <a:p>
            <a:pPr marL="563880">
              <a:lnSpc>
                <a:spcPct val="100000"/>
              </a:lnSpc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1+3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  <a:p>
            <a:pPr marL="873125">
              <a:lnSpc>
                <a:spcPct val="100000"/>
              </a:lnSpc>
              <a:tabLst>
                <a:tab pos="2214245" algn="l"/>
              </a:tabLst>
            </a:pPr>
            <a:r>
              <a:rPr sz="2800" dirty="0">
                <a:latin typeface="Calibri"/>
                <a:cs typeface="Calibri"/>
              </a:rPr>
              <a:t>2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2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012" y="356103"/>
            <a:ext cx="2438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Iteration</a:t>
            </a:r>
            <a:r>
              <a:rPr b="1" spc="-19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5410" y="2632425"/>
            <a:ext cx="5418224" cy="39282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E75B5">
                        <a:alpha val="6078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E75B5">
                        <a:alpha val="6078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∞</a:t>
                      </a:r>
                      <a:r>
                        <a:rPr sz="2400" spc="-1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1 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25965" y="1054112"/>
            <a:ext cx="298513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8965" marR="136525" indent="-5969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d[A]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d[A,D]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d[D] </a:t>
            </a:r>
            <a:r>
              <a:rPr sz="2800" dirty="0">
                <a:latin typeface="Calibri"/>
                <a:cs typeface="Calibri"/>
              </a:rPr>
              <a:t>0+4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0" dirty="0">
                <a:latin typeface="Arial MT"/>
                <a:cs typeface="Arial MT"/>
              </a:rPr>
              <a:t>∞</a:t>
            </a:r>
            <a:endParaRPr sz="2800">
              <a:latin typeface="Arial MT"/>
              <a:cs typeface="Arial MT"/>
            </a:endParaRPr>
          </a:p>
          <a:p>
            <a:pPr marL="918844">
              <a:lnSpc>
                <a:spcPct val="100000"/>
              </a:lnSpc>
              <a:tabLst>
                <a:tab pos="2332990" algn="l"/>
              </a:tabLst>
            </a:pPr>
            <a:r>
              <a:rPr sz="2800" dirty="0">
                <a:latin typeface="Calibri"/>
                <a:cs typeface="Calibri"/>
              </a:rPr>
              <a:t>4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0" dirty="0">
                <a:latin typeface="Arial MT"/>
                <a:cs typeface="Arial MT"/>
              </a:rPr>
              <a:t>∞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35" dirty="0">
                <a:latin typeface="Calibri"/>
                <a:cs typeface="Calibri"/>
              </a:rPr>
              <a:t>True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88334" y="3019078"/>
            <a:ext cx="156210" cy="384810"/>
          </a:xfrm>
          <a:custGeom>
            <a:avLst/>
            <a:gdLst/>
            <a:ahLst/>
            <a:cxnLst/>
            <a:rect l="l" t="t" r="r" b="b"/>
            <a:pathLst>
              <a:path w="156210" h="384810">
                <a:moveTo>
                  <a:pt x="0" y="384558"/>
                </a:moveTo>
                <a:lnTo>
                  <a:pt x="155862" y="0"/>
                </a:lnTo>
              </a:path>
            </a:pathLst>
          </a:custGeom>
          <a:ln w="317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16470" y="5805135"/>
            <a:ext cx="156210" cy="384810"/>
          </a:xfrm>
          <a:custGeom>
            <a:avLst/>
            <a:gdLst/>
            <a:ahLst/>
            <a:cxnLst/>
            <a:rect l="l" t="t" r="r" b="b"/>
            <a:pathLst>
              <a:path w="156210" h="384810">
                <a:moveTo>
                  <a:pt x="0" y="384558"/>
                </a:moveTo>
                <a:lnTo>
                  <a:pt x="155862" y="0"/>
                </a:lnTo>
              </a:path>
            </a:pathLst>
          </a:custGeom>
          <a:ln w="317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51080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012" y="356103"/>
            <a:ext cx="2438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Iteration</a:t>
            </a:r>
            <a:r>
              <a:rPr b="1" spc="-19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5410" y="2632425"/>
            <a:ext cx="5418224" cy="39282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E75B5">
                        <a:alpha val="529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E75B5">
                        <a:alpha val="5294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51080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44194" y="1054112"/>
            <a:ext cx="297561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0" marR="162560" indent="-57848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d[C]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d[C,D]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d[D] </a:t>
            </a:r>
            <a:r>
              <a:rPr sz="2800" dirty="0">
                <a:latin typeface="Calibri"/>
                <a:cs typeface="Calibri"/>
              </a:rPr>
              <a:t>2+5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  <a:p>
            <a:pPr marL="900430">
              <a:lnSpc>
                <a:spcPct val="100000"/>
              </a:lnSpc>
              <a:tabLst>
                <a:tab pos="2240915" algn="l"/>
              </a:tabLst>
            </a:pPr>
            <a:r>
              <a:rPr sz="2800" dirty="0">
                <a:latin typeface="Calibri"/>
                <a:cs typeface="Calibri"/>
              </a:rPr>
              <a:t>7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4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012" y="356103"/>
            <a:ext cx="2438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Iteration</a:t>
            </a:r>
            <a:r>
              <a:rPr b="1" spc="-19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5410" y="2632425"/>
            <a:ext cx="5418224" cy="39282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E4E78">
                        <a:alpha val="529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E4E78">
                        <a:alpha val="5294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51080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48188" y="1054112"/>
            <a:ext cx="297116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6740" marR="166370" indent="-57467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d[D]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d[D,C]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d[C] </a:t>
            </a:r>
            <a:r>
              <a:rPr sz="2800" spc="-25" dirty="0">
                <a:latin typeface="Calibri"/>
                <a:cs typeface="Calibri"/>
              </a:rPr>
              <a:t>4+(-</a:t>
            </a:r>
            <a:r>
              <a:rPr sz="2800" dirty="0">
                <a:latin typeface="Calibri"/>
                <a:cs typeface="Calibri"/>
              </a:rPr>
              <a:t>1)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  <a:p>
            <a:pPr marL="896619">
              <a:lnSpc>
                <a:spcPct val="100000"/>
              </a:lnSpc>
              <a:tabLst>
                <a:tab pos="2237105" algn="l"/>
              </a:tabLst>
            </a:pPr>
            <a:r>
              <a:rPr sz="2800" dirty="0">
                <a:latin typeface="Calibri"/>
                <a:cs typeface="Calibri"/>
              </a:rPr>
              <a:t>3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2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012" y="356103"/>
            <a:ext cx="2438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Iteration</a:t>
            </a:r>
            <a:r>
              <a:rPr b="1" spc="-19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5410" y="2632425"/>
            <a:ext cx="5418224" cy="39282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E4E78">
                        <a:alpha val="5097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E4E78">
                        <a:alpha val="5097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51080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59385" y="1054112"/>
            <a:ext cx="303403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d[E]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d[E,D]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d[D]</a:t>
            </a:r>
            <a:endParaRPr sz="2800">
              <a:latin typeface="Calibri"/>
              <a:cs typeface="Calibri"/>
            </a:endParaRPr>
          </a:p>
          <a:p>
            <a:pPr marL="575310">
              <a:lnSpc>
                <a:spcPct val="100000"/>
              </a:lnSpc>
            </a:pPr>
            <a:r>
              <a:rPr sz="2800" dirty="0">
                <a:latin typeface="Arial MT"/>
                <a:cs typeface="Arial MT"/>
              </a:rPr>
              <a:t>∞</a:t>
            </a:r>
            <a:r>
              <a:rPr sz="2800" dirty="0">
                <a:latin typeface="Calibri"/>
                <a:cs typeface="Calibri"/>
              </a:rPr>
              <a:t>+4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  <a:p>
            <a:pPr marL="885190">
              <a:lnSpc>
                <a:spcPct val="100000"/>
              </a:lnSpc>
              <a:tabLst>
                <a:tab pos="2299335" algn="l"/>
              </a:tabLst>
            </a:pPr>
            <a:r>
              <a:rPr sz="2800" dirty="0">
                <a:latin typeface="Arial MT"/>
                <a:cs typeface="Arial MT"/>
              </a:rPr>
              <a:t>∞</a:t>
            </a:r>
            <a:r>
              <a:rPr sz="2800" spc="-170" dirty="0">
                <a:latin typeface="Arial MT"/>
                <a:cs typeface="Arial MT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60" dirty="0">
                <a:latin typeface="Calibri"/>
                <a:cs typeface="Calibri"/>
              </a:rPr>
              <a:t>4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012" y="356103"/>
            <a:ext cx="2438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Iteration</a:t>
            </a:r>
            <a:r>
              <a:rPr b="1" spc="-19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5410" y="2632425"/>
            <a:ext cx="5418224" cy="39282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E4E78">
                        <a:alpha val="5568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E4E78">
                        <a:alpha val="5568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51080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84732" y="1054112"/>
            <a:ext cx="311721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73380" algn="ctr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d[E]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d[E,B]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d[B]</a:t>
            </a:r>
            <a:endParaRPr sz="2800">
              <a:latin typeface="Calibri"/>
              <a:cs typeface="Calibri"/>
            </a:endParaRPr>
          </a:p>
          <a:p>
            <a:pPr marR="446405" algn="ctr">
              <a:lnSpc>
                <a:spcPct val="100000"/>
              </a:lnSpc>
            </a:pPr>
            <a:r>
              <a:rPr sz="2800" spc="-25" dirty="0">
                <a:latin typeface="Arial MT"/>
                <a:cs typeface="Arial MT"/>
              </a:rPr>
              <a:t>∞</a:t>
            </a:r>
            <a:r>
              <a:rPr sz="2800" spc="-25" dirty="0">
                <a:latin typeface="Calibri"/>
                <a:cs typeface="Calibri"/>
              </a:rPr>
              <a:t>+(-</a:t>
            </a:r>
            <a:r>
              <a:rPr sz="2800" dirty="0">
                <a:latin typeface="Calibri"/>
                <a:cs typeface="Calibri"/>
              </a:rPr>
              <a:t>3)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  <a:p>
            <a:pPr marL="847725" algn="ctr">
              <a:lnSpc>
                <a:spcPct val="100000"/>
              </a:lnSpc>
              <a:tabLst>
                <a:tab pos="2369820" algn="l"/>
              </a:tabLst>
            </a:pPr>
            <a:r>
              <a:rPr sz="2800" dirty="0">
                <a:latin typeface="Arial MT"/>
                <a:cs typeface="Arial MT"/>
              </a:rPr>
              <a:t>∞</a:t>
            </a:r>
            <a:r>
              <a:rPr sz="2800" spc="-165" dirty="0">
                <a:latin typeface="Arial MT"/>
                <a:cs typeface="Arial MT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-</a:t>
            </a:r>
            <a:r>
              <a:rPr sz="2800" spc="-50" dirty="0">
                <a:latin typeface="Calibri"/>
                <a:cs typeface="Calibri"/>
              </a:rPr>
              <a:t>1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012" y="356103"/>
            <a:ext cx="2438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Iteration</a:t>
            </a:r>
            <a:r>
              <a:rPr b="1" spc="-19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5410" y="2632425"/>
            <a:ext cx="5418224" cy="39282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E4E78">
                        <a:alpha val="529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E4E78">
                        <a:alpha val="5294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∞</a:t>
                      </a:r>
                      <a:r>
                        <a:rPr sz="2400" spc="-1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1 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89333" y="1054112"/>
            <a:ext cx="284099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5465" marR="118745" indent="-5334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d[C]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d[C,E]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d[E] </a:t>
            </a:r>
            <a:r>
              <a:rPr sz="2800" dirty="0">
                <a:latin typeface="Calibri"/>
                <a:cs typeface="Calibri"/>
              </a:rPr>
              <a:t>2+3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0" dirty="0">
                <a:latin typeface="Arial MT"/>
                <a:cs typeface="Arial MT"/>
              </a:rPr>
              <a:t>∞</a:t>
            </a:r>
            <a:endParaRPr sz="2800">
              <a:latin typeface="Arial MT"/>
              <a:cs typeface="Arial MT"/>
            </a:endParaRPr>
          </a:p>
          <a:p>
            <a:pPr marL="774700">
              <a:lnSpc>
                <a:spcPct val="100000"/>
              </a:lnSpc>
              <a:tabLst>
                <a:tab pos="2189480" algn="l"/>
              </a:tabLst>
            </a:pPr>
            <a:r>
              <a:rPr sz="2800" dirty="0">
                <a:latin typeface="Calibri"/>
                <a:cs typeface="Calibri"/>
              </a:rPr>
              <a:t>5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0" dirty="0">
                <a:latin typeface="Arial MT"/>
                <a:cs typeface="Arial MT"/>
              </a:rPr>
              <a:t>∞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30" dirty="0">
                <a:latin typeface="Calibri"/>
                <a:cs typeface="Calibri"/>
              </a:rPr>
              <a:t>True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24063" y="3460336"/>
            <a:ext cx="156210" cy="384810"/>
          </a:xfrm>
          <a:custGeom>
            <a:avLst/>
            <a:gdLst/>
            <a:ahLst/>
            <a:cxnLst/>
            <a:rect l="l" t="t" r="r" b="b"/>
            <a:pathLst>
              <a:path w="156210" h="384810">
                <a:moveTo>
                  <a:pt x="0" y="384558"/>
                </a:moveTo>
                <a:lnTo>
                  <a:pt x="155861" y="0"/>
                </a:lnTo>
              </a:path>
            </a:pathLst>
          </a:custGeom>
          <a:ln w="317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30540" y="6243806"/>
            <a:ext cx="156210" cy="384810"/>
          </a:xfrm>
          <a:custGeom>
            <a:avLst/>
            <a:gdLst/>
            <a:ahLst/>
            <a:cxnLst/>
            <a:rect l="l" t="t" r="r" b="b"/>
            <a:pathLst>
              <a:path w="156210" h="384809">
                <a:moveTo>
                  <a:pt x="0" y="384558"/>
                </a:moveTo>
                <a:lnTo>
                  <a:pt x="155861" y="0"/>
                </a:lnTo>
              </a:path>
            </a:pathLst>
          </a:custGeom>
          <a:ln w="317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51080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012" y="356103"/>
            <a:ext cx="2438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Iteration</a:t>
            </a:r>
            <a:r>
              <a:rPr b="1" spc="-19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5410" y="2632425"/>
            <a:ext cx="5418224" cy="39282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51080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012" y="356103"/>
            <a:ext cx="2438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Iteration</a:t>
            </a:r>
            <a:r>
              <a:rPr b="1" spc="-19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2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5410" y="2632425"/>
            <a:ext cx="5418224" cy="39282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078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078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51080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51313" y="1054112"/>
            <a:ext cx="318579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3565" marR="387985" indent="-5715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d[A]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d[A,B]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d[B] </a:t>
            </a:r>
            <a:r>
              <a:rPr sz="2800" spc="-25" dirty="0">
                <a:latin typeface="Calibri"/>
                <a:cs typeface="Calibri"/>
              </a:rPr>
              <a:t>0+(-</a:t>
            </a:r>
            <a:r>
              <a:rPr sz="2800" dirty="0">
                <a:latin typeface="Calibri"/>
                <a:cs typeface="Calibri"/>
              </a:rPr>
              <a:t>1)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  <a:p>
            <a:pPr marL="893444">
              <a:lnSpc>
                <a:spcPct val="100000"/>
              </a:lnSpc>
              <a:tabLst>
                <a:tab pos="2451100" algn="l"/>
              </a:tabLst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spc="-50" dirty="0">
                <a:latin typeface="Calibri"/>
                <a:cs typeface="Calibri"/>
              </a:rPr>
              <a:t>1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012" y="356103"/>
            <a:ext cx="2438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Iteration</a:t>
            </a:r>
            <a:r>
              <a:rPr b="1" spc="-19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2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5410" y="2632425"/>
            <a:ext cx="5418224" cy="39282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666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666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51080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53569" y="1054112"/>
            <a:ext cx="296608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d[B]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d[B,A]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d[A]</a:t>
            </a:r>
            <a:endParaRPr sz="2800">
              <a:latin typeface="Calibri"/>
              <a:cs typeface="Calibri"/>
            </a:endParaRPr>
          </a:p>
          <a:p>
            <a:pPr marL="581660">
              <a:lnSpc>
                <a:spcPct val="100000"/>
              </a:lnSpc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1+2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  <a:p>
            <a:pPr marL="890905">
              <a:lnSpc>
                <a:spcPct val="100000"/>
              </a:lnSpc>
              <a:tabLst>
                <a:tab pos="2231390" algn="l"/>
              </a:tabLst>
            </a:pPr>
            <a:r>
              <a:rPr sz="2800" dirty="0">
                <a:latin typeface="Calibri"/>
                <a:cs typeface="Calibri"/>
              </a:rPr>
              <a:t>1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0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012" y="356103"/>
            <a:ext cx="2438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Iteration</a:t>
            </a:r>
            <a:r>
              <a:rPr b="1" spc="-19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2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5410" y="2632425"/>
            <a:ext cx="5418224" cy="39282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666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666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51080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55132" y="1054112"/>
            <a:ext cx="296481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9755" marR="174625" indent="-56769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d[A]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d[A,C]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d[C] </a:t>
            </a:r>
            <a:r>
              <a:rPr sz="2800" dirty="0">
                <a:latin typeface="Calibri"/>
                <a:cs typeface="Calibri"/>
              </a:rPr>
              <a:t>0+2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  <a:p>
            <a:pPr marL="889635">
              <a:lnSpc>
                <a:spcPct val="100000"/>
              </a:lnSpc>
              <a:tabLst>
                <a:tab pos="2230120" algn="l"/>
              </a:tabLst>
            </a:pPr>
            <a:r>
              <a:rPr sz="2800" dirty="0">
                <a:latin typeface="Calibri"/>
                <a:cs typeface="Calibri"/>
              </a:rPr>
              <a:t>2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2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012" y="356103"/>
            <a:ext cx="2438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Iteration</a:t>
            </a:r>
            <a:r>
              <a:rPr b="1" spc="-19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2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5410" y="2632425"/>
            <a:ext cx="5418224" cy="39282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784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51080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71190" y="1054112"/>
            <a:ext cx="294830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d[B]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d[B,C]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d[C]</a:t>
            </a:r>
            <a:endParaRPr sz="2800">
              <a:latin typeface="Calibri"/>
              <a:cs typeface="Calibri"/>
            </a:endParaRPr>
          </a:p>
          <a:p>
            <a:pPr marL="563880">
              <a:lnSpc>
                <a:spcPct val="100000"/>
              </a:lnSpc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1+3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  <a:p>
            <a:pPr marL="873125">
              <a:lnSpc>
                <a:spcPct val="100000"/>
              </a:lnSpc>
              <a:tabLst>
                <a:tab pos="2214245" algn="l"/>
              </a:tabLst>
            </a:pPr>
            <a:r>
              <a:rPr sz="2800" dirty="0">
                <a:latin typeface="Calibri"/>
                <a:cs typeface="Calibri"/>
              </a:rPr>
              <a:t>2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2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012" y="356103"/>
            <a:ext cx="2438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Iteration</a:t>
            </a:r>
            <a:r>
              <a:rPr b="1" spc="-19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2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5410" y="2632425"/>
            <a:ext cx="5418224" cy="39282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51080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25965" y="1054112"/>
            <a:ext cx="299339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8965" marR="145415" indent="-5969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d[A]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d[A,D]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d[D] </a:t>
            </a:r>
            <a:r>
              <a:rPr sz="2800" dirty="0">
                <a:latin typeface="Calibri"/>
                <a:cs typeface="Calibri"/>
              </a:rPr>
              <a:t>0+4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  <a:p>
            <a:pPr marL="918844">
              <a:lnSpc>
                <a:spcPct val="100000"/>
              </a:lnSpc>
              <a:tabLst>
                <a:tab pos="2259330" algn="l"/>
              </a:tabLst>
            </a:pPr>
            <a:r>
              <a:rPr sz="2800" dirty="0">
                <a:latin typeface="Calibri"/>
                <a:cs typeface="Calibri"/>
              </a:rPr>
              <a:t>4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4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012" y="356103"/>
            <a:ext cx="2438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Iteration</a:t>
            </a:r>
            <a:r>
              <a:rPr b="1" spc="-19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2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5410" y="2632425"/>
            <a:ext cx="5418224" cy="39282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5097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5097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51080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44194" y="1054112"/>
            <a:ext cx="297561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0" marR="162560" indent="-57848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d[C]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d[C,D]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d[D] </a:t>
            </a:r>
            <a:r>
              <a:rPr sz="2800" dirty="0">
                <a:latin typeface="Calibri"/>
                <a:cs typeface="Calibri"/>
              </a:rPr>
              <a:t>2+5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  <a:p>
            <a:pPr marL="900430">
              <a:lnSpc>
                <a:spcPct val="100000"/>
              </a:lnSpc>
              <a:tabLst>
                <a:tab pos="2240915" algn="l"/>
              </a:tabLst>
            </a:pPr>
            <a:r>
              <a:rPr sz="2800" dirty="0">
                <a:latin typeface="Calibri"/>
                <a:cs typeface="Calibri"/>
              </a:rPr>
              <a:t>7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4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012" y="356103"/>
            <a:ext cx="2438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Iteration</a:t>
            </a:r>
            <a:r>
              <a:rPr b="1" spc="-19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2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5410" y="2632425"/>
            <a:ext cx="5418224" cy="39282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5176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5176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51080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48188" y="1054112"/>
            <a:ext cx="297116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6740" marR="166370" indent="-57467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d[D]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d[D,C]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d[C] </a:t>
            </a:r>
            <a:r>
              <a:rPr sz="2800" spc="-25" dirty="0">
                <a:latin typeface="Calibri"/>
                <a:cs typeface="Calibri"/>
              </a:rPr>
              <a:t>4+(-</a:t>
            </a:r>
            <a:r>
              <a:rPr sz="2800" dirty="0">
                <a:latin typeface="Calibri"/>
                <a:cs typeface="Calibri"/>
              </a:rPr>
              <a:t>1)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  <a:p>
            <a:pPr marL="896619">
              <a:lnSpc>
                <a:spcPct val="100000"/>
              </a:lnSpc>
              <a:tabLst>
                <a:tab pos="2237105" algn="l"/>
              </a:tabLst>
            </a:pPr>
            <a:r>
              <a:rPr sz="2800" dirty="0">
                <a:latin typeface="Calibri"/>
                <a:cs typeface="Calibri"/>
              </a:rPr>
              <a:t>3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2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012" y="356103"/>
            <a:ext cx="2438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Iteration</a:t>
            </a:r>
            <a:r>
              <a:rPr b="1" spc="-19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2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5410" y="2632425"/>
            <a:ext cx="5418224" cy="39282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537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537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51080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59385" y="1054112"/>
            <a:ext cx="296037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5310" marR="178435" indent="-56324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d[E]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d[E,D]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d[D] </a:t>
            </a:r>
            <a:r>
              <a:rPr sz="2800" dirty="0">
                <a:latin typeface="Calibri"/>
                <a:cs typeface="Calibri"/>
              </a:rPr>
              <a:t>5+4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  <a:p>
            <a:pPr marL="885190">
              <a:lnSpc>
                <a:spcPct val="100000"/>
              </a:lnSpc>
              <a:tabLst>
                <a:tab pos="2225675" algn="l"/>
              </a:tabLst>
            </a:pPr>
            <a:r>
              <a:rPr sz="2800" dirty="0">
                <a:latin typeface="Calibri"/>
                <a:cs typeface="Calibri"/>
              </a:rPr>
              <a:t>9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4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012" y="356103"/>
            <a:ext cx="2438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Iteration</a:t>
            </a:r>
            <a:r>
              <a:rPr b="1" spc="-19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2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5410" y="2632425"/>
            <a:ext cx="5418224" cy="39282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5097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5097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51080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84732" y="1054112"/>
            <a:ext cx="304355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0545" marR="312420" indent="-53848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d[E]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d[E,B]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d[B] </a:t>
            </a:r>
            <a:r>
              <a:rPr sz="2800" spc="-25" dirty="0">
                <a:latin typeface="Calibri"/>
                <a:cs typeface="Calibri"/>
              </a:rPr>
              <a:t>5+(-</a:t>
            </a:r>
            <a:r>
              <a:rPr sz="2800" dirty="0">
                <a:latin typeface="Calibri"/>
                <a:cs typeface="Calibri"/>
              </a:rPr>
              <a:t>3)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  <a:p>
            <a:pPr marL="859790">
              <a:lnSpc>
                <a:spcPct val="100000"/>
              </a:lnSpc>
              <a:tabLst>
                <a:tab pos="2308860" algn="l"/>
              </a:tabLst>
            </a:pPr>
            <a:r>
              <a:rPr sz="2800" dirty="0">
                <a:latin typeface="Calibri"/>
                <a:cs typeface="Calibri"/>
              </a:rPr>
              <a:t>2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spc="-50" dirty="0">
                <a:latin typeface="Calibri"/>
                <a:cs typeface="Calibri"/>
              </a:rPr>
              <a:t>1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012" y="356103"/>
            <a:ext cx="2438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Iteration</a:t>
            </a:r>
            <a:r>
              <a:rPr b="1" spc="-19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2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5410" y="2632425"/>
            <a:ext cx="5418224" cy="39282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3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392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51080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89333" y="1054112"/>
            <a:ext cx="284988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5465" marR="127635" indent="-5334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d[C]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d[C,E]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d[E] </a:t>
            </a:r>
            <a:r>
              <a:rPr sz="2800" dirty="0">
                <a:latin typeface="Calibri"/>
                <a:cs typeface="Calibri"/>
              </a:rPr>
              <a:t>2+3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5</a:t>
            </a:r>
            <a:endParaRPr sz="2800">
              <a:latin typeface="Calibri"/>
              <a:cs typeface="Calibri"/>
            </a:endParaRPr>
          </a:p>
          <a:p>
            <a:pPr marL="774700">
              <a:lnSpc>
                <a:spcPct val="100000"/>
              </a:lnSpc>
              <a:tabLst>
                <a:tab pos="2115185" algn="l"/>
              </a:tabLst>
            </a:pPr>
            <a:r>
              <a:rPr sz="2800" dirty="0">
                <a:latin typeface="Calibri"/>
                <a:cs typeface="Calibri"/>
              </a:rPr>
              <a:t>5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5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012" y="356103"/>
            <a:ext cx="2438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Iteration</a:t>
            </a:r>
            <a:r>
              <a:rPr b="1" spc="-19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2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5410" y="2632425"/>
            <a:ext cx="5418224" cy="39282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51080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012" y="356103"/>
            <a:ext cx="2438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Iteration</a:t>
            </a:r>
            <a:r>
              <a:rPr b="1" spc="-19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3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5410" y="2632425"/>
            <a:ext cx="5418224" cy="39282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51080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012" y="356103"/>
            <a:ext cx="2438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Iteration</a:t>
            </a:r>
            <a:r>
              <a:rPr b="1" spc="-19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4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5410" y="2632425"/>
            <a:ext cx="5418224" cy="39282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51080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1225" y="637457"/>
            <a:ext cx="19881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Decision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4547" y="1716709"/>
            <a:ext cx="9384665" cy="165290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187325" algn="l"/>
              </a:tabLst>
            </a:pPr>
            <a:r>
              <a:rPr sz="2800" dirty="0">
                <a:latin typeface="Calibri"/>
                <a:cs typeface="Calibri"/>
              </a:rPr>
              <a:t>After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3600" b="1" spc="-85" dirty="0">
                <a:latin typeface="Calibri"/>
                <a:cs typeface="Calibri"/>
              </a:rPr>
              <a:t>V-</a:t>
            </a:r>
            <a:r>
              <a:rPr sz="3600" b="1" dirty="0">
                <a:latin typeface="Calibri"/>
                <a:cs typeface="Calibri"/>
              </a:rPr>
              <a:t>1</a:t>
            </a:r>
            <a:r>
              <a:rPr sz="3600" b="1" spc="-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iteration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distance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vector</a:t>
            </a:r>
            <a:endParaRPr sz="2800">
              <a:latin typeface="Calibri"/>
              <a:cs typeface="Calibri"/>
            </a:endParaRPr>
          </a:p>
          <a:p>
            <a:pPr marL="186690" marR="5080" indent="-174625">
              <a:lnSpc>
                <a:spcPct val="90800"/>
              </a:lnSpc>
              <a:spcBef>
                <a:spcPts val="965"/>
              </a:spcBef>
              <a:buFont typeface="Arial MT"/>
              <a:buChar char="•"/>
              <a:tabLst>
                <a:tab pos="187960" algn="l"/>
              </a:tabLst>
            </a:pPr>
            <a:r>
              <a:rPr sz="2800" dirty="0">
                <a:latin typeface="Calibri"/>
                <a:cs typeface="Calibri"/>
              </a:rPr>
              <a:t>There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change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V</a:t>
            </a:r>
            <a:r>
              <a:rPr sz="3600" b="1" spc="-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iteration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that’s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denote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presence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	</a:t>
            </a:r>
            <a:r>
              <a:rPr sz="2800" dirty="0">
                <a:latin typeface="Calibri"/>
                <a:cs typeface="Calibri"/>
              </a:rPr>
              <a:t>negative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weight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cycle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012" y="356103"/>
            <a:ext cx="2438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Iteration</a:t>
            </a:r>
            <a:r>
              <a:rPr b="1" spc="-19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5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5410" y="2632425"/>
            <a:ext cx="5418224" cy="39282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51080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012" y="356103"/>
            <a:ext cx="2438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Iteration</a:t>
            </a:r>
            <a:r>
              <a:rPr b="1" spc="-19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5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665410" y="2632425"/>
            <a:ext cx="5418455" cy="3928745"/>
            <a:chOff x="6665410" y="2632425"/>
            <a:chExt cx="5418455" cy="39287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5410" y="2632425"/>
              <a:ext cx="5418224" cy="392821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01131" y="3263703"/>
              <a:ext cx="1315085" cy="840740"/>
            </a:xfrm>
            <a:custGeom>
              <a:avLst/>
              <a:gdLst/>
              <a:ahLst/>
              <a:cxnLst/>
              <a:rect l="l" t="t" r="r" b="b"/>
              <a:pathLst>
                <a:path w="1315084" h="840739">
                  <a:moveTo>
                    <a:pt x="0" y="0"/>
                  </a:moveTo>
                  <a:lnTo>
                    <a:pt x="1315008" y="840743"/>
                  </a:lnTo>
                </a:path>
              </a:pathLst>
            </a:custGeom>
            <a:ln w="793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545517" y="3993986"/>
              <a:ext cx="374650" cy="304800"/>
            </a:xfrm>
            <a:custGeom>
              <a:avLst/>
              <a:gdLst/>
              <a:ahLst/>
              <a:cxnLst/>
              <a:rect l="l" t="t" r="r" b="b"/>
              <a:pathLst>
                <a:path w="374650" h="304800">
                  <a:moveTo>
                    <a:pt x="374108" y="304492"/>
                  </a:moveTo>
                  <a:lnTo>
                    <a:pt x="0" y="220919"/>
                  </a:lnTo>
                  <a:lnTo>
                    <a:pt x="141244" y="0"/>
                  </a:lnTo>
                  <a:lnTo>
                    <a:pt x="374108" y="304492"/>
                  </a:lnTo>
                  <a:close/>
                </a:path>
              </a:pathLst>
            </a:custGeom>
            <a:solidFill>
              <a:srgbClr val="FF0000">
                <a:alpha val="4196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45517" y="3993986"/>
              <a:ext cx="374650" cy="304800"/>
            </a:xfrm>
            <a:custGeom>
              <a:avLst/>
              <a:gdLst/>
              <a:ahLst/>
              <a:cxnLst/>
              <a:rect l="l" t="t" r="r" b="b"/>
              <a:pathLst>
                <a:path w="374650" h="304800">
                  <a:moveTo>
                    <a:pt x="0" y="220919"/>
                  </a:moveTo>
                  <a:lnTo>
                    <a:pt x="374108" y="304492"/>
                  </a:lnTo>
                  <a:lnTo>
                    <a:pt x="141244" y="0"/>
                  </a:lnTo>
                  <a:lnTo>
                    <a:pt x="0" y="220919"/>
                  </a:lnTo>
                  <a:close/>
                </a:path>
              </a:pathLst>
            </a:custGeom>
            <a:ln w="793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637540" y="4792530"/>
              <a:ext cx="1315085" cy="840740"/>
            </a:xfrm>
            <a:custGeom>
              <a:avLst/>
              <a:gdLst/>
              <a:ahLst/>
              <a:cxnLst/>
              <a:rect l="l" t="t" r="r" b="b"/>
              <a:pathLst>
                <a:path w="1315084" h="840739">
                  <a:moveTo>
                    <a:pt x="0" y="0"/>
                  </a:moveTo>
                  <a:lnTo>
                    <a:pt x="1315008" y="840743"/>
                  </a:lnTo>
                </a:path>
              </a:pathLst>
            </a:custGeom>
            <a:ln w="793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81926" y="5522814"/>
              <a:ext cx="374650" cy="304800"/>
            </a:xfrm>
            <a:custGeom>
              <a:avLst/>
              <a:gdLst/>
              <a:ahLst/>
              <a:cxnLst/>
              <a:rect l="l" t="t" r="r" b="b"/>
              <a:pathLst>
                <a:path w="374650" h="304800">
                  <a:moveTo>
                    <a:pt x="374108" y="304492"/>
                  </a:moveTo>
                  <a:lnTo>
                    <a:pt x="0" y="220919"/>
                  </a:lnTo>
                  <a:lnTo>
                    <a:pt x="141244" y="0"/>
                  </a:lnTo>
                  <a:lnTo>
                    <a:pt x="374108" y="304492"/>
                  </a:lnTo>
                  <a:close/>
                </a:path>
              </a:pathLst>
            </a:custGeom>
            <a:solidFill>
              <a:srgbClr val="FF0000">
                <a:alpha val="4196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81926" y="5522814"/>
              <a:ext cx="374650" cy="304800"/>
            </a:xfrm>
            <a:custGeom>
              <a:avLst/>
              <a:gdLst/>
              <a:ahLst/>
              <a:cxnLst/>
              <a:rect l="l" t="t" r="r" b="b"/>
              <a:pathLst>
                <a:path w="374650" h="304800">
                  <a:moveTo>
                    <a:pt x="0" y="220919"/>
                  </a:moveTo>
                  <a:lnTo>
                    <a:pt x="374108" y="304492"/>
                  </a:lnTo>
                  <a:lnTo>
                    <a:pt x="141244" y="0"/>
                  </a:lnTo>
                  <a:lnTo>
                    <a:pt x="0" y="220919"/>
                  </a:lnTo>
                  <a:close/>
                </a:path>
              </a:pathLst>
            </a:custGeom>
            <a:ln w="793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51080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b="1" spc="-50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b="1" spc="-50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b="1" spc="-10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2400" b="1" spc="-50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b="1" spc="-50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b="1" spc="-50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b="1" spc="-50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8375715" y="955690"/>
            <a:ext cx="149606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20" dirty="0">
                <a:latin typeface="Calibri"/>
                <a:cs typeface="Calibri"/>
              </a:rPr>
              <a:t> -</a:t>
            </a:r>
            <a:r>
              <a:rPr sz="2800" dirty="0">
                <a:latin typeface="Calibri"/>
                <a:cs typeface="Calibri"/>
              </a:rPr>
              <a:t>&gt;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60" dirty="0">
                <a:latin typeface="Calibri"/>
                <a:cs typeface="Calibri"/>
              </a:rPr>
              <a:t>E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800" b="1" dirty="0">
                <a:solidFill>
                  <a:srgbClr val="00B050"/>
                </a:solidFill>
                <a:latin typeface="Calibri"/>
                <a:cs typeface="Calibri"/>
              </a:rPr>
              <a:t>A</a:t>
            </a:r>
            <a:r>
              <a:rPr sz="2800" b="1" spc="-20" dirty="0">
                <a:solidFill>
                  <a:srgbClr val="00B050"/>
                </a:solidFill>
                <a:latin typeface="Calibri"/>
                <a:cs typeface="Calibri"/>
              </a:rPr>
              <a:t> -</a:t>
            </a:r>
            <a:r>
              <a:rPr sz="2800" b="1" dirty="0">
                <a:solidFill>
                  <a:srgbClr val="00B050"/>
                </a:solidFill>
                <a:latin typeface="Calibri"/>
                <a:cs typeface="Calibri"/>
              </a:rPr>
              <a:t>&gt;</a:t>
            </a:r>
            <a:r>
              <a:rPr sz="2800" b="1" spc="-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B050"/>
                </a:solidFill>
                <a:latin typeface="Calibri"/>
                <a:cs typeface="Calibri"/>
              </a:rPr>
              <a:t>C</a:t>
            </a:r>
            <a:r>
              <a:rPr sz="2800" b="1" spc="-20" dirty="0">
                <a:solidFill>
                  <a:srgbClr val="00B050"/>
                </a:solidFill>
                <a:latin typeface="Calibri"/>
                <a:cs typeface="Calibri"/>
              </a:rPr>
              <a:t> -</a:t>
            </a:r>
            <a:r>
              <a:rPr sz="2800" b="1" dirty="0">
                <a:solidFill>
                  <a:srgbClr val="00B050"/>
                </a:solidFill>
                <a:latin typeface="Calibri"/>
                <a:cs typeface="Calibri"/>
              </a:rPr>
              <a:t>&gt;</a:t>
            </a:r>
            <a:r>
              <a:rPr sz="2800" b="1" spc="-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800" b="1" spc="-50" dirty="0">
                <a:solidFill>
                  <a:srgbClr val="00B050"/>
                </a:solidFill>
                <a:latin typeface="Calibri"/>
                <a:cs typeface="Calibri"/>
              </a:rPr>
              <a:t>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1225" y="356103"/>
            <a:ext cx="532701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200" dirty="0"/>
              <a:t> </a:t>
            </a:r>
            <a:r>
              <a:rPr spc="-35" dirty="0"/>
              <a:t>Try</a:t>
            </a:r>
            <a:r>
              <a:rPr spc="-195" dirty="0"/>
              <a:t> </a:t>
            </a:r>
            <a:r>
              <a:rPr dirty="0"/>
              <a:t>another</a:t>
            </a:r>
            <a:r>
              <a:rPr spc="-195" dirty="0"/>
              <a:t> </a:t>
            </a:r>
            <a:r>
              <a:rPr spc="-10" dirty="0"/>
              <a:t>Graph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56765" y="2034824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1225" y="356103"/>
            <a:ext cx="532701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200" dirty="0"/>
              <a:t> </a:t>
            </a:r>
            <a:r>
              <a:rPr spc="-35" dirty="0"/>
              <a:t>Try</a:t>
            </a:r>
            <a:r>
              <a:rPr spc="-195" dirty="0"/>
              <a:t> </a:t>
            </a:r>
            <a:r>
              <a:rPr dirty="0"/>
              <a:t>another</a:t>
            </a:r>
            <a:r>
              <a:rPr spc="-195" dirty="0"/>
              <a:t> </a:t>
            </a:r>
            <a:r>
              <a:rPr spc="-10" dirty="0"/>
              <a:t>Graph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56765" y="2034824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8347330" y="5986527"/>
            <a:ext cx="15519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Source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1225" y="356103"/>
            <a:ext cx="81356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204" dirty="0"/>
              <a:t> </a:t>
            </a:r>
            <a:r>
              <a:rPr spc="-35" dirty="0"/>
              <a:t>Try</a:t>
            </a:r>
            <a:r>
              <a:rPr spc="-200" dirty="0"/>
              <a:t> </a:t>
            </a:r>
            <a:r>
              <a:rPr dirty="0"/>
              <a:t>another</a:t>
            </a:r>
            <a:r>
              <a:rPr spc="-200" dirty="0"/>
              <a:t> </a:t>
            </a:r>
            <a:r>
              <a:rPr dirty="0"/>
              <a:t>Graph</a:t>
            </a:r>
            <a:r>
              <a:rPr spc="-200" dirty="0"/>
              <a:t> </a:t>
            </a:r>
            <a:r>
              <a:rPr spc="-20" dirty="0"/>
              <a:t>(iteration</a:t>
            </a:r>
            <a:r>
              <a:rPr spc="-200" dirty="0"/>
              <a:t> </a:t>
            </a:r>
            <a:r>
              <a:rPr spc="-25" dirty="0"/>
              <a:t>1)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77697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5968" rIns="0" bIns="0" rtlCol="0">
            <a:spAutoFit/>
          </a:bodyPr>
          <a:lstStyle/>
          <a:p>
            <a:pPr marL="1270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51313" y="1054112"/>
            <a:ext cx="306832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3565" marR="270510" indent="-5715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d[A]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d[A,B]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d[B] </a:t>
            </a:r>
            <a:r>
              <a:rPr sz="2800" spc="-25" dirty="0">
                <a:latin typeface="Calibri"/>
                <a:cs typeface="Calibri"/>
              </a:rPr>
              <a:t>0+(-</a:t>
            </a:r>
            <a:r>
              <a:rPr sz="2800" dirty="0">
                <a:latin typeface="Calibri"/>
                <a:cs typeface="Calibri"/>
              </a:rPr>
              <a:t>1)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50" dirty="0">
                <a:latin typeface="Arial MT"/>
                <a:cs typeface="Arial MT"/>
              </a:rPr>
              <a:t>∞</a:t>
            </a:r>
            <a:endParaRPr sz="2800">
              <a:latin typeface="Arial MT"/>
              <a:cs typeface="Arial MT"/>
            </a:endParaRPr>
          </a:p>
          <a:p>
            <a:pPr marL="893444">
              <a:lnSpc>
                <a:spcPct val="100000"/>
              </a:lnSpc>
              <a:tabLst>
                <a:tab pos="2416810" algn="l"/>
              </a:tabLst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50" dirty="0">
                <a:latin typeface="Arial MT"/>
                <a:cs typeface="Arial MT"/>
              </a:rPr>
              <a:t>∞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30" dirty="0">
                <a:latin typeface="Calibri"/>
                <a:cs typeface="Calibri"/>
              </a:rPr>
              <a:t>True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1)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58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588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∞</a:t>
                      </a:r>
                      <a:r>
                        <a:rPr sz="2400" spc="-1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1 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51313" y="1054112"/>
            <a:ext cx="306832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3565" marR="270510" indent="-5715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d[A]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d[A,B]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d[B] </a:t>
            </a:r>
            <a:r>
              <a:rPr sz="2800" spc="-25" dirty="0">
                <a:latin typeface="Calibri"/>
                <a:cs typeface="Calibri"/>
              </a:rPr>
              <a:t>0+(-</a:t>
            </a:r>
            <a:r>
              <a:rPr sz="2800" dirty="0">
                <a:latin typeface="Calibri"/>
                <a:cs typeface="Calibri"/>
              </a:rPr>
              <a:t>1)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50" dirty="0">
                <a:latin typeface="Arial MT"/>
                <a:cs typeface="Arial MT"/>
              </a:rPr>
              <a:t>∞</a:t>
            </a:r>
            <a:endParaRPr sz="2800">
              <a:latin typeface="Arial MT"/>
              <a:cs typeface="Arial MT"/>
            </a:endParaRPr>
          </a:p>
          <a:p>
            <a:pPr marL="893444">
              <a:lnSpc>
                <a:spcPct val="100000"/>
              </a:lnSpc>
              <a:tabLst>
                <a:tab pos="2416810" algn="l"/>
              </a:tabLst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50" dirty="0">
                <a:latin typeface="Arial MT"/>
                <a:cs typeface="Arial MT"/>
              </a:rPr>
              <a:t>∞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30" dirty="0">
                <a:latin typeface="Calibri"/>
                <a:cs typeface="Calibri"/>
              </a:rPr>
              <a:t>True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25588" y="2135600"/>
            <a:ext cx="156210" cy="384810"/>
          </a:xfrm>
          <a:custGeom>
            <a:avLst/>
            <a:gdLst/>
            <a:ahLst/>
            <a:cxnLst/>
            <a:rect l="l" t="t" r="r" b="b"/>
            <a:pathLst>
              <a:path w="156210" h="384810">
                <a:moveTo>
                  <a:pt x="0" y="384558"/>
                </a:moveTo>
                <a:lnTo>
                  <a:pt x="155862" y="0"/>
                </a:lnTo>
              </a:path>
            </a:pathLst>
          </a:custGeom>
          <a:ln w="317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11764" y="4867199"/>
            <a:ext cx="156210" cy="384810"/>
          </a:xfrm>
          <a:custGeom>
            <a:avLst/>
            <a:gdLst/>
            <a:ahLst/>
            <a:cxnLst/>
            <a:rect l="l" t="t" r="r" b="b"/>
            <a:pathLst>
              <a:path w="156210" h="384810">
                <a:moveTo>
                  <a:pt x="0" y="384558"/>
                </a:moveTo>
                <a:lnTo>
                  <a:pt x="155862" y="0"/>
                </a:lnTo>
              </a:path>
            </a:pathLst>
          </a:custGeom>
          <a:ln w="317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1)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53569" y="1054112"/>
            <a:ext cx="296608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d[B]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d[B,A]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d[A]</a:t>
            </a:r>
            <a:endParaRPr sz="2800">
              <a:latin typeface="Calibri"/>
              <a:cs typeface="Calibri"/>
            </a:endParaRPr>
          </a:p>
          <a:p>
            <a:pPr marL="581660">
              <a:lnSpc>
                <a:spcPct val="100000"/>
              </a:lnSpc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1+2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  <a:p>
            <a:pPr marL="890905">
              <a:lnSpc>
                <a:spcPct val="100000"/>
              </a:lnSpc>
              <a:tabLst>
                <a:tab pos="2231390" algn="l"/>
              </a:tabLst>
            </a:pPr>
            <a:r>
              <a:rPr sz="2800" dirty="0">
                <a:latin typeface="Calibri"/>
                <a:cs typeface="Calibri"/>
              </a:rPr>
              <a:t>1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0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1)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784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55132" y="1054112"/>
            <a:ext cx="295592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9755" marR="165735" indent="-56769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d[A]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d[A,C]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d[C] </a:t>
            </a:r>
            <a:r>
              <a:rPr sz="2800" dirty="0">
                <a:latin typeface="Calibri"/>
                <a:cs typeface="Calibri"/>
              </a:rPr>
              <a:t>0+2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0" dirty="0">
                <a:latin typeface="Arial MT"/>
                <a:cs typeface="Arial MT"/>
              </a:rPr>
              <a:t>∞</a:t>
            </a:r>
            <a:endParaRPr sz="2800">
              <a:latin typeface="Arial MT"/>
              <a:cs typeface="Arial MT"/>
            </a:endParaRPr>
          </a:p>
          <a:p>
            <a:pPr marL="889635">
              <a:lnSpc>
                <a:spcPct val="100000"/>
              </a:lnSpc>
              <a:tabLst>
                <a:tab pos="2304415" algn="l"/>
              </a:tabLst>
            </a:pPr>
            <a:r>
              <a:rPr sz="2800" dirty="0">
                <a:latin typeface="Calibri"/>
                <a:cs typeface="Calibri"/>
              </a:rPr>
              <a:t>2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0" dirty="0">
                <a:latin typeface="Arial MT"/>
                <a:cs typeface="Arial MT"/>
              </a:rPr>
              <a:t>∞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30" dirty="0">
                <a:latin typeface="Calibri"/>
                <a:cs typeface="Calibri"/>
              </a:rPr>
              <a:t>True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1)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784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784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∞</a:t>
                      </a:r>
                      <a:r>
                        <a:rPr sz="2400" spc="-1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1 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55132" y="1054112"/>
            <a:ext cx="295592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9755" marR="165735" indent="-56769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d[A]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d[A,C]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d[C] </a:t>
            </a:r>
            <a:r>
              <a:rPr sz="2800" dirty="0">
                <a:latin typeface="Calibri"/>
                <a:cs typeface="Calibri"/>
              </a:rPr>
              <a:t>0+2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0" dirty="0">
                <a:latin typeface="Arial MT"/>
                <a:cs typeface="Arial MT"/>
              </a:rPr>
              <a:t>∞</a:t>
            </a:r>
            <a:endParaRPr sz="2800">
              <a:latin typeface="Arial MT"/>
              <a:cs typeface="Arial MT"/>
            </a:endParaRPr>
          </a:p>
          <a:p>
            <a:pPr marL="889635">
              <a:lnSpc>
                <a:spcPct val="100000"/>
              </a:lnSpc>
              <a:tabLst>
                <a:tab pos="2304415" algn="l"/>
              </a:tabLst>
            </a:pPr>
            <a:r>
              <a:rPr sz="2800" dirty="0">
                <a:latin typeface="Calibri"/>
                <a:cs typeface="Calibri"/>
              </a:rPr>
              <a:t>2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0" dirty="0">
                <a:latin typeface="Arial MT"/>
                <a:cs typeface="Arial MT"/>
              </a:rPr>
              <a:t>∞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30" dirty="0">
                <a:latin typeface="Calibri"/>
                <a:cs typeface="Calibri"/>
              </a:rPr>
              <a:t>True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64642" y="2588255"/>
            <a:ext cx="156210" cy="384810"/>
          </a:xfrm>
          <a:custGeom>
            <a:avLst/>
            <a:gdLst/>
            <a:ahLst/>
            <a:cxnLst/>
            <a:rect l="l" t="t" r="r" b="b"/>
            <a:pathLst>
              <a:path w="156210" h="384810">
                <a:moveTo>
                  <a:pt x="0" y="384558"/>
                </a:moveTo>
                <a:lnTo>
                  <a:pt x="155861" y="0"/>
                </a:lnTo>
              </a:path>
            </a:pathLst>
          </a:custGeom>
          <a:ln w="317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50817" y="5319855"/>
            <a:ext cx="156210" cy="384810"/>
          </a:xfrm>
          <a:custGeom>
            <a:avLst/>
            <a:gdLst/>
            <a:ahLst/>
            <a:cxnLst/>
            <a:rect l="l" t="t" r="r" b="b"/>
            <a:pathLst>
              <a:path w="156210" h="384810">
                <a:moveTo>
                  <a:pt x="0" y="384559"/>
                </a:moveTo>
                <a:lnTo>
                  <a:pt x="155861" y="0"/>
                </a:lnTo>
              </a:path>
            </a:pathLst>
          </a:custGeom>
          <a:ln w="317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1)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71190" y="1054112"/>
            <a:ext cx="286575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d[B]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d[B,C]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d[C]</a:t>
            </a:r>
            <a:endParaRPr sz="2800">
              <a:latin typeface="Calibri"/>
              <a:cs typeface="Calibri"/>
            </a:endParaRPr>
          </a:p>
          <a:p>
            <a:pPr marL="563880">
              <a:lnSpc>
                <a:spcPct val="100000"/>
              </a:lnSpc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1+1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  <a:p>
            <a:pPr marL="873125">
              <a:lnSpc>
                <a:spcPct val="100000"/>
              </a:lnSpc>
              <a:tabLst>
                <a:tab pos="2214245" algn="l"/>
              </a:tabLst>
            </a:pPr>
            <a:r>
              <a:rPr sz="2800" dirty="0">
                <a:latin typeface="Calibri"/>
                <a:cs typeface="Calibri"/>
              </a:rPr>
              <a:t>0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2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30" dirty="0">
                <a:latin typeface="Calibri"/>
                <a:cs typeface="Calibri"/>
              </a:rPr>
              <a:t>True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1)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71190" y="1054112"/>
            <a:ext cx="286575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d[B]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d[B,C]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d[C]</a:t>
            </a:r>
            <a:endParaRPr sz="2800">
              <a:latin typeface="Calibri"/>
              <a:cs typeface="Calibri"/>
            </a:endParaRPr>
          </a:p>
          <a:p>
            <a:pPr marL="563880">
              <a:lnSpc>
                <a:spcPct val="100000"/>
              </a:lnSpc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1+1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  <a:p>
            <a:pPr marL="873125">
              <a:lnSpc>
                <a:spcPct val="100000"/>
              </a:lnSpc>
              <a:tabLst>
                <a:tab pos="2214245" algn="l"/>
              </a:tabLst>
            </a:pPr>
            <a:r>
              <a:rPr sz="2800" dirty="0">
                <a:latin typeface="Calibri"/>
                <a:cs typeface="Calibri"/>
              </a:rPr>
              <a:t>0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2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30" dirty="0">
                <a:latin typeface="Calibri"/>
                <a:cs typeface="Calibri"/>
              </a:rPr>
              <a:t>True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64642" y="2588255"/>
            <a:ext cx="156210" cy="384810"/>
          </a:xfrm>
          <a:custGeom>
            <a:avLst/>
            <a:gdLst/>
            <a:ahLst/>
            <a:cxnLst/>
            <a:rect l="l" t="t" r="r" b="b"/>
            <a:pathLst>
              <a:path w="156210" h="384810">
                <a:moveTo>
                  <a:pt x="0" y="384558"/>
                </a:moveTo>
                <a:lnTo>
                  <a:pt x="155861" y="0"/>
                </a:lnTo>
              </a:path>
            </a:pathLst>
          </a:custGeom>
          <a:ln w="317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280476" y="5362059"/>
            <a:ext cx="156210" cy="384810"/>
          </a:xfrm>
          <a:custGeom>
            <a:avLst/>
            <a:gdLst/>
            <a:ahLst/>
            <a:cxnLst/>
            <a:rect l="l" t="t" r="r" b="b"/>
            <a:pathLst>
              <a:path w="156210" h="384810">
                <a:moveTo>
                  <a:pt x="0" y="384559"/>
                </a:moveTo>
                <a:lnTo>
                  <a:pt x="155861" y="0"/>
                </a:lnTo>
              </a:path>
            </a:pathLst>
          </a:custGeom>
          <a:ln w="317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1)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274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274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25965" y="1054112"/>
            <a:ext cx="298513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8965" marR="136525" indent="-5969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d[A]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d[A,D]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d[D] </a:t>
            </a:r>
            <a:r>
              <a:rPr sz="2800" dirty="0">
                <a:latin typeface="Calibri"/>
                <a:cs typeface="Calibri"/>
              </a:rPr>
              <a:t>0+4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0" dirty="0">
                <a:latin typeface="Arial MT"/>
                <a:cs typeface="Arial MT"/>
              </a:rPr>
              <a:t>∞</a:t>
            </a:r>
            <a:endParaRPr sz="2800">
              <a:latin typeface="Arial MT"/>
              <a:cs typeface="Arial MT"/>
            </a:endParaRPr>
          </a:p>
          <a:p>
            <a:pPr marL="918844">
              <a:lnSpc>
                <a:spcPct val="100000"/>
              </a:lnSpc>
              <a:tabLst>
                <a:tab pos="2332990" algn="l"/>
              </a:tabLst>
            </a:pPr>
            <a:r>
              <a:rPr sz="2800" dirty="0">
                <a:latin typeface="Calibri"/>
                <a:cs typeface="Calibri"/>
              </a:rPr>
              <a:t>4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0" dirty="0">
                <a:latin typeface="Arial MT"/>
                <a:cs typeface="Arial MT"/>
              </a:rPr>
              <a:t>∞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35" dirty="0">
                <a:latin typeface="Calibri"/>
                <a:cs typeface="Calibri"/>
              </a:rPr>
              <a:t>True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1)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274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274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∞</a:t>
                      </a:r>
                      <a:r>
                        <a:rPr sz="2400" spc="-1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1 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25965" y="1054112"/>
            <a:ext cx="298513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8965" marR="136525" indent="-5969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d[A]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d[A,D]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d[D] </a:t>
            </a:r>
            <a:r>
              <a:rPr sz="2800" dirty="0">
                <a:latin typeface="Calibri"/>
                <a:cs typeface="Calibri"/>
              </a:rPr>
              <a:t>0+4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0" dirty="0">
                <a:latin typeface="Arial MT"/>
                <a:cs typeface="Arial MT"/>
              </a:rPr>
              <a:t>∞</a:t>
            </a:r>
            <a:endParaRPr sz="2800">
              <a:latin typeface="Arial MT"/>
              <a:cs typeface="Arial MT"/>
            </a:endParaRPr>
          </a:p>
          <a:p>
            <a:pPr marL="918844">
              <a:lnSpc>
                <a:spcPct val="100000"/>
              </a:lnSpc>
              <a:tabLst>
                <a:tab pos="2332990" algn="l"/>
              </a:tabLst>
            </a:pPr>
            <a:r>
              <a:rPr sz="2800" dirty="0">
                <a:latin typeface="Calibri"/>
                <a:cs typeface="Calibri"/>
              </a:rPr>
              <a:t>4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0" dirty="0">
                <a:latin typeface="Arial MT"/>
                <a:cs typeface="Arial MT"/>
              </a:rPr>
              <a:t>∞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35" dirty="0">
                <a:latin typeface="Calibri"/>
                <a:cs typeface="Calibri"/>
              </a:rPr>
              <a:t>True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06845" y="3052489"/>
            <a:ext cx="156210" cy="384810"/>
          </a:xfrm>
          <a:custGeom>
            <a:avLst/>
            <a:gdLst/>
            <a:ahLst/>
            <a:cxnLst/>
            <a:rect l="l" t="t" r="r" b="b"/>
            <a:pathLst>
              <a:path w="156210" h="384810">
                <a:moveTo>
                  <a:pt x="0" y="384558"/>
                </a:moveTo>
                <a:lnTo>
                  <a:pt x="155861" y="0"/>
                </a:lnTo>
              </a:path>
            </a:pathLst>
          </a:custGeom>
          <a:ln w="317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22680" y="5826294"/>
            <a:ext cx="156210" cy="384810"/>
          </a:xfrm>
          <a:custGeom>
            <a:avLst/>
            <a:gdLst/>
            <a:ahLst/>
            <a:cxnLst/>
            <a:rect l="l" t="t" r="r" b="b"/>
            <a:pathLst>
              <a:path w="156210" h="384810">
                <a:moveTo>
                  <a:pt x="0" y="384558"/>
                </a:moveTo>
                <a:lnTo>
                  <a:pt x="155862" y="0"/>
                </a:lnTo>
              </a:path>
            </a:pathLst>
          </a:custGeom>
          <a:ln w="317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1)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3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392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44194" y="1054112"/>
            <a:ext cx="297561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0" marR="162560" indent="-57848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d[C]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d[C,D]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d[D] </a:t>
            </a:r>
            <a:r>
              <a:rPr sz="2800" dirty="0">
                <a:latin typeface="Calibri"/>
                <a:cs typeface="Calibri"/>
              </a:rPr>
              <a:t>0+5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  <a:p>
            <a:pPr marL="900430">
              <a:lnSpc>
                <a:spcPct val="100000"/>
              </a:lnSpc>
              <a:tabLst>
                <a:tab pos="2240915" algn="l"/>
              </a:tabLst>
            </a:pPr>
            <a:r>
              <a:rPr sz="2800" dirty="0">
                <a:latin typeface="Calibri"/>
                <a:cs typeface="Calibri"/>
              </a:rPr>
              <a:t>5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4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1)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3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392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48188" y="1054112"/>
            <a:ext cx="297116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6740" marR="166370" indent="-57467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d[D]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d[D,C]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d[C] </a:t>
            </a:r>
            <a:r>
              <a:rPr sz="2800" spc="-25" dirty="0">
                <a:latin typeface="Calibri"/>
                <a:cs typeface="Calibri"/>
              </a:rPr>
              <a:t>4+(-</a:t>
            </a:r>
            <a:r>
              <a:rPr sz="2800" dirty="0">
                <a:latin typeface="Calibri"/>
                <a:cs typeface="Calibri"/>
              </a:rPr>
              <a:t>1)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  <a:p>
            <a:pPr marL="896619">
              <a:lnSpc>
                <a:spcPct val="100000"/>
              </a:lnSpc>
              <a:tabLst>
                <a:tab pos="2237105" algn="l"/>
              </a:tabLst>
            </a:pPr>
            <a:r>
              <a:rPr sz="2800" dirty="0">
                <a:latin typeface="Calibri"/>
                <a:cs typeface="Calibri"/>
              </a:rPr>
              <a:t>3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0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1)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59385" y="1054112"/>
            <a:ext cx="303403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d[E]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d[E,D]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d[D]</a:t>
            </a:r>
            <a:endParaRPr sz="2800">
              <a:latin typeface="Calibri"/>
              <a:cs typeface="Calibri"/>
            </a:endParaRPr>
          </a:p>
          <a:p>
            <a:pPr marL="575310">
              <a:lnSpc>
                <a:spcPct val="100000"/>
              </a:lnSpc>
            </a:pPr>
            <a:r>
              <a:rPr sz="2800" dirty="0">
                <a:latin typeface="Arial MT"/>
                <a:cs typeface="Arial MT"/>
              </a:rPr>
              <a:t>∞</a:t>
            </a:r>
            <a:r>
              <a:rPr sz="2800" dirty="0">
                <a:latin typeface="Calibri"/>
                <a:cs typeface="Calibri"/>
              </a:rPr>
              <a:t>+4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  <a:p>
            <a:pPr marL="885190">
              <a:lnSpc>
                <a:spcPct val="100000"/>
              </a:lnSpc>
              <a:tabLst>
                <a:tab pos="2299335" algn="l"/>
              </a:tabLst>
            </a:pPr>
            <a:r>
              <a:rPr sz="2800" dirty="0">
                <a:latin typeface="Arial MT"/>
                <a:cs typeface="Arial MT"/>
              </a:rPr>
              <a:t>∞</a:t>
            </a:r>
            <a:r>
              <a:rPr sz="2800" spc="-170" dirty="0">
                <a:latin typeface="Arial MT"/>
                <a:cs typeface="Arial MT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60" dirty="0">
                <a:latin typeface="Calibri"/>
                <a:cs typeface="Calibri"/>
              </a:rPr>
              <a:t>4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1)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58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588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84732" y="1054112"/>
            <a:ext cx="311721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73380" algn="ctr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d[E]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d[E,B]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d[B]</a:t>
            </a:r>
            <a:endParaRPr sz="2800">
              <a:latin typeface="Calibri"/>
              <a:cs typeface="Calibri"/>
            </a:endParaRPr>
          </a:p>
          <a:p>
            <a:pPr marR="446405" algn="ctr">
              <a:lnSpc>
                <a:spcPct val="100000"/>
              </a:lnSpc>
            </a:pPr>
            <a:r>
              <a:rPr sz="2800" spc="-25" dirty="0">
                <a:latin typeface="Arial MT"/>
                <a:cs typeface="Arial MT"/>
              </a:rPr>
              <a:t>∞</a:t>
            </a:r>
            <a:r>
              <a:rPr sz="2800" spc="-25" dirty="0">
                <a:latin typeface="Calibri"/>
                <a:cs typeface="Calibri"/>
              </a:rPr>
              <a:t>+(-</a:t>
            </a:r>
            <a:r>
              <a:rPr sz="2800" dirty="0">
                <a:latin typeface="Calibri"/>
                <a:cs typeface="Calibri"/>
              </a:rPr>
              <a:t>3)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  <a:p>
            <a:pPr marL="847725" algn="ctr">
              <a:lnSpc>
                <a:spcPct val="100000"/>
              </a:lnSpc>
              <a:tabLst>
                <a:tab pos="2369820" algn="l"/>
              </a:tabLst>
            </a:pPr>
            <a:r>
              <a:rPr sz="2800" dirty="0">
                <a:latin typeface="Arial MT"/>
                <a:cs typeface="Arial MT"/>
              </a:rPr>
              <a:t>∞</a:t>
            </a:r>
            <a:r>
              <a:rPr sz="2800" spc="-165" dirty="0">
                <a:latin typeface="Arial MT"/>
                <a:cs typeface="Arial MT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-</a:t>
            </a:r>
            <a:r>
              <a:rPr sz="2800" spc="-50" dirty="0">
                <a:latin typeface="Calibri"/>
                <a:cs typeface="Calibri"/>
              </a:rPr>
              <a:t>1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1)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∞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89333" y="1054112"/>
            <a:ext cx="284099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5465" marR="118745" indent="-5334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d[C]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d[C,E]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d[E] </a:t>
            </a:r>
            <a:r>
              <a:rPr sz="2800" dirty="0">
                <a:latin typeface="Calibri"/>
                <a:cs typeface="Calibri"/>
              </a:rPr>
              <a:t>0+1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0" dirty="0">
                <a:latin typeface="Arial MT"/>
                <a:cs typeface="Arial MT"/>
              </a:rPr>
              <a:t>∞</a:t>
            </a:r>
            <a:endParaRPr sz="2800">
              <a:latin typeface="Arial MT"/>
              <a:cs typeface="Arial MT"/>
            </a:endParaRPr>
          </a:p>
          <a:p>
            <a:pPr marL="774700">
              <a:lnSpc>
                <a:spcPct val="100000"/>
              </a:lnSpc>
              <a:tabLst>
                <a:tab pos="2189480" algn="l"/>
              </a:tabLst>
            </a:pPr>
            <a:r>
              <a:rPr sz="2800" dirty="0">
                <a:latin typeface="Calibri"/>
                <a:cs typeface="Calibri"/>
              </a:rPr>
              <a:t>1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0" dirty="0">
                <a:latin typeface="Arial MT"/>
                <a:cs typeface="Arial MT"/>
              </a:rPr>
              <a:t>∞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30" dirty="0">
                <a:latin typeface="Calibri"/>
                <a:cs typeface="Calibri"/>
              </a:rPr>
              <a:t>True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1)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∞</a:t>
                      </a:r>
                      <a:r>
                        <a:rPr sz="2400" spc="-1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1 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89333" y="1054112"/>
            <a:ext cx="284099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5465" marR="118745" indent="-5334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d[C]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d[C,E]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d[E] </a:t>
            </a:r>
            <a:r>
              <a:rPr sz="2800" dirty="0">
                <a:latin typeface="Calibri"/>
                <a:cs typeface="Calibri"/>
              </a:rPr>
              <a:t>0+1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0" dirty="0">
                <a:latin typeface="Arial MT"/>
                <a:cs typeface="Arial MT"/>
              </a:rPr>
              <a:t>∞</a:t>
            </a:r>
            <a:endParaRPr sz="2800">
              <a:latin typeface="Arial MT"/>
              <a:cs typeface="Arial MT"/>
            </a:endParaRPr>
          </a:p>
          <a:p>
            <a:pPr marL="774700">
              <a:lnSpc>
                <a:spcPct val="100000"/>
              </a:lnSpc>
              <a:tabLst>
                <a:tab pos="2189480" algn="l"/>
              </a:tabLst>
            </a:pPr>
            <a:r>
              <a:rPr sz="2800" dirty="0">
                <a:latin typeface="Calibri"/>
                <a:cs typeface="Calibri"/>
              </a:rPr>
              <a:t>1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0" dirty="0">
                <a:latin typeface="Arial MT"/>
                <a:cs typeface="Arial MT"/>
              </a:rPr>
              <a:t>∞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30" dirty="0">
                <a:latin typeface="Calibri"/>
                <a:cs typeface="Calibri"/>
              </a:rPr>
              <a:t>True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06845" y="3511460"/>
            <a:ext cx="156210" cy="384810"/>
          </a:xfrm>
          <a:custGeom>
            <a:avLst/>
            <a:gdLst/>
            <a:ahLst/>
            <a:cxnLst/>
            <a:rect l="l" t="t" r="r" b="b"/>
            <a:pathLst>
              <a:path w="156210" h="384810">
                <a:moveTo>
                  <a:pt x="0" y="384559"/>
                </a:moveTo>
                <a:lnTo>
                  <a:pt x="155861" y="0"/>
                </a:lnTo>
              </a:path>
            </a:pathLst>
          </a:custGeom>
          <a:ln w="317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22680" y="6285263"/>
            <a:ext cx="156210" cy="384810"/>
          </a:xfrm>
          <a:custGeom>
            <a:avLst/>
            <a:gdLst/>
            <a:ahLst/>
            <a:cxnLst/>
            <a:rect l="l" t="t" r="r" b="b"/>
            <a:pathLst>
              <a:path w="156210" h="384809">
                <a:moveTo>
                  <a:pt x="0" y="384558"/>
                </a:moveTo>
                <a:lnTo>
                  <a:pt x="155862" y="0"/>
                </a:lnTo>
              </a:path>
            </a:pathLst>
          </a:custGeom>
          <a:ln w="317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1)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2)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19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51313" y="1054112"/>
            <a:ext cx="318579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3565" marR="387985" indent="-5715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d[A]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d[A,B]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d[B] </a:t>
            </a:r>
            <a:r>
              <a:rPr sz="2800" spc="-25" dirty="0">
                <a:latin typeface="Calibri"/>
                <a:cs typeface="Calibri"/>
              </a:rPr>
              <a:t>0+(-</a:t>
            </a:r>
            <a:r>
              <a:rPr sz="2800" dirty="0">
                <a:latin typeface="Calibri"/>
                <a:cs typeface="Calibri"/>
              </a:rPr>
              <a:t>1)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  <a:p>
            <a:pPr marL="893444">
              <a:lnSpc>
                <a:spcPct val="100000"/>
              </a:lnSpc>
              <a:tabLst>
                <a:tab pos="2451100" algn="l"/>
              </a:tabLst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spc="-50" dirty="0">
                <a:latin typeface="Calibri"/>
                <a:cs typeface="Calibri"/>
              </a:rPr>
              <a:t>1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2)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53569" y="1054112"/>
            <a:ext cx="296608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d[B]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d[B,A]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d[A]</a:t>
            </a:r>
            <a:endParaRPr sz="2800">
              <a:latin typeface="Calibri"/>
              <a:cs typeface="Calibri"/>
            </a:endParaRPr>
          </a:p>
          <a:p>
            <a:pPr marL="581660">
              <a:lnSpc>
                <a:spcPct val="100000"/>
              </a:lnSpc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1+2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  <a:p>
            <a:pPr marL="890905">
              <a:lnSpc>
                <a:spcPct val="100000"/>
              </a:lnSpc>
              <a:tabLst>
                <a:tab pos="2231390" algn="l"/>
              </a:tabLst>
            </a:pPr>
            <a:r>
              <a:rPr sz="2800" dirty="0">
                <a:latin typeface="Calibri"/>
                <a:cs typeface="Calibri"/>
              </a:rPr>
              <a:t>1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0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2)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3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392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55132" y="1054112"/>
            <a:ext cx="296481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9755" marR="174625" indent="-56769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d[A]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d[A,C]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d[C] </a:t>
            </a:r>
            <a:r>
              <a:rPr sz="2800" dirty="0">
                <a:latin typeface="Calibri"/>
                <a:cs typeface="Calibri"/>
              </a:rPr>
              <a:t>0+2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  <a:p>
            <a:pPr marL="889635">
              <a:lnSpc>
                <a:spcPct val="100000"/>
              </a:lnSpc>
              <a:tabLst>
                <a:tab pos="2230120" algn="l"/>
              </a:tabLst>
            </a:pPr>
            <a:r>
              <a:rPr sz="2800" dirty="0">
                <a:latin typeface="Calibri"/>
                <a:cs typeface="Calibri"/>
              </a:rPr>
              <a:t>2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0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2)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3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392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71190" y="1054112"/>
            <a:ext cx="294830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d[B]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d[B,C]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d[C]</a:t>
            </a:r>
            <a:endParaRPr sz="2800">
              <a:latin typeface="Calibri"/>
              <a:cs typeface="Calibri"/>
            </a:endParaRPr>
          </a:p>
          <a:p>
            <a:pPr marL="563880">
              <a:lnSpc>
                <a:spcPct val="100000"/>
              </a:lnSpc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1+1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  <a:p>
            <a:pPr marL="873125">
              <a:lnSpc>
                <a:spcPct val="100000"/>
              </a:lnSpc>
              <a:tabLst>
                <a:tab pos="2214245" algn="l"/>
              </a:tabLst>
            </a:pPr>
            <a:r>
              <a:rPr sz="2800" dirty="0">
                <a:latin typeface="Calibri"/>
                <a:cs typeface="Calibri"/>
              </a:rPr>
              <a:t>0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0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2)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25965" y="1054112"/>
            <a:ext cx="299339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8965" marR="145415" indent="-5969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d[A]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d[A,D]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d[D] </a:t>
            </a:r>
            <a:r>
              <a:rPr sz="2800" dirty="0">
                <a:latin typeface="Calibri"/>
                <a:cs typeface="Calibri"/>
              </a:rPr>
              <a:t>0+4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  <a:p>
            <a:pPr marL="918844">
              <a:lnSpc>
                <a:spcPct val="100000"/>
              </a:lnSpc>
              <a:tabLst>
                <a:tab pos="2259330" algn="l"/>
              </a:tabLst>
            </a:pPr>
            <a:r>
              <a:rPr sz="2800" dirty="0">
                <a:latin typeface="Calibri"/>
                <a:cs typeface="Calibri"/>
              </a:rPr>
              <a:t>4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4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2)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274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274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44194" y="1054112"/>
            <a:ext cx="297561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0" marR="162560" indent="-57848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d[C]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d[C,D]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d[D] </a:t>
            </a:r>
            <a:r>
              <a:rPr sz="2800" dirty="0">
                <a:latin typeface="Calibri"/>
                <a:cs typeface="Calibri"/>
              </a:rPr>
              <a:t>0+5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  <a:p>
            <a:pPr marL="900430">
              <a:lnSpc>
                <a:spcPct val="100000"/>
              </a:lnSpc>
              <a:tabLst>
                <a:tab pos="2240915" algn="l"/>
              </a:tabLst>
            </a:pPr>
            <a:r>
              <a:rPr sz="2800" dirty="0">
                <a:latin typeface="Calibri"/>
                <a:cs typeface="Calibri"/>
              </a:rPr>
              <a:t>5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4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2)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274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274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48188" y="1054112"/>
            <a:ext cx="297116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6740" marR="166370" indent="-57467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d[D]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d[D,C]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d[C] </a:t>
            </a:r>
            <a:r>
              <a:rPr sz="2800" spc="-25" dirty="0">
                <a:latin typeface="Calibri"/>
                <a:cs typeface="Calibri"/>
              </a:rPr>
              <a:t>4+(-</a:t>
            </a:r>
            <a:r>
              <a:rPr sz="2800" dirty="0">
                <a:latin typeface="Calibri"/>
                <a:cs typeface="Calibri"/>
              </a:rPr>
              <a:t>1)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  <a:p>
            <a:pPr marL="896619">
              <a:lnSpc>
                <a:spcPct val="100000"/>
              </a:lnSpc>
              <a:tabLst>
                <a:tab pos="2237105" algn="l"/>
              </a:tabLst>
            </a:pPr>
            <a:r>
              <a:rPr sz="2800" dirty="0">
                <a:latin typeface="Calibri"/>
                <a:cs typeface="Calibri"/>
              </a:rPr>
              <a:t>3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0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2)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59385" y="1054112"/>
            <a:ext cx="296037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5310" marR="178435" indent="-56324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d[E]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d[E,D]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d[D] </a:t>
            </a:r>
            <a:r>
              <a:rPr sz="2800" dirty="0">
                <a:latin typeface="Calibri"/>
                <a:cs typeface="Calibri"/>
              </a:rPr>
              <a:t>1+4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  <a:p>
            <a:pPr marL="885190">
              <a:lnSpc>
                <a:spcPct val="100000"/>
              </a:lnSpc>
              <a:tabLst>
                <a:tab pos="2225675" algn="l"/>
              </a:tabLst>
            </a:pPr>
            <a:r>
              <a:rPr sz="2800" dirty="0">
                <a:latin typeface="Calibri"/>
                <a:cs typeface="Calibri"/>
              </a:rPr>
              <a:t>5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4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2)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58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19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84732" y="1054112"/>
            <a:ext cx="306895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0545" marR="338455" indent="-53848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d[E]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d[E,B]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d[B] </a:t>
            </a:r>
            <a:r>
              <a:rPr sz="2800" spc="-25" dirty="0">
                <a:latin typeface="Calibri"/>
                <a:cs typeface="Calibri"/>
              </a:rPr>
              <a:t>1+(-</a:t>
            </a:r>
            <a:r>
              <a:rPr sz="2800" dirty="0">
                <a:latin typeface="Calibri"/>
                <a:cs typeface="Calibri"/>
              </a:rPr>
              <a:t>3)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  <a:p>
            <a:pPr marL="859790">
              <a:lnSpc>
                <a:spcPct val="100000"/>
              </a:lnSpc>
              <a:tabLst>
                <a:tab pos="2417445" algn="l"/>
              </a:tabLst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2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spc="-50" dirty="0">
                <a:latin typeface="Calibri"/>
                <a:cs typeface="Calibri"/>
              </a:rPr>
              <a:t>1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30" dirty="0">
                <a:latin typeface="Calibri"/>
                <a:cs typeface="Calibri"/>
              </a:rPr>
              <a:t>True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2)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58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19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84732" y="1054112"/>
            <a:ext cx="306895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0545" marR="338455" indent="-53848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d[E]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d[E,B]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d[B] </a:t>
            </a:r>
            <a:r>
              <a:rPr sz="2800" spc="-25" dirty="0">
                <a:latin typeface="Calibri"/>
                <a:cs typeface="Calibri"/>
              </a:rPr>
              <a:t>1+(-</a:t>
            </a:r>
            <a:r>
              <a:rPr sz="2800" dirty="0">
                <a:latin typeface="Calibri"/>
                <a:cs typeface="Calibri"/>
              </a:rPr>
              <a:t>3)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  <a:p>
            <a:pPr marL="859790">
              <a:lnSpc>
                <a:spcPct val="100000"/>
              </a:lnSpc>
              <a:tabLst>
                <a:tab pos="2417445" algn="l"/>
              </a:tabLst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2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spc="-50" dirty="0">
                <a:latin typeface="Calibri"/>
                <a:cs typeface="Calibri"/>
              </a:rPr>
              <a:t>1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30" dirty="0">
                <a:latin typeface="Calibri"/>
                <a:cs typeface="Calibri"/>
              </a:rPr>
              <a:t>True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22680" y="2135600"/>
            <a:ext cx="156210" cy="384810"/>
          </a:xfrm>
          <a:custGeom>
            <a:avLst/>
            <a:gdLst/>
            <a:ahLst/>
            <a:cxnLst/>
            <a:rect l="l" t="t" r="r" b="b"/>
            <a:pathLst>
              <a:path w="156210" h="384810">
                <a:moveTo>
                  <a:pt x="0" y="384558"/>
                </a:moveTo>
                <a:lnTo>
                  <a:pt x="155862" y="0"/>
                </a:lnTo>
              </a:path>
            </a:pathLst>
          </a:custGeom>
          <a:ln w="317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22680" y="4888788"/>
            <a:ext cx="156210" cy="384810"/>
          </a:xfrm>
          <a:custGeom>
            <a:avLst/>
            <a:gdLst/>
            <a:ahLst/>
            <a:cxnLst/>
            <a:rect l="l" t="t" r="r" b="b"/>
            <a:pathLst>
              <a:path w="156210" h="384810">
                <a:moveTo>
                  <a:pt x="0" y="384558"/>
                </a:moveTo>
                <a:lnTo>
                  <a:pt x="155862" y="0"/>
                </a:lnTo>
              </a:path>
            </a:pathLst>
          </a:custGeom>
          <a:ln w="317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2)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19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19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89333" y="1054112"/>
            <a:ext cx="284988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5465" marR="127635" indent="-5334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d[C]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d[C,E]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d[E] </a:t>
            </a:r>
            <a:r>
              <a:rPr sz="2800" dirty="0">
                <a:latin typeface="Calibri"/>
                <a:cs typeface="Calibri"/>
              </a:rPr>
              <a:t>0+1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  <a:p>
            <a:pPr marL="774700">
              <a:lnSpc>
                <a:spcPct val="100000"/>
              </a:lnSpc>
              <a:tabLst>
                <a:tab pos="2115185" algn="l"/>
              </a:tabLst>
            </a:pPr>
            <a:r>
              <a:rPr sz="2800" dirty="0">
                <a:latin typeface="Calibri"/>
                <a:cs typeface="Calibri"/>
              </a:rPr>
              <a:t>1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1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2)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3)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51313" y="1054112"/>
            <a:ext cx="318579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3565" marR="387985" indent="-5715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d[A]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d[A,B]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d[B] </a:t>
            </a:r>
            <a:r>
              <a:rPr sz="2800" spc="-25" dirty="0">
                <a:latin typeface="Calibri"/>
                <a:cs typeface="Calibri"/>
              </a:rPr>
              <a:t>0+(-</a:t>
            </a:r>
            <a:r>
              <a:rPr sz="2800" dirty="0">
                <a:latin typeface="Calibri"/>
                <a:cs typeface="Calibri"/>
              </a:rPr>
              <a:t>1)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  <a:p>
            <a:pPr marL="893444">
              <a:lnSpc>
                <a:spcPct val="100000"/>
              </a:lnSpc>
              <a:tabLst>
                <a:tab pos="2451100" algn="l"/>
              </a:tabLst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spc="-50" dirty="0">
                <a:latin typeface="Calibri"/>
                <a:cs typeface="Calibri"/>
              </a:rPr>
              <a:t>2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3)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666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666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53569" y="1054112"/>
            <a:ext cx="296608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d[B]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d[B,A]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d[A]</a:t>
            </a:r>
            <a:endParaRPr sz="2800">
              <a:latin typeface="Calibri"/>
              <a:cs typeface="Calibri"/>
            </a:endParaRPr>
          </a:p>
          <a:p>
            <a:pPr marL="581660">
              <a:lnSpc>
                <a:spcPct val="100000"/>
              </a:lnSpc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2+2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  <a:p>
            <a:pPr marL="890905">
              <a:lnSpc>
                <a:spcPct val="100000"/>
              </a:lnSpc>
              <a:tabLst>
                <a:tab pos="2231390" algn="l"/>
              </a:tabLst>
            </a:pPr>
            <a:r>
              <a:rPr sz="2800" dirty="0">
                <a:latin typeface="Calibri"/>
                <a:cs typeface="Calibri"/>
              </a:rPr>
              <a:t>0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0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3)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3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392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55132" y="1054112"/>
            <a:ext cx="296481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9755" marR="174625" indent="-56769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d[A]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d[A,C]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d[C] </a:t>
            </a:r>
            <a:r>
              <a:rPr sz="2800" dirty="0">
                <a:latin typeface="Calibri"/>
                <a:cs typeface="Calibri"/>
              </a:rPr>
              <a:t>0+2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  <a:p>
            <a:pPr marL="889635">
              <a:lnSpc>
                <a:spcPct val="100000"/>
              </a:lnSpc>
              <a:tabLst>
                <a:tab pos="2230120" algn="l"/>
              </a:tabLst>
            </a:pPr>
            <a:r>
              <a:rPr sz="2800" dirty="0">
                <a:latin typeface="Calibri"/>
                <a:cs typeface="Calibri"/>
              </a:rPr>
              <a:t>2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0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3)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71190" y="1054112"/>
            <a:ext cx="297434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d[B]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d[B,C]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d[C]</a:t>
            </a:r>
            <a:endParaRPr sz="2800">
              <a:latin typeface="Calibri"/>
              <a:cs typeface="Calibri"/>
            </a:endParaRPr>
          </a:p>
          <a:p>
            <a:pPr marL="563880">
              <a:lnSpc>
                <a:spcPct val="100000"/>
              </a:lnSpc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2+1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  <a:p>
            <a:pPr marL="873125">
              <a:lnSpc>
                <a:spcPct val="100000"/>
              </a:lnSpc>
              <a:tabLst>
                <a:tab pos="2322830" algn="l"/>
              </a:tabLst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60" dirty="0">
                <a:latin typeface="Calibri"/>
                <a:cs typeface="Calibri"/>
              </a:rPr>
              <a:t>0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30" dirty="0">
                <a:latin typeface="Calibri"/>
                <a:cs typeface="Calibri"/>
              </a:rPr>
              <a:t>True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3)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71190" y="1054112"/>
            <a:ext cx="297434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d[B]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d[B,C]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d[C]</a:t>
            </a:r>
            <a:endParaRPr sz="2800">
              <a:latin typeface="Calibri"/>
              <a:cs typeface="Calibri"/>
            </a:endParaRPr>
          </a:p>
          <a:p>
            <a:pPr marL="563880">
              <a:lnSpc>
                <a:spcPct val="100000"/>
              </a:lnSpc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2+1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  <a:p>
            <a:pPr marL="873125">
              <a:lnSpc>
                <a:spcPct val="100000"/>
              </a:lnSpc>
              <a:tabLst>
                <a:tab pos="2322830" algn="l"/>
              </a:tabLst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60" dirty="0">
                <a:latin typeface="Calibri"/>
                <a:cs typeface="Calibri"/>
              </a:rPr>
              <a:t>0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30" dirty="0">
                <a:latin typeface="Calibri"/>
                <a:cs typeface="Calibri"/>
              </a:rPr>
              <a:t>True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44748" y="2539341"/>
            <a:ext cx="156210" cy="384810"/>
          </a:xfrm>
          <a:custGeom>
            <a:avLst/>
            <a:gdLst/>
            <a:ahLst/>
            <a:cxnLst/>
            <a:rect l="l" t="t" r="r" b="b"/>
            <a:pathLst>
              <a:path w="156210" h="384810">
                <a:moveTo>
                  <a:pt x="0" y="384558"/>
                </a:moveTo>
                <a:lnTo>
                  <a:pt x="155862" y="0"/>
                </a:lnTo>
              </a:path>
            </a:pathLst>
          </a:custGeom>
          <a:ln w="317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299636" y="5372410"/>
            <a:ext cx="156210" cy="384810"/>
          </a:xfrm>
          <a:custGeom>
            <a:avLst/>
            <a:gdLst/>
            <a:ahLst/>
            <a:cxnLst/>
            <a:rect l="l" t="t" r="r" b="b"/>
            <a:pathLst>
              <a:path w="156210" h="384810">
                <a:moveTo>
                  <a:pt x="0" y="384559"/>
                </a:moveTo>
                <a:lnTo>
                  <a:pt x="155862" y="0"/>
                </a:lnTo>
              </a:path>
            </a:pathLst>
          </a:custGeom>
          <a:ln w="317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3)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388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3882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25965" y="1054112"/>
            <a:ext cx="299339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8965" marR="145415" indent="-5969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d[A]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d[A,D]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d[D] </a:t>
            </a:r>
            <a:r>
              <a:rPr sz="2800" dirty="0">
                <a:latin typeface="Calibri"/>
                <a:cs typeface="Calibri"/>
              </a:rPr>
              <a:t>0+4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  <a:p>
            <a:pPr marL="918844">
              <a:lnSpc>
                <a:spcPct val="100000"/>
              </a:lnSpc>
              <a:tabLst>
                <a:tab pos="2259330" algn="l"/>
              </a:tabLst>
            </a:pPr>
            <a:r>
              <a:rPr sz="2800" dirty="0">
                <a:latin typeface="Calibri"/>
                <a:cs typeface="Calibri"/>
              </a:rPr>
              <a:t>4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4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3)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274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274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44194" y="1054112"/>
            <a:ext cx="297561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d[C]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d[C,D]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d[D]</a:t>
            </a:r>
            <a:endParaRPr sz="2800">
              <a:latin typeface="Calibri"/>
              <a:cs typeface="Calibri"/>
            </a:endParaRPr>
          </a:p>
          <a:p>
            <a:pPr marL="590550">
              <a:lnSpc>
                <a:spcPct val="100000"/>
              </a:lnSpc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1+5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  <a:p>
            <a:pPr marL="900430">
              <a:lnSpc>
                <a:spcPct val="100000"/>
              </a:lnSpc>
              <a:tabLst>
                <a:tab pos="2240915" algn="l"/>
              </a:tabLst>
            </a:pPr>
            <a:r>
              <a:rPr sz="2800" dirty="0">
                <a:latin typeface="Calibri"/>
                <a:cs typeface="Calibri"/>
              </a:rPr>
              <a:t>4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4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3)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48188" y="1054112"/>
            <a:ext cx="307975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6740" marR="274955" indent="-57467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d[D]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d[D,C]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d[C] </a:t>
            </a:r>
            <a:r>
              <a:rPr sz="2800" spc="-25" dirty="0">
                <a:latin typeface="Calibri"/>
                <a:cs typeface="Calibri"/>
              </a:rPr>
              <a:t>4+(-</a:t>
            </a:r>
            <a:r>
              <a:rPr sz="2800" dirty="0">
                <a:latin typeface="Calibri"/>
                <a:cs typeface="Calibri"/>
              </a:rPr>
              <a:t>1)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  <a:p>
            <a:pPr marL="896619">
              <a:lnSpc>
                <a:spcPct val="100000"/>
              </a:lnSpc>
              <a:tabLst>
                <a:tab pos="2345690" algn="l"/>
              </a:tabLst>
            </a:pPr>
            <a:r>
              <a:rPr sz="2800" dirty="0">
                <a:latin typeface="Calibri"/>
                <a:cs typeface="Calibri"/>
              </a:rPr>
              <a:t>3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spc="-50" dirty="0">
                <a:latin typeface="Calibri"/>
                <a:cs typeface="Calibri"/>
              </a:rPr>
              <a:t>1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3)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274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274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59385" y="1054112"/>
            <a:ext cx="296037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5310" marR="178435" indent="-56324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d[E]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d[E,D]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d[D] </a:t>
            </a:r>
            <a:r>
              <a:rPr sz="2800" dirty="0">
                <a:latin typeface="Calibri"/>
                <a:cs typeface="Calibri"/>
              </a:rPr>
              <a:t>1+4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  <a:p>
            <a:pPr marL="885190">
              <a:lnSpc>
                <a:spcPct val="100000"/>
              </a:lnSpc>
              <a:tabLst>
                <a:tab pos="2225675" algn="l"/>
              </a:tabLst>
            </a:pPr>
            <a:r>
              <a:rPr sz="2800" dirty="0">
                <a:latin typeface="Calibri"/>
                <a:cs typeface="Calibri"/>
              </a:rPr>
              <a:t>5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4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3)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3764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3764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84732" y="1054112"/>
            <a:ext cx="315214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0545" marR="421005" indent="-53848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d[E]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d[E,B]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d[B] </a:t>
            </a:r>
            <a:r>
              <a:rPr sz="2800" spc="-25" dirty="0">
                <a:latin typeface="Calibri"/>
                <a:cs typeface="Calibri"/>
              </a:rPr>
              <a:t>1+(-</a:t>
            </a:r>
            <a:r>
              <a:rPr sz="2800" dirty="0">
                <a:latin typeface="Calibri"/>
                <a:cs typeface="Calibri"/>
              </a:rPr>
              <a:t>3)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  <a:p>
            <a:pPr marL="859790">
              <a:lnSpc>
                <a:spcPct val="100000"/>
              </a:lnSpc>
              <a:tabLst>
                <a:tab pos="2417445" algn="l"/>
              </a:tabLst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2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spc="-50" dirty="0">
                <a:latin typeface="Calibri"/>
                <a:cs typeface="Calibri"/>
              </a:rPr>
              <a:t>2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3)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078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078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89333" y="1054112"/>
            <a:ext cx="276733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d[C]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d[C,E]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d[E]</a:t>
            </a:r>
            <a:endParaRPr sz="2800">
              <a:latin typeface="Calibri"/>
              <a:cs typeface="Calibri"/>
            </a:endParaRPr>
          </a:p>
          <a:p>
            <a:pPr marL="545465">
              <a:lnSpc>
                <a:spcPct val="100000"/>
              </a:lnSpc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1+1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  <a:p>
            <a:pPr marL="774700">
              <a:lnSpc>
                <a:spcPct val="100000"/>
              </a:lnSpc>
              <a:tabLst>
                <a:tab pos="2115185" algn="l"/>
              </a:tabLst>
            </a:pPr>
            <a:r>
              <a:rPr sz="2800" dirty="0">
                <a:latin typeface="Calibri"/>
                <a:cs typeface="Calibri"/>
              </a:rPr>
              <a:t>0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1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35" dirty="0">
                <a:latin typeface="Calibri"/>
                <a:cs typeface="Calibri"/>
              </a:rPr>
              <a:t>True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3)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078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C0">
                        <a:alpha val="4078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89333" y="1054112"/>
            <a:ext cx="276733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d[C]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d[C,E]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d[E]</a:t>
            </a:r>
            <a:endParaRPr sz="2800">
              <a:latin typeface="Calibri"/>
              <a:cs typeface="Calibri"/>
            </a:endParaRPr>
          </a:p>
          <a:p>
            <a:pPr marL="545465">
              <a:lnSpc>
                <a:spcPct val="100000"/>
              </a:lnSpc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1+1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  <a:p>
            <a:pPr marL="774700">
              <a:lnSpc>
                <a:spcPct val="100000"/>
              </a:lnSpc>
              <a:tabLst>
                <a:tab pos="2115185" algn="l"/>
              </a:tabLst>
            </a:pPr>
            <a:r>
              <a:rPr sz="2800" dirty="0">
                <a:latin typeface="Calibri"/>
                <a:cs typeface="Calibri"/>
              </a:rPr>
              <a:t>0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1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35" dirty="0">
                <a:latin typeface="Calibri"/>
                <a:cs typeface="Calibri"/>
              </a:rPr>
              <a:t>True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17413" y="3480758"/>
            <a:ext cx="156210" cy="384810"/>
          </a:xfrm>
          <a:custGeom>
            <a:avLst/>
            <a:gdLst/>
            <a:ahLst/>
            <a:cxnLst/>
            <a:rect l="l" t="t" r="r" b="b"/>
            <a:pathLst>
              <a:path w="156210" h="384810">
                <a:moveTo>
                  <a:pt x="0" y="384558"/>
                </a:moveTo>
                <a:lnTo>
                  <a:pt x="155862" y="0"/>
                </a:lnTo>
              </a:path>
            </a:pathLst>
          </a:custGeom>
          <a:ln w="317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17413" y="6213797"/>
            <a:ext cx="156210" cy="384810"/>
          </a:xfrm>
          <a:custGeom>
            <a:avLst/>
            <a:gdLst/>
            <a:ahLst/>
            <a:cxnLst/>
            <a:rect l="l" t="t" r="r" b="b"/>
            <a:pathLst>
              <a:path w="156210" h="384809">
                <a:moveTo>
                  <a:pt x="0" y="384558"/>
                </a:moveTo>
                <a:lnTo>
                  <a:pt x="155862" y="0"/>
                </a:lnTo>
              </a:path>
            </a:pathLst>
          </a:custGeom>
          <a:ln w="317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3)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4)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C1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C1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51313" y="1054112"/>
            <a:ext cx="318579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3565" marR="387985" indent="-5715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d[A]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d[A,B]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d[B] </a:t>
            </a:r>
            <a:r>
              <a:rPr sz="2800" spc="-25" dirty="0">
                <a:latin typeface="Calibri"/>
                <a:cs typeface="Calibri"/>
              </a:rPr>
              <a:t>0+(-</a:t>
            </a:r>
            <a:r>
              <a:rPr sz="2800" dirty="0">
                <a:latin typeface="Calibri"/>
                <a:cs typeface="Calibri"/>
              </a:rPr>
              <a:t>1)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  <a:p>
            <a:pPr marL="893444">
              <a:lnSpc>
                <a:spcPct val="100000"/>
              </a:lnSpc>
              <a:tabLst>
                <a:tab pos="2451100" algn="l"/>
              </a:tabLst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spc="-50" dirty="0">
                <a:latin typeface="Calibri"/>
                <a:cs typeface="Calibri"/>
              </a:rPr>
              <a:t>2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4)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C1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C1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53569" y="1054112"/>
            <a:ext cx="296608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d[B]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d[B,A]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d[A]</a:t>
            </a:r>
            <a:endParaRPr sz="2800">
              <a:latin typeface="Calibri"/>
              <a:cs typeface="Calibri"/>
            </a:endParaRPr>
          </a:p>
          <a:p>
            <a:pPr marL="581660">
              <a:lnSpc>
                <a:spcPct val="100000"/>
              </a:lnSpc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2+2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  <a:p>
            <a:pPr marL="890905">
              <a:lnSpc>
                <a:spcPct val="100000"/>
              </a:lnSpc>
              <a:tabLst>
                <a:tab pos="2231390" algn="l"/>
              </a:tabLst>
            </a:pPr>
            <a:r>
              <a:rPr sz="2800" dirty="0">
                <a:latin typeface="Calibri"/>
                <a:cs typeface="Calibri"/>
              </a:rPr>
              <a:t>0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0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4)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C1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C1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55132" y="1054112"/>
            <a:ext cx="307340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9755" marR="283210" indent="-56769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d[A]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d[A,C]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d[C] </a:t>
            </a:r>
            <a:r>
              <a:rPr sz="2800" dirty="0">
                <a:latin typeface="Calibri"/>
                <a:cs typeface="Calibri"/>
              </a:rPr>
              <a:t>0+2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spc="-6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  <a:p>
            <a:pPr marL="889635">
              <a:lnSpc>
                <a:spcPct val="100000"/>
              </a:lnSpc>
              <a:tabLst>
                <a:tab pos="2338705" algn="l"/>
              </a:tabLst>
            </a:pPr>
            <a:r>
              <a:rPr sz="2800" dirty="0">
                <a:latin typeface="Calibri"/>
                <a:cs typeface="Calibri"/>
              </a:rPr>
              <a:t>2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spc="-50" dirty="0">
                <a:latin typeface="Calibri"/>
                <a:cs typeface="Calibri"/>
              </a:rPr>
              <a:t>1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4)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C1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C1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71190" y="1054112"/>
            <a:ext cx="305689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d[B]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d[B,C]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d[C]</a:t>
            </a:r>
            <a:endParaRPr sz="2800">
              <a:latin typeface="Calibri"/>
              <a:cs typeface="Calibri"/>
            </a:endParaRPr>
          </a:p>
          <a:p>
            <a:pPr marL="563880">
              <a:lnSpc>
                <a:spcPct val="100000"/>
              </a:lnSpc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2+1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  <a:p>
            <a:pPr marL="873125">
              <a:lnSpc>
                <a:spcPct val="100000"/>
              </a:lnSpc>
              <a:tabLst>
                <a:tab pos="2322830" algn="l"/>
              </a:tabLst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60" dirty="0">
                <a:latin typeface="Calibri"/>
                <a:cs typeface="Calibri"/>
              </a:rPr>
              <a:t>0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4)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C1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C1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25965" y="1054112"/>
            <a:ext cx="299339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8965" marR="145415" indent="-5969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d[A]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d[A,D]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d[D] </a:t>
            </a:r>
            <a:r>
              <a:rPr sz="2800" dirty="0">
                <a:latin typeface="Calibri"/>
                <a:cs typeface="Calibri"/>
              </a:rPr>
              <a:t>0+4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  <a:p>
            <a:pPr marL="918844">
              <a:lnSpc>
                <a:spcPct val="100000"/>
              </a:lnSpc>
              <a:tabLst>
                <a:tab pos="2259330" algn="l"/>
              </a:tabLst>
            </a:pPr>
            <a:r>
              <a:rPr sz="2800" dirty="0">
                <a:latin typeface="Calibri"/>
                <a:cs typeface="Calibri"/>
              </a:rPr>
              <a:t>4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4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4)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C1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C1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44194" y="1054112"/>
            <a:ext cx="297561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d[C]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d[C,D]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d[D]</a:t>
            </a:r>
            <a:endParaRPr sz="2800">
              <a:latin typeface="Calibri"/>
              <a:cs typeface="Calibri"/>
            </a:endParaRPr>
          </a:p>
          <a:p>
            <a:pPr marL="590550">
              <a:lnSpc>
                <a:spcPct val="100000"/>
              </a:lnSpc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1+5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  <a:p>
            <a:pPr marL="900430">
              <a:lnSpc>
                <a:spcPct val="100000"/>
              </a:lnSpc>
              <a:tabLst>
                <a:tab pos="2240915" algn="l"/>
              </a:tabLst>
            </a:pPr>
            <a:r>
              <a:rPr sz="2800" dirty="0">
                <a:latin typeface="Calibri"/>
                <a:cs typeface="Calibri"/>
              </a:rPr>
              <a:t>4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4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4)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C1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C1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48188" y="1054112"/>
            <a:ext cx="307975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6740" marR="274955" indent="-57467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d[D]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d[D,C]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d[C] </a:t>
            </a:r>
            <a:r>
              <a:rPr sz="2800" spc="-25" dirty="0">
                <a:latin typeface="Calibri"/>
                <a:cs typeface="Calibri"/>
              </a:rPr>
              <a:t>4+(-</a:t>
            </a:r>
            <a:r>
              <a:rPr sz="2800" dirty="0">
                <a:latin typeface="Calibri"/>
                <a:cs typeface="Calibri"/>
              </a:rPr>
              <a:t>1)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  <a:p>
            <a:pPr marL="896619">
              <a:lnSpc>
                <a:spcPct val="100000"/>
              </a:lnSpc>
              <a:tabLst>
                <a:tab pos="2345690" algn="l"/>
              </a:tabLst>
            </a:pPr>
            <a:r>
              <a:rPr sz="2800" dirty="0">
                <a:latin typeface="Calibri"/>
                <a:cs typeface="Calibri"/>
              </a:rPr>
              <a:t>3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spc="-50" dirty="0">
                <a:latin typeface="Calibri"/>
                <a:cs typeface="Calibri"/>
              </a:rPr>
              <a:t>1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4)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C1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C1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59385" y="1054112"/>
            <a:ext cx="296037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5310" marR="178435" indent="-56324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d[E]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d[E,D]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d[D] </a:t>
            </a:r>
            <a:r>
              <a:rPr sz="2800" dirty="0">
                <a:latin typeface="Calibri"/>
                <a:cs typeface="Calibri"/>
              </a:rPr>
              <a:t>0+4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  <a:p>
            <a:pPr marL="885190">
              <a:lnSpc>
                <a:spcPct val="100000"/>
              </a:lnSpc>
              <a:tabLst>
                <a:tab pos="2225675" algn="l"/>
              </a:tabLst>
            </a:pPr>
            <a:r>
              <a:rPr sz="2800" dirty="0">
                <a:latin typeface="Calibri"/>
                <a:cs typeface="Calibri"/>
              </a:rPr>
              <a:t>4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4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4)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C1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C1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84732" y="1054112"/>
            <a:ext cx="306895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0545" marR="338455" indent="-53848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d[E]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d[E,B]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d[B] </a:t>
            </a:r>
            <a:r>
              <a:rPr sz="2800" spc="-25" dirty="0">
                <a:latin typeface="Calibri"/>
                <a:cs typeface="Calibri"/>
              </a:rPr>
              <a:t>0+(-</a:t>
            </a:r>
            <a:r>
              <a:rPr sz="2800" dirty="0">
                <a:latin typeface="Calibri"/>
                <a:cs typeface="Calibri"/>
              </a:rPr>
              <a:t>3)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  <a:p>
            <a:pPr marL="859790">
              <a:lnSpc>
                <a:spcPct val="100000"/>
              </a:lnSpc>
              <a:tabLst>
                <a:tab pos="2417445" algn="l"/>
              </a:tabLst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3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spc="-50" dirty="0">
                <a:latin typeface="Calibri"/>
                <a:cs typeface="Calibri"/>
              </a:rPr>
              <a:t>2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30" dirty="0">
                <a:latin typeface="Calibri"/>
                <a:cs typeface="Calibri"/>
              </a:rPr>
              <a:t>True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4)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C1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C1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84732" y="1054112"/>
            <a:ext cx="306895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0545" marR="338455" indent="-53848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d[E]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d[E,B]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d[B] </a:t>
            </a:r>
            <a:r>
              <a:rPr sz="2800" spc="-25" dirty="0">
                <a:latin typeface="Calibri"/>
                <a:cs typeface="Calibri"/>
              </a:rPr>
              <a:t>0+(-</a:t>
            </a:r>
            <a:r>
              <a:rPr sz="2800" dirty="0">
                <a:latin typeface="Calibri"/>
                <a:cs typeface="Calibri"/>
              </a:rPr>
              <a:t>3)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  <a:p>
            <a:pPr marL="859790">
              <a:lnSpc>
                <a:spcPct val="100000"/>
              </a:lnSpc>
              <a:tabLst>
                <a:tab pos="2417445" algn="l"/>
              </a:tabLst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3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spc="-50" dirty="0">
                <a:latin typeface="Calibri"/>
                <a:cs typeface="Calibri"/>
              </a:rPr>
              <a:t>2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30" dirty="0">
                <a:latin typeface="Calibri"/>
                <a:cs typeface="Calibri"/>
              </a:rPr>
              <a:t>True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03346" y="2135600"/>
            <a:ext cx="156210" cy="384810"/>
          </a:xfrm>
          <a:custGeom>
            <a:avLst/>
            <a:gdLst/>
            <a:ahLst/>
            <a:cxnLst/>
            <a:rect l="l" t="t" r="r" b="b"/>
            <a:pathLst>
              <a:path w="156210" h="384810">
                <a:moveTo>
                  <a:pt x="0" y="384558"/>
                </a:moveTo>
                <a:lnTo>
                  <a:pt x="155862" y="0"/>
                </a:lnTo>
              </a:path>
            </a:pathLst>
          </a:custGeom>
          <a:ln w="317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03346" y="4868638"/>
            <a:ext cx="156210" cy="384810"/>
          </a:xfrm>
          <a:custGeom>
            <a:avLst/>
            <a:gdLst/>
            <a:ahLst/>
            <a:cxnLst/>
            <a:rect l="l" t="t" r="r" b="b"/>
            <a:pathLst>
              <a:path w="156210" h="384810">
                <a:moveTo>
                  <a:pt x="0" y="384558"/>
                </a:moveTo>
                <a:lnTo>
                  <a:pt x="155862" y="0"/>
                </a:lnTo>
              </a:path>
            </a:pathLst>
          </a:custGeom>
          <a:ln w="317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4)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C1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C1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89333" y="1054112"/>
            <a:ext cx="284988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d[C]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d[C,E]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d[E]</a:t>
            </a:r>
            <a:endParaRPr sz="2800">
              <a:latin typeface="Calibri"/>
              <a:cs typeface="Calibri"/>
            </a:endParaRPr>
          </a:p>
          <a:p>
            <a:pPr marL="545465">
              <a:lnSpc>
                <a:spcPct val="100000"/>
              </a:lnSpc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1+1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  <a:p>
            <a:pPr marL="774700">
              <a:lnSpc>
                <a:spcPct val="100000"/>
              </a:lnSpc>
              <a:tabLst>
                <a:tab pos="2115185" algn="l"/>
              </a:tabLst>
            </a:pPr>
            <a:r>
              <a:rPr sz="2800" dirty="0">
                <a:latin typeface="Calibri"/>
                <a:cs typeface="Calibri"/>
              </a:rPr>
              <a:t>0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0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4)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5)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C1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C1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51313" y="1054112"/>
            <a:ext cx="318579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3565" marR="387985" indent="-5715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d[A]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d[A,B]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d[B] </a:t>
            </a:r>
            <a:r>
              <a:rPr sz="2800" spc="-25" dirty="0">
                <a:latin typeface="Calibri"/>
                <a:cs typeface="Calibri"/>
              </a:rPr>
              <a:t>0+(-</a:t>
            </a:r>
            <a:r>
              <a:rPr sz="2800" dirty="0">
                <a:latin typeface="Calibri"/>
                <a:cs typeface="Calibri"/>
              </a:rPr>
              <a:t>1)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spc="-50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  <a:p>
            <a:pPr marL="893444">
              <a:lnSpc>
                <a:spcPct val="100000"/>
              </a:lnSpc>
              <a:tabLst>
                <a:tab pos="2451100" algn="l"/>
              </a:tabLst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spc="-50" dirty="0">
                <a:latin typeface="Calibri"/>
                <a:cs typeface="Calibri"/>
              </a:rPr>
              <a:t>3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-190" dirty="0"/>
              <a:t> </a:t>
            </a:r>
            <a:r>
              <a:rPr spc="-35" dirty="0"/>
              <a:t>Try</a:t>
            </a:r>
            <a:r>
              <a:rPr spc="-190" dirty="0"/>
              <a:t> </a:t>
            </a:r>
            <a:r>
              <a:rPr dirty="0"/>
              <a:t>another</a:t>
            </a:r>
            <a:r>
              <a:rPr spc="-185" dirty="0"/>
              <a:t> </a:t>
            </a:r>
            <a:r>
              <a:rPr spc="-30" dirty="0"/>
              <a:t>Graph(iteration</a:t>
            </a:r>
            <a:r>
              <a:rPr spc="-190" dirty="0"/>
              <a:t> </a:t>
            </a:r>
            <a:r>
              <a:rPr spc="-25" dirty="0"/>
              <a:t>5)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844" y="2537079"/>
            <a:ext cx="5578638" cy="40445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402984"/>
          <a:ext cx="2432050" cy="496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Edge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weight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(B,A)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C1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C1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(B,C)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(A,D)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(D,C)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(E,D)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(E,B)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(C,E)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37091" y="1207429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Distance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7091" y="3994174"/>
          <a:ext cx="2432050" cy="2678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Parent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1 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53569" y="1054112"/>
            <a:ext cx="299148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d[B]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d[B,A]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d[A]</a:t>
            </a:r>
            <a:endParaRPr sz="2800">
              <a:latin typeface="Calibri"/>
              <a:cs typeface="Calibri"/>
            </a:endParaRPr>
          </a:p>
          <a:p>
            <a:pPr marL="581660">
              <a:lnSpc>
                <a:spcPct val="100000"/>
              </a:lnSpc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3+2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  <a:p>
            <a:pPr marL="890905">
              <a:lnSpc>
                <a:spcPct val="100000"/>
              </a:lnSpc>
              <a:tabLst>
                <a:tab pos="2339975" algn="l"/>
              </a:tabLst>
            </a:pP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60" dirty="0">
                <a:latin typeface="Calibri"/>
                <a:cs typeface="Calibri"/>
              </a:rPr>
              <a:t>0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30" dirty="0">
                <a:latin typeface="Calibri"/>
                <a:cs typeface="Calibri"/>
              </a:rPr>
              <a:t>True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33007" y="1713569"/>
            <a:ext cx="156210" cy="384810"/>
          </a:xfrm>
          <a:custGeom>
            <a:avLst/>
            <a:gdLst/>
            <a:ahLst/>
            <a:cxnLst/>
            <a:rect l="l" t="t" r="r" b="b"/>
            <a:pathLst>
              <a:path w="156210" h="384810">
                <a:moveTo>
                  <a:pt x="0" y="384558"/>
                </a:moveTo>
                <a:lnTo>
                  <a:pt x="155862" y="0"/>
                </a:lnTo>
              </a:path>
            </a:pathLst>
          </a:custGeom>
          <a:ln w="317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03347" y="4446608"/>
            <a:ext cx="156210" cy="384810"/>
          </a:xfrm>
          <a:custGeom>
            <a:avLst/>
            <a:gdLst/>
            <a:ahLst/>
            <a:cxnLst/>
            <a:rect l="l" t="t" r="r" b="b"/>
            <a:pathLst>
              <a:path w="156210" h="384810">
                <a:moveTo>
                  <a:pt x="0" y="384558"/>
                </a:moveTo>
                <a:lnTo>
                  <a:pt x="155861" y="0"/>
                </a:lnTo>
              </a:path>
            </a:pathLst>
          </a:custGeom>
          <a:ln w="317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21071" rIns="0" bIns="0" rtlCol="0">
            <a:spAutoFit/>
          </a:bodyPr>
          <a:lstStyle/>
          <a:p>
            <a:pPr marL="71120">
              <a:lnSpc>
                <a:spcPts val="2760"/>
              </a:lnSpc>
            </a:pPr>
            <a:r>
              <a:rPr dirty="0"/>
              <a:t>Source</a:t>
            </a:r>
            <a:r>
              <a:rPr spc="-75" dirty="0"/>
              <a:t> </a:t>
            </a:r>
            <a:r>
              <a:rPr dirty="0"/>
              <a:t>=</a:t>
            </a:r>
            <a:r>
              <a:rPr spc="-7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ts val="444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Decision</a:t>
            </a:r>
          </a:p>
          <a:p>
            <a:pPr marL="1976755">
              <a:lnSpc>
                <a:spcPts val="5640"/>
              </a:lnSpc>
            </a:pPr>
            <a:r>
              <a:rPr sz="4000" spc="-20" dirty="0"/>
              <a:t>Value</a:t>
            </a:r>
            <a:r>
              <a:rPr sz="4000" spc="-70" dirty="0"/>
              <a:t> </a:t>
            </a:r>
            <a:r>
              <a:rPr sz="4000" dirty="0"/>
              <a:t>change</a:t>
            </a:r>
            <a:r>
              <a:rPr sz="4000" spc="-70" dirty="0"/>
              <a:t> </a:t>
            </a:r>
            <a:r>
              <a:rPr sz="4000" dirty="0"/>
              <a:t>in</a:t>
            </a:r>
            <a:r>
              <a:rPr sz="4000" spc="-40" dirty="0"/>
              <a:t> </a:t>
            </a:r>
            <a:r>
              <a:rPr sz="5400" b="1" dirty="0">
                <a:latin typeface="Calibri"/>
                <a:cs typeface="Calibri"/>
              </a:rPr>
              <a:t>V</a:t>
            </a:r>
            <a:r>
              <a:rPr sz="5400" b="1" baseline="30864" dirty="0">
                <a:latin typeface="Calibri"/>
                <a:cs typeface="Calibri"/>
              </a:rPr>
              <a:t>th</a:t>
            </a:r>
            <a:r>
              <a:rPr sz="5400" b="1" spc="37" baseline="30864" dirty="0">
                <a:latin typeface="Calibri"/>
                <a:cs typeface="Calibri"/>
              </a:rPr>
              <a:t> </a:t>
            </a:r>
            <a:r>
              <a:rPr sz="4000" spc="-10" dirty="0"/>
              <a:t>Iteration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01844" y="2537079"/>
            <a:ext cx="5579110" cy="4044950"/>
            <a:chOff x="6401844" y="2537079"/>
            <a:chExt cx="5579110" cy="40449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1844" y="2537079"/>
              <a:ext cx="5578638" cy="404451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797357" y="3203575"/>
              <a:ext cx="1443355" cy="897890"/>
            </a:xfrm>
            <a:custGeom>
              <a:avLst/>
              <a:gdLst/>
              <a:ahLst/>
              <a:cxnLst/>
              <a:rect l="l" t="t" r="r" b="b"/>
              <a:pathLst>
                <a:path w="1443354" h="897889">
                  <a:moveTo>
                    <a:pt x="1442728" y="0"/>
                  </a:moveTo>
                  <a:lnTo>
                    <a:pt x="0" y="897782"/>
                  </a:lnTo>
                </a:path>
              </a:pathLst>
            </a:custGeom>
            <a:ln w="730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515992" y="3998948"/>
              <a:ext cx="345440" cy="277495"/>
            </a:xfrm>
            <a:custGeom>
              <a:avLst/>
              <a:gdLst/>
              <a:ahLst/>
              <a:cxnLst/>
              <a:rect l="l" t="t" r="r" b="b"/>
              <a:pathLst>
                <a:path w="345440" h="277495">
                  <a:moveTo>
                    <a:pt x="0" y="277496"/>
                  </a:moveTo>
                  <a:lnTo>
                    <a:pt x="217638" y="0"/>
                  </a:lnTo>
                  <a:lnTo>
                    <a:pt x="345091" y="204817"/>
                  </a:lnTo>
                  <a:lnTo>
                    <a:pt x="0" y="27749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515992" y="3998948"/>
              <a:ext cx="345440" cy="277495"/>
            </a:xfrm>
            <a:custGeom>
              <a:avLst/>
              <a:gdLst/>
              <a:ahLst/>
              <a:cxnLst/>
              <a:rect l="l" t="t" r="r" b="b"/>
              <a:pathLst>
                <a:path w="345440" h="277495">
                  <a:moveTo>
                    <a:pt x="217638" y="0"/>
                  </a:moveTo>
                  <a:lnTo>
                    <a:pt x="0" y="277496"/>
                  </a:lnTo>
                  <a:lnTo>
                    <a:pt x="345091" y="204817"/>
                  </a:lnTo>
                  <a:lnTo>
                    <a:pt x="217638" y="0"/>
                  </a:lnTo>
                  <a:close/>
                </a:path>
              </a:pathLst>
            </a:custGeom>
            <a:ln w="730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535550" y="4774454"/>
              <a:ext cx="1335405" cy="853440"/>
            </a:xfrm>
            <a:custGeom>
              <a:avLst/>
              <a:gdLst/>
              <a:ahLst/>
              <a:cxnLst/>
              <a:rect l="l" t="t" r="r" b="b"/>
              <a:pathLst>
                <a:path w="1335404" h="853439">
                  <a:moveTo>
                    <a:pt x="0" y="0"/>
                  </a:moveTo>
                  <a:lnTo>
                    <a:pt x="1335306" y="853105"/>
                  </a:lnTo>
                </a:path>
              </a:pathLst>
            </a:custGeom>
            <a:ln w="730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05918" y="5525915"/>
              <a:ext cx="344805" cy="280670"/>
            </a:xfrm>
            <a:custGeom>
              <a:avLst/>
              <a:gdLst/>
              <a:ahLst/>
              <a:cxnLst/>
              <a:rect l="l" t="t" r="r" b="b"/>
              <a:pathLst>
                <a:path w="344804" h="280670">
                  <a:moveTo>
                    <a:pt x="344204" y="280062"/>
                  </a:moveTo>
                  <a:lnTo>
                    <a:pt x="0" y="203288"/>
                  </a:lnTo>
                  <a:lnTo>
                    <a:pt x="129878" y="0"/>
                  </a:lnTo>
                  <a:lnTo>
                    <a:pt x="344204" y="28006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05918" y="5525915"/>
              <a:ext cx="344805" cy="280670"/>
            </a:xfrm>
            <a:custGeom>
              <a:avLst/>
              <a:gdLst/>
              <a:ahLst/>
              <a:cxnLst/>
              <a:rect l="l" t="t" r="r" b="b"/>
              <a:pathLst>
                <a:path w="344804" h="280670">
                  <a:moveTo>
                    <a:pt x="0" y="203288"/>
                  </a:moveTo>
                  <a:lnTo>
                    <a:pt x="344204" y="280062"/>
                  </a:lnTo>
                  <a:lnTo>
                    <a:pt x="129878" y="0"/>
                  </a:lnTo>
                  <a:lnTo>
                    <a:pt x="0" y="203288"/>
                  </a:lnTo>
                  <a:close/>
                </a:path>
              </a:pathLst>
            </a:custGeom>
            <a:ln w="730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619913" y="3641599"/>
              <a:ext cx="50800" cy="2098675"/>
            </a:xfrm>
            <a:custGeom>
              <a:avLst/>
              <a:gdLst/>
              <a:ahLst/>
              <a:cxnLst/>
              <a:rect l="l" t="t" r="r" b="b"/>
              <a:pathLst>
                <a:path w="50800" h="2098675">
                  <a:moveTo>
                    <a:pt x="0" y="2098461"/>
                  </a:moveTo>
                  <a:lnTo>
                    <a:pt x="50259" y="0"/>
                  </a:lnTo>
                </a:path>
              </a:pathLst>
            </a:custGeom>
            <a:ln w="730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549589" y="3310299"/>
              <a:ext cx="241300" cy="334645"/>
            </a:xfrm>
            <a:custGeom>
              <a:avLst/>
              <a:gdLst/>
              <a:ahLst/>
              <a:cxnLst/>
              <a:rect l="l" t="t" r="r" b="b"/>
              <a:pathLst>
                <a:path w="241300" h="334645">
                  <a:moveTo>
                    <a:pt x="241166" y="334187"/>
                  </a:moveTo>
                  <a:lnTo>
                    <a:pt x="0" y="328411"/>
                  </a:lnTo>
                  <a:lnTo>
                    <a:pt x="128517" y="0"/>
                  </a:lnTo>
                  <a:lnTo>
                    <a:pt x="241166" y="33418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549589" y="3310299"/>
              <a:ext cx="241300" cy="334645"/>
            </a:xfrm>
            <a:custGeom>
              <a:avLst/>
              <a:gdLst/>
              <a:ahLst/>
              <a:cxnLst/>
              <a:rect l="l" t="t" r="r" b="b"/>
              <a:pathLst>
                <a:path w="241300" h="334645">
                  <a:moveTo>
                    <a:pt x="241166" y="334187"/>
                  </a:moveTo>
                  <a:lnTo>
                    <a:pt x="128517" y="0"/>
                  </a:lnTo>
                  <a:lnTo>
                    <a:pt x="0" y="328411"/>
                  </a:lnTo>
                  <a:lnTo>
                    <a:pt x="241166" y="334187"/>
                  </a:lnTo>
                  <a:close/>
                </a:path>
              </a:pathLst>
            </a:custGeom>
            <a:ln w="730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11225" y="1851881"/>
            <a:ext cx="99441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Calibri"/>
                <a:cs typeface="Calibri"/>
              </a:rPr>
              <a:t>So</a:t>
            </a:r>
            <a:r>
              <a:rPr sz="4000" spc="-7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there</a:t>
            </a:r>
            <a:r>
              <a:rPr sz="4000" spc="-7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is</a:t>
            </a:r>
            <a:r>
              <a:rPr sz="4000" spc="-7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</a:t>
            </a:r>
            <a:r>
              <a:rPr sz="4000" spc="-7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presence</a:t>
            </a:r>
            <a:r>
              <a:rPr sz="4000" spc="-6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of</a:t>
            </a:r>
            <a:r>
              <a:rPr sz="4000" spc="-7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</a:t>
            </a:r>
            <a:r>
              <a:rPr sz="4000" spc="-35" dirty="0"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0000"/>
                </a:solidFill>
                <a:latin typeface="Calibri"/>
                <a:cs typeface="Calibri"/>
              </a:rPr>
              <a:t>negative</a:t>
            </a:r>
            <a:r>
              <a:rPr sz="40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0000"/>
                </a:solidFill>
                <a:latin typeface="Calibri"/>
                <a:cs typeface="Calibri"/>
              </a:rPr>
              <a:t>weight</a:t>
            </a:r>
            <a:r>
              <a:rPr sz="40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FF0000"/>
                </a:solidFill>
                <a:latin typeface="Calibri"/>
                <a:cs typeface="Calibri"/>
              </a:rPr>
              <a:t>cycle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</TotalTime>
  <Words>10949</Words>
  <Application>Microsoft Office PowerPoint</Application>
  <PresentationFormat>Widescreen</PresentationFormat>
  <Paragraphs>4428</Paragraphs>
  <Slides>92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5" baseType="lpstr">
      <vt:lpstr>Arial MT</vt:lpstr>
      <vt:lpstr>Calibri</vt:lpstr>
      <vt:lpstr>Office Theme</vt:lpstr>
      <vt:lpstr>Single Source Shortest Path</vt:lpstr>
      <vt:lpstr>Example</vt:lpstr>
      <vt:lpstr>Example</vt:lpstr>
      <vt:lpstr>Example</vt:lpstr>
      <vt:lpstr>Example</vt:lpstr>
      <vt:lpstr>Iteration 1</vt:lpstr>
      <vt:lpstr>Iteration 1</vt:lpstr>
      <vt:lpstr>Iteration 1</vt:lpstr>
      <vt:lpstr>Iteration 1</vt:lpstr>
      <vt:lpstr>Iteration 1</vt:lpstr>
      <vt:lpstr>Iteration 1</vt:lpstr>
      <vt:lpstr>Iteration 1</vt:lpstr>
      <vt:lpstr>Iteration 1</vt:lpstr>
      <vt:lpstr>Iteration 1</vt:lpstr>
      <vt:lpstr>Iteration 1</vt:lpstr>
      <vt:lpstr>Iteration 1</vt:lpstr>
      <vt:lpstr>Iteration 1</vt:lpstr>
      <vt:lpstr>Iteration 1</vt:lpstr>
      <vt:lpstr>Iteration 2</vt:lpstr>
      <vt:lpstr>Iteration 2</vt:lpstr>
      <vt:lpstr>Iteration 2</vt:lpstr>
      <vt:lpstr>Iteration 2</vt:lpstr>
      <vt:lpstr>Iteration 2</vt:lpstr>
      <vt:lpstr>Iteration 2</vt:lpstr>
      <vt:lpstr>Iteration 2</vt:lpstr>
      <vt:lpstr>Iteration 2</vt:lpstr>
      <vt:lpstr>Iteration 2</vt:lpstr>
      <vt:lpstr>Iteration 2</vt:lpstr>
      <vt:lpstr>Iteration 2</vt:lpstr>
      <vt:lpstr>Iteration 3</vt:lpstr>
      <vt:lpstr>Iteration 4</vt:lpstr>
      <vt:lpstr>Decision</vt:lpstr>
      <vt:lpstr>Iteration 5</vt:lpstr>
      <vt:lpstr>Iteration 5</vt:lpstr>
      <vt:lpstr>Let’s Try another Graph</vt:lpstr>
      <vt:lpstr>Let’s Try another Graph</vt:lpstr>
      <vt:lpstr>Let’s Try another Graph (iteration 1)</vt:lpstr>
      <vt:lpstr>Let’s Try another Graph(iteration 1)</vt:lpstr>
      <vt:lpstr>Let’s Try another Graph(iteration 1)</vt:lpstr>
      <vt:lpstr>Let’s Try another Graph(iteration 1)</vt:lpstr>
      <vt:lpstr>Let’s Try another Graph(iteration 1)</vt:lpstr>
      <vt:lpstr>Let’s Try another Graph(iteration 1)</vt:lpstr>
      <vt:lpstr>Let’s Try another Graph(iteration 1)</vt:lpstr>
      <vt:lpstr>Let’s Try another Graph(iteration 1)</vt:lpstr>
      <vt:lpstr>Let’s Try another Graph(iteration 1)</vt:lpstr>
      <vt:lpstr>Let’s Try another Graph(iteration 1)</vt:lpstr>
      <vt:lpstr>Let’s Try another Graph(iteration 1)</vt:lpstr>
      <vt:lpstr>Let’s Try another Graph(iteration 1)</vt:lpstr>
      <vt:lpstr>Let’s Try another Graph(iteration 1)</vt:lpstr>
      <vt:lpstr>Let’s Try another Graph(iteration 1)</vt:lpstr>
      <vt:lpstr>Let’s Try another Graph(iteration 1)</vt:lpstr>
      <vt:lpstr>Let’s Try another Graph(iteration 1)</vt:lpstr>
      <vt:lpstr>Let’s Try another Graph(iteration 2)</vt:lpstr>
      <vt:lpstr>Let’s Try another Graph(iteration 2)</vt:lpstr>
      <vt:lpstr>Let’s Try another Graph(iteration 2)</vt:lpstr>
      <vt:lpstr>Let’s Try another Graph(iteration 2)</vt:lpstr>
      <vt:lpstr>Let’s Try another Graph(iteration 2)</vt:lpstr>
      <vt:lpstr>Let’s Try another Graph(iteration 2)</vt:lpstr>
      <vt:lpstr>Let’s Try another Graph(iteration 2)</vt:lpstr>
      <vt:lpstr>Let’s Try another Graph(iteration 2)</vt:lpstr>
      <vt:lpstr>Let’s Try another Graph(iteration 2)</vt:lpstr>
      <vt:lpstr>Let’s Try another Graph(iteration 2)</vt:lpstr>
      <vt:lpstr>Let’s Try another Graph(iteration 2)</vt:lpstr>
      <vt:lpstr>Let’s Try another Graph(iteration 2)</vt:lpstr>
      <vt:lpstr>Let’s Try another Graph(iteration 3)</vt:lpstr>
      <vt:lpstr>Let’s Try another Graph(iteration 3)</vt:lpstr>
      <vt:lpstr>Let’s Try another Graph(iteration 3)</vt:lpstr>
      <vt:lpstr>Let’s Try another Graph(iteration 3)</vt:lpstr>
      <vt:lpstr>Let’s Try another Graph(iteration 3)</vt:lpstr>
      <vt:lpstr>Let’s Try another Graph(iteration 3)</vt:lpstr>
      <vt:lpstr>Let’s Try another Graph(iteration 3)</vt:lpstr>
      <vt:lpstr>Let’s Try another Graph(iteration 3)</vt:lpstr>
      <vt:lpstr>Let’s Try another Graph(iteration 3)</vt:lpstr>
      <vt:lpstr>Let’s Try another Graph(iteration 3)</vt:lpstr>
      <vt:lpstr>Let’s Try another Graph(iteration 3)</vt:lpstr>
      <vt:lpstr>Let’s Try another Graph(iteration 3)</vt:lpstr>
      <vt:lpstr>Let’s Try another Graph(iteration 3)</vt:lpstr>
      <vt:lpstr>Let’s Try another Graph(iteration 4)</vt:lpstr>
      <vt:lpstr>Let’s Try another Graph(iteration 4)</vt:lpstr>
      <vt:lpstr>Let’s Try another Graph(iteration 4)</vt:lpstr>
      <vt:lpstr>Let’s Try another Graph(iteration 4)</vt:lpstr>
      <vt:lpstr>Let’s Try another Graph(iteration 4)</vt:lpstr>
      <vt:lpstr>Let’s Try another Graph(iteration 4)</vt:lpstr>
      <vt:lpstr>Let’s Try another Graph(iteration 4)</vt:lpstr>
      <vt:lpstr>Let’s Try another Graph(iteration 4)</vt:lpstr>
      <vt:lpstr>Let’s Try another Graph(iteration 4)</vt:lpstr>
      <vt:lpstr>Let’s Try another Graph(iteration 4)</vt:lpstr>
      <vt:lpstr>Let’s Try another Graph(iteration 4)</vt:lpstr>
      <vt:lpstr>Let’s Try another Graph(iteration 4)</vt:lpstr>
      <vt:lpstr>Let’s Try another Graph(iteration 5)</vt:lpstr>
      <vt:lpstr>Let’s Try another Graph(iteration 5)</vt:lpstr>
      <vt:lpstr>Decision Value change in Vth Iteration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8.0 Belmanford.pptx</dc:title>
  <cp:lastModifiedBy>Maimuna Chowdhury Disha</cp:lastModifiedBy>
  <cp:revision>3</cp:revision>
  <dcterms:created xsi:type="dcterms:W3CDTF">2024-02-12T10:56:06Z</dcterms:created>
  <dcterms:modified xsi:type="dcterms:W3CDTF">2026-03-16T07:03:37Z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