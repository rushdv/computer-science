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Lst>
  <p:sldSz cy="6858000" cx="12192000"/>
  <p:notesSz cx="6858000" cy="9144000"/>
  <p:embeddedFontLst>
    <p:embeddedFont>
      <p:font typeface="Arial Black"/>
      <p:regular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2" roundtripDataSignature="AMtx7miqchHPMY7rfPelCCJNoBXOWi0G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2" Type="http://customschemas.google.com/relationships/presentationmetadata" Target="metadata"/><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ArialBlack-regular.fntdata"/><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0ee9510b4f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0ee9510b4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ee9510b4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30ee9510b4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9f009d034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29f009d034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9f009d03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29f009d03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9f009d034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29f009d034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9f009d034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29f009d034_1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0ee9510b4f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0ee9510b4f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29f009d034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29f009d03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29f009d034_3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29f009d034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9f009d034_3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29f009d034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29f009d034_3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29f009d034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9f009d034_3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29f009d034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29f009d034_3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29f009d034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29f009d034_4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29f009d034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29f009d034_3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29f009d034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9f009d034_4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29f009d034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29f009d034_4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29f009d034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29f009d034_4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29f009d034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29f009d034_4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29f009d034_4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9f009d034_4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29f009d034_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29f009d034_4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29f009d034_4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29f009d034_4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29f009d034_4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9f009d034_4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29f009d034_4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29f009d034_4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29f009d034_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29f009d034_4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29f009d034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29f009d034_4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29f009d034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29f009d034_4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29f009d034_4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29f009d034_4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29f009d034_4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29f009d034_4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29f009d034_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29f009d034_4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29f009d034_4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353871efd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353871ef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353871efd4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353871efd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353871efd4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353871efd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353871efd4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353871efd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353871efd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353871efd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353871efd4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353871efd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353871efd4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353871efd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53871efd4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353871efd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353871efd4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353871efd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353871efd4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353871efd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353871efd4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353871efd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353871efd4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353871efd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353871efd4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353871efd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353871efd4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353871efd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53871efd4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353871efd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353871efd4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353871efd4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311a16626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311a1662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311a16626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311a16626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311a166263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311a16626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311a16626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311a16626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311a166263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311a16626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311a16626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311a16626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311a166263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311a16626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311a166263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311a16626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311a166263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311a166263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311a166263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311a166263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4" name="Shape 14"/>
        <p:cNvGrpSpPr/>
        <p:nvPr/>
      </p:nvGrpSpPr>
      <p:grpSpPr>
        <a:xfrm>
          <a:off x="0" y="0"/>
          <a:ext cx="0" cy="0"/>
          <a:chOff x="0" y="0"/>
          <a:chExt cx="0" cy="0"/>
        </a:xfrm>
      </p:grpSpPr>
      <p:sp>
        <p:nvSpPr>
          <p:cNvPr id="15" name="Google Shape;15;p3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6"/>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cxnSp>
        <p:nvCxnSpPr>
          <p:cNvPr id="22" name="Google Shape;22;p36"/>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3" name="Shape 23"/>
        <p:cNvGrpSpPr/>
        <p:nvPr/>
      </p:nvGrpSpPr>
      <p:grpSpPr>
        <a:xfrm>
          <a:off x="0" y="0"/>
          <a:ext cx="0" cy="0"/>
          <a:chOff x="0" y="0"/>
          <a:chExt cx="0" cy="0"/>
        </a:xfrm>
      </p:grpSpPr>
      <p:sp>
        <p:nvSpPr>
          <p:cNvPr id="24" name="Google Shape;24;p3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3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3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5" name="Shape 35"/>
        <p:cNvGrpSpPr/>
        <p:nvPr/>
      </p:nvGrpSpPr>
      <p:grpSpPr>
        <a:xfrm>
          <a:off x="0" y="0"/>
          <a:ext cx="0" cy="0"/>
          <a:chOff x="0" y="0"/>
          <a:chExt cx="0" cy="0"/>
        </a:xfrm>
      </p:grpSpPr>
      <p:sp>
        <p:nvSpPr>
          <p:cNvPr id="36" name="Google Shape;36;p39"/>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9"/>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3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cxnSp>
        <p:nvCxnSpPr>
          <p:cNvPr id="43" name="Google Shape;43;p39"/>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0"/>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40"/>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4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41"/>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41"/>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41"/>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4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4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5" name="Shape 65"/>
        <p:cNvGrpSpPr/>
        <p:nvPr/>
      </p:nvGrpSpPr>
      <p:grpSpPr>
        <a:xfrm>
          <a:off x="0" y="0"/>
          <a:ext cx="0" cy="0"/>
          <a:chOff x="0" y="0"/>
          <a:chExt cx="0" cy="0"/>
        </a:xfrm>
      </p:grpSpPr>
      <p:sp>
        <p:nvSpPr>
          <p:cNvPr id="66" name="Google Shape;66;p43"/>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4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4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4" name="Shape 74"/>
        <p:cNvGrpSpPr/>
        <p:nvPr/>
      </p:nvGrpSpPr>
      <p:grpSpPr>
        <a:xfrm>
          <a:off x="0" y="0"/>
          <a:ext cx="0" cy="0"/>
          <a:chOff x="0" y="0"/>
          <a:chExt cx="0" cy="0"/>
        </a:xfrm>
      </p:grpSpPr>
      <p:sp>
        <p:nvSpPr>
          <p:cNvPr id="75" name="Google Shape;75;p44"/>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4"/>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4"/>
          <p:cNvSpPr/>
          <p:nvPr>
            <p:ph idx="2" type="pic"/>
          </p:nvPr>
        </p:nvSpPr>
        <p:spPr>
          <a:xfrm>
            <a:off x="15" y="0"/>
            <a:ext cx="12191985" cy="4915076"/>
          </a:xfrm>
          <a:prstGeom prst="rect">
            <a:avLst/>
          </a:prstGeom>
          <a:noFill/>
          <a:ln>
            <a:noFill/>
          </a:ln>
        </p:spPr>
      </p:sp>
      <p:sp>
        <p:nvSpPr>
          <p:cNvPr id="79" name="Google Shape;79;p44"/>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4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4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4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9" name="Shape 89"/>
        <p:cNvGrpSpPr/>
        <p:nvPr/>
      </p:nvGrpSpPr>
      <p:grpSpPr>
        <a:xfrm>
          <a:off x="0" y="0"/>
          <a:ext cx="0" cy="0"/>
          <a:chOff x="0" y="0"/>
          <a:chExt cx="0" cy="0"/>
        </a:xfrm>
      </p:grpSpPr>
      <p:sp>
        <p:nvSpPr>
          <p:cNvPr id="90" name="Google Shape;90;p4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6"/>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6"/>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4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4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5"/>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35"/>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3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cxnSp>
        <p:nvCxnSpPr>
          <p:cNvPr id="13" name="Google Shape;13;p35"/>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37.png"/><Relationship Id="rId6"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0.png"/><Relationship Id="rId4" Type="http://schemas.openxmlformats.org/officeDocument/2006/relationships/image" Target="../media/image7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4.png"/><Relationship Id="rId4" Type="http://schemas.openxmlformats.org/officeDocument/2006/relationships/image" Target="../media/image61.png"/><Relationship Id="rId5" Type="http://schemas.openxmlformats.org/officeDocument/2006/relationships/image" Target="../media/image6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7.png"/><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70.png"/><Relationship Id="rId4" Type="http://schemas.openxmlformats.org/officeDocument/2006/relationships/image" Target="../media/image68.png"/><Relationship Id="rId5" Type="http://schemas.openxmlformats.org/officeDocument/2006/relationships/image" Target="../media/image59.png"/><Relationship Id="rId6" Type="http://schemas.openxmlformats.org/officeDocument/2006/relationships/image" Target="../media/image72.png"/><Relationship Id="rId7" Type="http://schemas.openxmlformats.org/officeDocument/2006/relationships/image" Target="../media/image6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7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nvSpPr>
        <p:spPr>
          <a:xfrm>
            <a:off x="2000422" y="1722268"/>
            <a:ext cx="8191153"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GB" sz="2800" u="none" cap="none" strike="noStrike">
                <a:solidFill>
                  <a:schemeClr val="dk1"/>
                </a:solidFill>
                <a:latin typeface="Arial Black"/>
                <a:ea typeface="Arial Black"/>
                <a:cs typeface="Arial Black"/>
                <a:sym typeface="Arial Black"/>
              </a:rPr>
              <a:t>CSE 1205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GB" sz="2800" u="none" cap="none" strike="noStrike">
                <a:solidFill>
                  <a:schemeClr val="dk1"/>
                </a:solidFill>
                <a:latin typeface="Arial Black"/>
                <a:ea typeface="Arial Black"/>
                <a:cs typeface="Arial Black"/>
                <a:sym typeface="Arial Black"/>
              </a:rPr>
              <a:t>Electrical Engineering &amp; Circuit Analysis</a:t>
            </a:r>
            <a:endParaRPr b="0" i="0" sz="2800" u="none" cap="none" strike="noStrike">
              <a:solidFill>
                <a:schemeClr val="dk1"/>
              </a:solidFill>
              <a:latin typeface="Arial Black"/>
              <a:ea typeface="Arial Black"/>
              <a:cs typeface="Arial Black"/>
              <a:sym typeface="Arial Black"/>
            </a:endParaRPr>
          </a:p>
        </p:txBody>
      </p:sp>
      <p:sp>
        <p:nvSpPr>
          <p:cNvPr id="102" name="Google Shape;102;p1"/>
          <p:cNvSpPr txBox="1"/>
          <p:nvPr/>
        </p:nvSpPr>
        <p:spPr>
          <a:xfrm>
            <a:off x="4116129" y="4423162"/>
            <a:ext cx="3959700" cy="2139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lang="en-GB" sz="1900">
                <a:solidFill>
                  <a:schemeClr val="dk1"/>
                </a:solidFill>
                <a:latin typeface="Times New Roman"/>
                <a:ea typeface="Times New Roman"/>
                <a:cs typeface="Times New Roman"/>
                <a:sym typeface="Times New Roman"/>
              </a:rPr>
              <a:t>Md. </a:t>
            </a:r>
            <a:r>
              <a:rPr b="1" i="0" lang="en-GB" sz="1900" u="none" cap="none" strike="noStrike">
                <a:solidFill>
                  <a:schemeClr val="dk1"/>
                </a:solidFill>
                <a:latin typeface="Times New Roman"/>
                <a:ea typeface="Times New Roman"/>
                <a:cs typeface="Times New Roman"/>
                <a:sym typeface="Times New Roman"/>
              </a:rPr>
              <a:t>Tanzid Mia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i="0" lang="en-GB" sz="1900" u="none" cap="none" strike="noStrike">
                <a:solidFill>
                  <a:schemeClr val="dk1"/>
                </a:solidFill>
                <a:latin typeface="Times New Roman"/>
                <a:ea typeface="Times New Roman"/>
                <a:cs typeface="Times New Roman"/>
                <a:sym typeface="Times New Roman"/>
              </a:rPr>
              <a:t>Lecturer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lang="en-GB" sz="1900">
                <a:solidFill>
                  <a:schemeClr val="dk1"/>
                </a:solidFill>
                <a:latin typeface="Times New Roman"/>
                <a:ea typeface="Times New Roman"/>
                <a:cs typeface="Times New Roman"/>
                <a:sym typeface="Times New Roman"/>
              </a:rPr>
              <a:t>Department of CSE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i="0" lang="en-GB" sz="1900" u="none" cap="none" strike="noStrike">
                <a:solidFill>
                  <a:schemeClr val="dk1"/>
                </a:solidFill>
                <a:latin typeface="Times New Roman"/>
                <a:ea typeface="Times New Roman"/>
                <a:cs typeface="Times New Roman"/>
                <a:sym typeface="Times New Roman"/>
              </a:rPr>
              <a:t>Northern University Bangladesh.</a:t>
            </a:r>
            <a:endParaRPr/>
          </a:p>
          <a:p>
            <a:pPr indent="0" lvl="0" marL="0" marR="0" rtl="0" algn="ctr">
              <a:lnSpc>
                <a:spcPct val="100000"/>
              </a:lnSpc>
              <a:spcBef>
                <a:spcPts val="0"/>
              </a:spcBef>
              <a:spcAft>
                <a:spcPts val="0"/>
              </a:spcAft>
              <a:buClr>
                <a:srgbClr val="000000"/>
              </a:buClr>
              <a:buSzPts val="1900"/>
              <a:buFont typeface="Arial"/>
              <a:buNone/>
            </a:pPr>
            <a:r>
              <a:rPr b="1" i="0" lang="en-GB" sz="1900" u="none" cap="none" strike="noStrike">
                <a:solidFill>
                  <a:schemeClr val="dk1"/>
                </a:solidFill>
                <a:latin typeface="Times New Roman"/>
                <a:ea typeface="Times New Roman"/>
                <a:cs typeface="Times New Roman"/>
                <a:sym typeface="Times New Roman"/>
              </a:rPr>
              <a:t>Initial: </a:t>
            </a:r>
            <a:r>
              <a:rPr b="1" i="0" lang="en-GB" sz="1900" u="none" cap="none" strike="noStrike">
                <a:solidFill>
                  <a:srgbClr val="FF0000"/>
                </a:solidFill>
                <a:latin typeface="Times New Roman"/>
                <a:ea typeface="Times New Roman"/>
                <a:cs typeface="Times New Roman"/>
                <a:sym typeface="Times New Roman"/>
              </a:rPr>
              <a:t>MTM</a:t>
            </a:r>
            <a:endParaRPr b="0" i="0" sz="1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i="0" lang="en-GB" sz="1900" u="none" cap="none" strike="noStrike">
                <a:solidFill>
                  <a:schemeClr val="dk1"/>
                </a:solidFill>
                <a:latin typeface="Times New Roman"/>
                <a:ea typeface="Times New Roman"/>
                <a:cs typeface="Times New Roman"/>
                <a:sym typeface="Times New Roman"/>
              </a:rPr>
              <a:t>Contact: </a:t>
            </a:r>
            <a:r>
              <a:rPr b="1" i="0" lang="en-GB" sz="1900" u="sng" cap="none" strike="noStrike">
                <a:solidFill>
                  <a:schemeClr val="dk1"/>
                </a:solidFill>
                <a:latin typeface="Times New Roman"/>
                <a:ea typeface="Times New Roman"/>
                <a:cs typeface="Times New Roman"/>
                <a:sym typeface="Times New Roman"/>
              </a:rPr>
              <a:t>tanzid.eee.nub@gmail.com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nvSpPr>
        <p:spPr>
          <a:xfrm>
            <a:off x="710214" y="639193"/>
            <a:ext cx="10576243" cy="47705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GB" sz="2500" u="none" cap="none" strike="noStrike">
                <a:solidFill>
                  <a:schemeClr val="dk1"/>
                </a:solidFill>
                <a:latin typeface="Times New Roman"/>
                <a:ea typeface="Times New Roman"/>
                <a:cs typeface="Times New Roman"/>
                <a:sym typeface="Times New Roman"/>
              </a:rPr>
              <a:t>CSE 1205: Electrical Engineering &amp; Circuit Analysis      Credit Hours: 3.00 </a:t>
            </a:r>
            <a:endParaRPr b="1" i="0" sz="2500" u="none" cap="none" strike="noStrike">
              <a:solidFill>
                <a:schemeClr val="dk1"/>
              </a:solidFill>
              <a:latin typeface="Times New Roman"/>
              <a:ea typeface="Times New Roman"/>
              <a:cs typeface="Times New Roman"/>
              <a:sym typeface="Times New Roman"/>
            </a:endParaRPr>
          </a:p>
        </p:txBody>
      </p:sp>
      <p:sp>
        <p:nvSpPr>
          <p:cNvPr id="108" name="Google Shape;108;p2"/>
          <p:cNvSpPr txBox="1"/>
          <p:nvPr/>
        </p:nvSpPr>
        <p:spPr>
          <a:xfrm>
            <a:off x="710214" y="1354027"/>
            <a:ext cx="10659600" cy="2678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Course Content: </a:t>
            </a:r>
            <a:r>
              <a:rPr b="0" i="0" lang="en-GB" sz="2400" u="none" cap="none" strike="noStrike">
                <a:solidFill>
                  <a:srgbClr val="FF0000"/>
                </a:solidFill>
                <a:highlight>
                  <a:srgbClr val="FFFF00"/>
                </a:highlight>
                <a:latin typeface="Times New Roman"/>
                <a:ea typeface="Times New Roman"/>
                <a:cs typeface="Times New Roman"/>
                <a:sym typeface="Times New Roman"/>
              </a:rPr>
              <a:t>Fundamental electric concepts and measuring units, current and voltage, Resistance and power. Laws of electrical circuit, source conversions. Method of Network analysis, Basic passive Elements</a:t>
            </a:r>
            <a:r>
              <a:rPr b="0" i="0" lang="en-GB" sz="2400" u="none" cap="none" strike="noStrike">
                <a:solidFill>
                  <a:schemeClr val="dk1"/>
                </a:solidFill>
                <a:latin typeface="Times New Roman"/>
                <a:ea typeface="Times New Roman"/>
                <a:cs typeface="Times New Roman"/>
                <a:sym typeface="Times New Roman"/>
              </a:rPr>
              <a:t>; Fundamental of Alternating current, Average power and power factor, instantaneous and r.m.s current, voltage and power for various combination of R, L and C circuits. Phasor representation of sinusoidal quantities, frequency response of the basic element, Resonance, Single and </a:t>
            </a:r>
            <a:r>
              <a:rPr lang="en-GB" sz="2400">
                <a:solidFill>
                  <a:schemeClr val="dk1"/>
                </a:solidFill>
                <a:latin typeface="Times New Roman"/>
                <a:ea typeface="Times New Roman"/>
                <a:cs typeface="Times New Roman"/>
                <a:sym typeface="Times New Roman"/>
              </a:rPr>
              <a:t>polyphase</a:t>
            </a:r>
            <a:r>
              <a:rPr b="0" i="0" lang="en-GB" sz="2400" u="none" cap="none" strike="noStrike">
                <a:solidFill>
                  <a:schemeClr val="dk1"/>
                </a:solidFill>
                <a:latin typeface="Times New Roman"/>
                <a:ea typeface="Times New Roman"/>
                <a:cs typeface="Times New Roman"/>
                <a:sym typeface="Times New Roman"/>
              </a:rPr>
              <a:t> A.C. circuit analysis. </a:t>
            </a:r>
            <a:endParaRPr b="0" i="0" sz="2400" u="none" cap="none" strike="noStrike">
              <a:solidFill>
                <a:srgbClr val="002060"/>
              </a:solidFill>
              <a:latin typeface="Times New Roman"/>
              <a:ea typeface="Times New Roman"/>
              <a:cs typeface="Times New Roman"/>
              <a:sym typeface="Times New Roman"/>
            </a:endParaRPr>
          </a:p>
        </p:txBody>
      </p:sp>
      <p:sp>
        <p:nvSpPr>
          <p:cNvPr id="109" name="Google Shape;109;p2"/>
          <p:cNvSpPr txBox="1"/>
          <p:nvPr/>
        </p:nvSpPr>
        <p:spPr>
          <a:xfrm>
            <a:off x="710214" y="4165145"/>
            <a:ext cx="10075974" cy="16311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Times New Roman"/>
                <a:ea typeface="Times New Roman"/>
                <a:cs typeface="Times New Roman"/>
                <a:sym typeface="Times New Roman"/>
              </a:rPr>
              <a:t>Book References: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000"/>
              <a:buFont typeface="Arial"/>
              <a:buChar char="•"/>
            </a:pPr>
            <a:r>
              <a:rPr b="0" i="0" lang="en-GB" sz="2000" u="none" cap="none" strike="noStrike">
                <a:solidFill>
                  <a:schemeClr val="dk1"/>
                </a:solidFill>
                <a:latin typeface="Times New Roman"/>
                <a:ea typeface="Times New Roman"/>
                <a:cs typeface="Times New Roman"/>
                <a:sym typeface="Times New Roman"/>
              </a:rPr>
              <a:t>Introductory Circuit Analysis: Robert L. Boylested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000"/>
              <a:buFont typeface="Arial"/>
              <a:buChar char="•"/>
            </a:pPr>
            <a:r>
              <a:rPr b="0" i="0" lang="en-GB" sz="2000" u="none" cap="none" strike="noStrike">
                <a:solidFill>
                  <a:schemeClr val="dk1"/>
                </a:solidFill>
                <a:latin typeface="Times New Roman"/>
                <a:ea typeface="Times New Roman"/>
                <a:cs typeface="Times New Roman"/>
                <a:sym typeface="Times New Roman"/>
              </a:rPr>
              <a:t>A Textbook of Electrical Technology: B.L Theraja</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000"/>
              <a:buFont typeface="Arial"/>
              <a:buChar char="•"/>
            </a:pPr>
            <a:r>
              <a:rPr b="0" i="0" lang="en-GB" sz="2000" u="none" cap="none" strike="noStrike">
                <a:solidFill>
                  <a:schemeClr val="dk1"/>
                </a:solidFill>
                <a:latin typeface="Times New Roman"/>
                <a:ea typeface="Times New Roman"/>
                <a:cs typeface="Times New Roman"/>
                <a:sym typeface="Times New Roman"/>
              </a:rPr>
              <a:t>Alternating Current Circuits: George F. Corcoran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7030A0"/>
              </a:buClr>
              <a:buSzPts val="2000"/>
              <a:buFont typeface="Arial"/>
              <a:buChar char="•"/>
            </a:pPr>
            <a:r>
              <a:rPr b="1" i="0" lang="en-GB" sz="2000" u="none" cap="none" strike="noStrike">
                <a:solidFill>
                  <a:srgbClr val="7030A0"/>
                </a:solidFill>
                <a:latin typeface="Times New Roman"/>
                <a:ea typeface="Times New Roman"/>
                <a:cs typeface="Times New Roman"/>
                <a:sym typeface="Times New Roman"/>
              </a:rPr>
              <a:t>Fundamentals of Electric Circuits by Charles K. Alexander and Matthew N.O. Sadiku</a:t>
            </a:r>
            <a:endParaRPr b="1" i="0" sz="2000" u="none" cap="none" strike="noStrike">
              <a:solidFill>
                <a:srgbClr val="7030A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nvSpPr>
        <p:spPr>
          <a:xfrm>
            <a:off x="862836" y="2627791"/>
            <a:ext cx="1046632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Arial Black"/>
                <a:ea typeface="Arial Black"/>
                <a:cs typeface="Arial Black"/>
                <a:sym typeface="Arial Black"/>
              </a:rPr>
              <a:t>Fundamental </a:t>
            </a:r>
            <a:r>
              <a:rPr b="0" i="0" lang="en-GB" sz="2800" u="none" cap="none" strike="noStrike">
                <a:solidFill>
                  <a:schemeClr val="dk1"/>
                </a:solidFill>
                <a:latin typeface="Arial Black"/>
                <a:ea typeface="Arial Black"/>
                <a:cs typeface="Arial Black"/>
                <a:sym typeface="Arial Black"/>
              </a:rPr>
              <a:t>Electrical</a:t>
            </a:r>
            <a:r>
              <a:rPr b="1" i="0" lang="en-GB" sz="2800" u="none" cap="none" strike="noStrike">
                <a:solidFill>
                  <a:schemeClr val="dk1"/>
                </a:solidFill>
                <a:latin typeface="Arial Black"/>
                <a:ea typeface="Arial Black"/>
                <a:cs typeface="Arial Black"/>
                <a:sym typeface="Arial Black"/>
              </a:rPr>
              <a:t> Concepts &amp; Measuring Units</a:t>
            </a:r>
            <a:endParaRPr b="1" i="0" sz="28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0ee9510b4f_0_6"/>
          <p:cNvSpPr txBox="1"/>
          <p:nvPr/>
        </p:nvSpPr>
        <p:spPr>
          <a:xfrm>
            <a:off x="519000" y="712775"/>
            <a:ext cx="11212800" cy="4987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Charge:</a:t>
            </a:r>
            <a:r>
              <a:rPr b="0" i="0" lang="en-GB" sz="2400" u="none" cap="none" strike="noStrike">
                <a:solidFill>
                  <a:schemeClr val="dk1"/>
                </a:solidFill>
                <a:latin typeface="Times New Roman"/>
                <a:ea typeface="Times New Roman"/>
                <a:cs typeface="Times New Roman"/>
                <a:sym typeface="Times New Roman"/>
              </a:rPr>
              <a:t> Charge is an electrical property of the atomic particles of which matter consists, measured in coulombs (C).</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The following points should be noted about electric charge:</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GB" sz="2400" u="none" cap="none" strike="noStrike">
                <a:solidFill>
                  <a:schemeClr val="dk1"/>
                </a:solidFill>
                <a:latin typeface="Times New Roman"/>
                <a:ea typeface="Times New Roman"/>
                <a:cs typeface="Times New Roman"/>
                <a:sym typeface="Times New Roman"/>
              </a:rPr>
              <a:t>The coulomb is a large unit for charges. </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GB" sz="2400" u="none" cap="none" strike="noStrike">
                <a:solidFill>
                  <a:schemeClr val="dk1"/>
                </a:solidFill>
                <a:latin typeface="Times New Roman"/>
                <a:ea typeface="Times New Roman"/>
                <a:cs typeface="Times New Roman"/>
                <a:sym typeface="Times New Roman"/>
              </a:rPr>
              <a:t>According to experimental observations, the only charges that occur in nature are integral multiples of the electronic charge. </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GB" sz="2400" u="none" cap="none" strike="noStrike">
                <a:solidFill>
                  <a:schemeClr val="dk1"/>
                </a:solidFill>
                <a:latin typeface="Times New Roman"/>
                <a:ea typeface="Times New Roman"/>
                <a:cs typeface="Times New Roman"/>
                <a:sym typeface="Times New Roman"/>
              </a:rPr>
              <a:t>The law of conservation of charge states that charge can neither be created nor destroyed, only transferred. Thus the algebraic sum of the electric charges in a system does not change.</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rgbClr val="3F3F3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rgbClr val="3F3F3F"/>
                </a:solidFill>
                <a:latin typeface="Times New Roman"/>
                <a:ea typeface="Times New Roman"/>
                <a:cs typeface="Times New Roman"/>
                <a:sym typeface="Times New Roman"/>
              </a:rPr>
              <a:t> </a:t>
            </a:r>
            <a:endParaRPr b="0" i="0" sz="2400" u="none" cap="none" strike="noStrike">
              <a:solidFill>
                <a:srgbClr val="3F3F3F"/>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0ee9510b4f_0_0"/>
          <p:cNvSpPr txBox="1"/>
          <p:nvPr/>
        </p:nvSpPr>
        <p:spPr>
          <a:xfrm>
            <a:off x="862836" y="2627791"/>
            <a:ext cx="10466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Black"/>
              <a:ea typeface="Arial Black"/>
              <a:cs typeface="Arial Black"/>
              <a:sym typeface="Arial Black"/>
            </a:endParaRPr>
          </a:p>
        </p:txBody>
      </p:sp>
      <p:sp>
        <p:nvSpPr>
          <p:cNvPr id="125" name="Google Shape;125;g30ee9510b4f_0_0"/>
          <p:cNvSpPr txBox="1"/>
          <p:nvPr/>
        </p:nvSpPr>
        <p:spPr>
          <a:xfrm>
            <a:off x="1675975" y="2135200"/>
            <a:ext cx="8360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F3F3F"/>
              </a:solidFill>
              <a:latin typeface="Calibri"/>
              <a:ea typeface="Calibri"/>
              <a:cs typeface="Calibri"/>
              <a:sym typeface="Calibri"/>
            </a:endParaRPr>
          </a:p>
        </p:txBody>
      </p:sp>
      <p:pic>
        <p:nvPicPr>
          <p:cNvPr id="126" name="Google Shape;126;g30ee9510b4f_0_0"/>
          <p:cNvPicPr preferRelativeResize="0"/>
          <p:nvPr/>
        </p:nvPicPr>
        <p:blipFill rotWithShape="1">
          <a:blip r:embed="rId3">
            <a:alphaModFix/>
          </a:blip>
          <a:srcRect b="0" l="0" r="0" t="0"/>
          <a:stretch/>
        </p:blipFill>
        <p:spPr>
          <a:xfrm>
            <a:off x="3373813" y="663077"/>
            <a:ext cx="5444374" cy="4028825"/>
          </a:xfrm>
          <a:prstGeom prst="rect">
            <a:avLst/>
          </a:prstGeom>
          <a:noFill/>
          <a:ln>
            <a:noFill/>
          </a:ln>
        </p:spPr>
      </p:pic>
      <p:sp>
        <p:nvSpPr>
          <p:cNvPr id="127" name="Google Shape;127;g30ee9510b4f_0_0"/>
          <p:cNvSpPr txBox="1"/>
          <p:nvPr/>
        </p:nvSpPr>
        <p:spPr>
          <a:xfrm>
            <a:off x="2369475" y="5066450"/>
            <a:ext cx="77100" cy="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F3F3F"/>
              </a:solidFill>
              <a:latin typeface="Calibri"/>
              <a:ea typeface="Calibri"/>
              <a:cs typeface="Calibri"/>
              <a:sym typeface="Calibri"/>
            </a:endParaRPr>
          </a:p>
        </p:txBody>
      </p:sp>
      <p:sp>
        <p:nvSpPr>
          <p:cNvPr id="128" name="Google Shape;128;g30ee9510b4f_0_0"/>
          <p:cNvSpPr txBox="1"/>
          <p:nvPr/>
        </p:nvSpPr>
        <p:spPr>
          <a:xfrm>
            <a:off x="1080625" y="5066450"/>
            <a:ext cx="102486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Calibri"/>
                <a:ea typeface="Calibri"/>
                <a:cs typeface="Calibri"/>
                <a:sym typeface="Calibri"/>
              </a:rPr>
              <a:t>The convention is </a:t>
            </a:r>
            <a:r>
              <a:rPr b="1" i="0" lang="en-GB" sz="2400" u="none" cap="none" strike="noStrike">
                <a:solidFill>
                  <a:schemeClr val="dk1"/>
                </a:solidFill>
                <a:latin typeface="Calibri"/>
                <a:ea typeface="Calibri"/>
                <a:cs typeface="Calibri"/>
                <a:sym typeface="Calibri"/>
              </a:rPr>
              <a:t>current flows opposite to electron</a:t>
            </a:r>
            <a:r>
              <a:rPr b="0" i="0" lang="en-GB" sz="2400" u="none" cap="none" strike="noStrike">
                <a:solidFill>
                  <a:schemeClr val="dk1"/>
                </a:solidFill>
                <a:latin typeface="Calibri"/>
                <a:ea typeface="Calibri"/>
                <a:cs typeface="Calibri"/>
                <a:sym typeface="Calibri"/>
              </a:rPr>
              <a:t>. This convention was introduced by American scientist  </a:t>
            </a:r>
            <a:r>
              <a:rPr b="1" i="0" lang="en-GB" sz="2400" u="none" cap="none" strike="noStrike">
                <a:solidFill>
                  <a:schemeClr val="dk1"/>
                </a:solidFill>
                <a:latin typeface="Calibri"/>
                <a:ea typeface="Calibri"/>
                <a:cs typeface="Calibri"/>
                <a:sym typeface="Calibri"/>
              </a:rPr>
              <a:t>Benjamin Franklin</a:t>
            </a:r>
            <a:r>
              <a:rPr b="0" i="0" lang="en-GB" sz="2400" u="none" cap="none" strike="noStrike">
                <a:solidFill>
                  <a:schemeClr val="dk1"/>
                </a:solidFill>
                <a:latin typeface="Calibri"/>
                <a:ea typeface="Calibri"/>
                <a:cs typeface="Calibri"/>
                <a:sym typeface="Calibri"/>
              </a:rPr>
              <a:t> (1706–1790).</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29f009d034_0_11"/>
          <p:cNvSpPr txBox="1"/>
          <p:nvPr/>
        </p:nvSpPr>
        <p:spPr>
          <a:xfrm>
            <a:off x="597175" y="500850"/>
            <a:ext cx="11231100" cy="2401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Voltage: </a:t>
            </a:r>
            <a:r>
              <a:rPr b="0" i="0" lang="en-GB" sz="2400" u="none" cap="none" strike="noStrike">
                <a:solidFill>
                  <a:schemeClr val="dk1"/>
                </a:solidFill>
                <a:latin typeface="Times New Roman"/>
                <a:ea typeface="Times New Roman"/>
                <a:cs typeface="Times New Roman"/>
                <a:sym typeface="Times New Roman"/>
              </a:rPr>
              <a:t>The electric potential between one place and another. How much the electricity wants to move from one point to another. Voltage is a kind of force for electrons. </a:t>
            </a:r>
            <a:r>
              <a:rPr b="0" i="0" lang="en-GB" sz="2400" u="none" cap="none" strike="noStrike">
                <a:solidFill>
                  <a:srgbClr val="FF0000"/>
                </a:solidFill>
                <a:latin typeface="Times New Roman"/>
                <a:ea typeface="Times New Roman"/>
                <a:cs typeface="Times New Roman"/>
                <a:sym typeface="Times New Roman"/>
              </a:rPr>
              <a:t>Measured in volts.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Current: </a:t>
            </a:r>
            <a:r>
              <a:rPr b="0" i="0" lang="en-GB" sz="2400" u="none" cap="none" strike="noStrike">
                <a:solidFill>
                  <a:schemeClr val="dk1"/>
                </a:solidFill>
                <a:latin typeface="Times New Roman"/>
                <a:ea typeface="Times New Roman"/>
                <a:cs typeface="Times New Roman"/>
                <a:sym typeface="Times New Roman"/>
              </a:rPr>
              <a:t>How many positive or negative charges are moving per second through a conductor. </a:t>
            </a:r>
            <a:r>
              <a:rPr b="0" i="0" lang="en-GB" sz="2400" u="none" cap="none" strike="noStrike">
                <a:solidFill>
                  <a:srgbClr val="FF0000"/>
                </a:solidFill>
                <a:latin typeface="Times New Roman"/>
                <a:ea typeface="Times New Roman"/>
                <a:cs typeface="Times New Roman"/>
                <a:sym typeface="Times New Roman"/>
              </a:rPr>
              <a:t>Measured in amperes. </a:t>
            </a:r>
            <a:endParaRPr b="0" i="0" sz="2400" u="none" cap="none" strike="noStrike">
              <a:solidFill>
                <a:srgbClr val="FF0000"/>
              </a:solidFill>
              <a:latin typeface="Times New Roman"/>
              <a:ea typeface="Times New Roman"/>
              <a:cs typeface="Times New Roman"/>
              <a:sym typeface="Times New Roman"/>
            </a:endParaRPr>
          </a:p>
        </p:txBody>
      </p:sp>
      <p:sp>
        <p:nvSpPr>
          <p:cNvPr id="134" name="Google Shape;134;g329f009d034_0_11"/>
          <p:cNvSpPr txBox="1"/>
          <p:nvPr/>
        </p:nvSpPr>
        <p:spPr>
          <a:xfrm>
            <a:off x="597175" y="3171574"/>
            <a:ext cx="11231100" cy="156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Resistance:</a:t>
            </a:r>
            <a:r>
              <a:rPr b="0" i="0" lang="en-GB" sz="2400" u="none" cap="none" strike="noStrike">
                <a:solidFill>
                  <a:schemeClr val="dk1"/>
                </a:solidFill>
                <a:latin typeface="Times New Roman"/>
                <a:ea typeface="Times New Roman"/>
                <a:cs typeface="Times New Roman"/>
                <a:sym typeface="Times New Roman"/>
              </a:rPr>
              <a:t> Resistance is a measure of the opposition to current flow in an electrical circuit. </a:t>
            </a:r>
            <a:r>
              <a:rPr b="0" i="0" lang="en-GB" sz="2400" u="none" cap="none" strike="noStrike">
                <a:solidFill>
                  <a:srgbClr val="FF0000"/>
                </a:solidFill>
                <a:latin typeface="Times New Roman"/>
                <a:ea typeface="Times New Roman"/>
                <a:cs typeface="Times New Roman"/>
                <a:sym typeface="Times New Roman"/>
              </a:rPr>
              <a:t>Resistance is measured in ohms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135" name="Google Shape;135;g329f009d034_0_11"/>
          <p:cNvPicPr preferRelativeResize="0"/>
          <p:nvPr/>
        </p:nvPicPr>
        <p:blipFill rotWithShape="1">
          <a:blip r:embed="rId3">
            <a:alphaModFix/>
          </a:blip>
          <a:srcRect b="0" l="0" r="0" t="0"/>
          <a:stretch/>
        </p:blipFill>
        <p:spPr>
          <a:xfrm>
            <a:off x="2989279" y="4226621"/>
            <a:ext cx="5781498" cy="1569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29f009d034_0_0"/>
          <p:cNvSpPr txBox="1"/>
          <p:nvPr/>
        </p:nvSpPr>
        <p:spPr>
          <a:xfrm>
            <a:off x="597175" y="500850"/>
            <a:ext cx="11231100" cy="3140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400"/>
              <a:buFont typeface="Arial"/>
              <a:buNone/>
            </a:pPr>
            <a:r>
              <a:rPr b="1" lang="en-GB" sz="2400">
                <a:solidFill>
                  <a:schemeClr val="dk1"/>
                </a:solidFill>
                <a:latin typeface="Times New Roman"/>
                <a:ea typeface="Times New Roman"/>
                <a:cs typeface="Times New Roman"/>
                <a:sym typeface="Times New Roman"/>
              </a:rPr>
              <a:t>Energy:</a:t>
            </a:r>
            <a:r>
              <a:rPr lang="en-GB" sz="2400">
                <a:solidFill>
                  <a:schemeClr val="dk1"/>
                </a:solidFill>
                <a:latin typeface="Times New Roman"/>
                <a:ea typeface="Times New Roman"/>
                <a:cs typeface="Times New Roman"/>
                <a:sym typeface="Times New Roman"/>
              </a:rPr>
              <a:t> Electrical Energy is the ability of an electrical circuit to produce work by creating an action. This action can take many forms, such as thermal, electromagnetic, mechanical, electrical, etc. Electrical energy can be both created from batteries, generators, dynamos, and photovoltaics, etc. or stored for future use using fuel cells, batteries, capacitors or magnetic fields, etc. Thus electrical energy can be either created or stored.</a:t>
            </a:r>
            <a:endParaRPr sz="2400">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1" lang="en-GB" sz="2400">
                <a:solidFill>
                  <a:schemeClr val="dk1"/>
                </a:solidFill>
                <a:latin typeface="Times New Roman"/>
                <a:ea typeface="Times New Roman"/>
                <a:cs typeface="Times New Roman"/>
                <a:sym typeface="Times New Roman"/>
              </a:rPr>
              <a:t>Power: </a:t>
            </a:r>
            <a:r>
              <a:rPr lang="en-GB" sz="2400">
                <a:solidFill>
                  <a:schemeClr val="dk1"/>
                </a:solidFill>
                <a:latin typeface="Times New Roman"/>
                <a:ea typeface="Times New Roman"/>
                <a:cs typeface="Times New Roman"/>
                <a:sym typeface="Times New Roman"/>
              </a:rPr>
              <a:t>Electrical Power can be defined as the rate at which work is performed in expending energy.</a:t>
            </a:r>
            <a:endParaRPr sz="2400">
              <a:solidFill>
                <a:schemeClr val="dk1"/>
              </a:solidFill>
              <a:latin typeface="Times New Roman"/>
              <a:ea typeface="Times New Roman"/>
              <a:cs typeface="Times New Roman"/>
              <a:sym typeface="Times New Roman"/>
            </a:endParaRPr>
          </a:p>
        </p:txBody>
      </p:sp>
      <p:pic>
        <p:nvPicPr>
          <p:cNvPr id="141" name="Google Shape;141;g329f009d034_0_0"/>
          <p:cNvPicPr preferRelativeResize="0"/>
          <p:nvPr/>
        </p:nvPicPr>
        <p:blipFill>
          <a:blip r:embed="rId3">
            <a:alphaModFix/>
          </a:blip>
          <a:stretch>
            <a:fillRect/>
          </a:stretch>
        </p:blipFill>
        <p:spPr>
          <a:xfrm>
            <a:off x="3806963" y="3640950"/>
            <a:ext cx="4811525" cy="26575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nvSpPr>
        <p:spPr>
          <a:xfrm>
            <a:off x="3499103" y="2672178"/>
            <a:ext cx="51937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Arial Black"/>
                <a:ea typeface="Arial Black"/>
                <a:cs typeface="Arial Black"/>
                <a:sym typeface="Arial Black"/>
              </a:rPr>
              <a:t>Laws </a:t>
            </a:r>
            <a:r>
              <a:rPr b="0" i="0" lang="en-GB" sz="2800" u="none" cap="none" strike="noStrike">
                <a:solidFill>
                  <a:schemeClr val="dk1"/>
                </a:solidFill>
                <a:latin typeface="Arial Black"/>
                <a:ea typeface="Arial Black"/>
                <a:cs typeface="Arial Black"/>
                <a:sym typeface="Arial Black"/>
              </a:rPr>
              <a:t>of</a:t>
            </a:r>
            <a:r>
              <a:rPr b="1" i="0" lang="en-GB" sz="2800" u="none" cap="none" strike="noStrike">
                <a:solidFill>
                  <a:schemeClr val="dk1"/>
                </a:solidFill>
                <a:latin typeface="Arial Black"/>
                <a:ea typeface="Arial Black"/>
                <a:cs typeface="Arial Black"/>
                <a:sym typeface="Arial Black"/>
              </a:rPr>
              <a:t> Electrical Circuit</a:t>
            </a:r>
            <a:endParaRPr b="1" i="0" sz="28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29f009d034_0_18"/>
          <p:cNvSpPr txBox="1"/>
          <p:nvPr/>
        </p:nvSpPr>
        <p:spPr>
          <a:xfrm>
            <a:off x="887950" y="571250"/>
            <a:ext cx="10627500" cy="1939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lang="en-GB" sz="2400">
                <a:solidFill>
                  <a:schemeClr val="dk1"/>
                </a:solidFill>
                <a:latin typeface="Times New Roman"/>
                <a:ea typeface="Times New Roman"/>
                <a:cs typeface="Times New Roman"/>
                <a:sym typeface="Times New Roman"/>
              </a:rPr>
              <a:t>Resistance of Conducting Material</a:t>
            </a:r>
            <a:r>
              <a:rPr lang="en-GB" sz="2400">
                <a:solidFill>
                  <a:schemeClr val="dk1"/>
                </a:solidFill>
                <a:latin typeface="Times New Roman"/>
                <a:ea typeface="Times New Roman"/>
                <a:cs typeface="Times New Roman"/>
                <a:sym typeface="Times New Roman"/>
              </a:rPr>
              <a:t>: Materials in general have a characteristic behavior of resisting the flow of electric charge. This physical property, or ability to resist current, is known as resistance and is represented by the symbol R. The resistance of any material with a uniform cross-sectional area A depends on A and its length l.</a:t>
            </a:r>
            <a:endParaRPr i="0" sz="2400" u="none" cap="none" strike="noStrike">
              <a:solidFill>
                <a:schemeClr val="dk1"/>
              </a:solidFill>
              <a:latin typeface="Times New Roman"/>
              <a:ea typeface="Times New Roman"/>
              <a:cs typeface="Times New Roman"/>
              <a:sym typeface="Times New Roman"/>
            </a:endParaRPr>
          </a:p>
        </p:txBody>
      </p:sp>
      <p:pic>
        <p:nvPicPr>
          <p:cNvPr id="152" name="Google Shape;152;g329f009d034_0_18"/>
          <p:cNvPicPr preferRelativeResize="0"/>
          <p:nvPr/>
        </p:nvPicPr>
        <p:blipFill>
          <a:blip r:embed="rId3">
            <a:alphaModFix/>
          </a:blip>
          <a:stretch>
            <a:fillRect/>
          </a:stretch>
        </p:blipFill>
        <p:spPr>
          <a:xfrm>
            <a:off x="1623050" y="2435700"/>
            <a:ext cx="4039850" cy="3101725"/>
          </a:xfrm>
          <a:prstGeom prst="rect">
            <a:avLst/>
          </a:prstGeom>
          <a:noFill/>
          <a:ln>
            <a:noFill/>
          </a:ln>
        </p:spPr>
      </p:pic>
      <p:pic>
        <p:nvPicPr>
          <p:cNvPr id="153" name="Google Shape;153;g329f009d034_0_18"/>
          <p:cNvPicPr preferRelativeResize="0"/>
          <p:nvPr/>
        </p:nvPicPr>
        <p:blipFill>
          <a:blip r:embed="rId4">
            <a:alphaModFix/>
          </a:blip>
          <a:stretch>
            <a:fillRect/>
          </a:stretch>
        </p:blipFill>
        <p:spPr>
          <a:xfrm>
            <a:off x="7466000" y="2435698"/>
            <a:ext cx="1858475" cy="1129175"/>
          </a:xfrm>
          <a:prstGeom prst="rect">
            <a:avLst/>
          </a:prstGeom>
          <a:noFill/>
          <a:ln>
            <a:noFill/>
          </a:ln>
        </p:spPr>
      </p:pic>
      <p:sp>
        <p:nvSpPr>
          <p:cNvPr id="154" name="Google Shape;154;g329f009d034_0_18"/>
          <p:cNvSpPr txBox="1"/>
          <p:nvPr/>
        </p:nvSpPr>
        <p:spPr>
          <a:xfrm>
            <a:off x="6346575" y="3639950"/>
            <a:ext cx="5063700" cy="2308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lang="en-GB" sz="2400">
                <a:solidFill>
                  <a:schemeClr val="dk1"/>
                </a:solidFill>
                <a:latin typeface="Times New Roman"/>
                <a:ea typeface="Times New Roman"/>
                <a:cs typeface="Times New Roman"/>
                <a:sym typeface="Times New Roman"/>
              </a:rPr>
              <a:t>where is ρ known as the resistivity of the material in ohm-meters. Good conductors, such as copper and aluminum, have low resistivities, while insulators, such as mica and paper, have high resistivities.</a:t>
            </a:r>
            <a:endParaRPr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nvSpPr>
        <p:spPr>
          <a:xfrm>
            <a:off x="773836" y="1074484"/>
            <a:ext cx="10644300" cy="5009700"/>
          </a:xfrm>
          <a:prstGeom prst="rect">
            <a:avLst/>
          </a:prstGeom>
          <a:blipFill rotWithShape="1">
            <a:blip r:embed="rId3">
              <a:alphaModFix/>
            </a:blip>
            <a:stretch>
              <a:fillRect b="0" l="-914" r="-855" t="-97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160" name="Google Shape;160;p8"/>
          <p:cNvCxnSpPr/>
          <p:nvPr/>
        </p:nvCxnSpPr>
        <p:spPr>
          <a:xfrm>
            <a:off x="4261281" y="2547257"/>
            <a:ext cx="2734322" cy="0"/>
          </a:xfrm>
          <a:prstGeom prst="straightConnector1">
            <a:avLst/>
          </a:prstGeom>
          <a:noFill/>
          <a:ln cap="flat" cmpd="sng" w="76200">
            <a:solidFill>
              <a:schemeClr val="dk1"/>
            </a:solidFill>
            <a:prstDash val="solid"/>
            <a:round/>
            <a:headEnd len="sm" w="sm" type="none"/>
            <a:tailEnd len="sm" w="sm" type="none"/>
          </a:ln>
        </p:spPr>
      </p:cxnSp>
      <p:sp>
        <p:nvSpPr>
          <p:cNvPr id="161" name="Google Shape;161;p8"/>
          <p:cNvSpPr/>
          <p:nvPr/>
        </p:nvSpPr>
        <p:spPr>
          <a:xfrm flipH="1" rot="10800000">
            <a:off x="4189821" y="2471479"/>
            <a:ext cx="142920" cy="151555"/>
          </a:xfrm>
          <a:prstGeom prst="ellipse">
            <a:avLst/>
          </a:prstGeom>
          <a:solidFill>
            <a:srgbClr val="FFFF00"/>
          </a:solidFill>
          <a:ln cap="flat" cmpd="sng" w="38100">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8"/>
          <p:cNvSpPr txBox="1"/>
          <p:nvPr/>
        </p:nvSpPr>
        <p:spPr>
          <a:xfrm>
            <a:off x="5066189" y="551260"/>
            <a:ext cx="205961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Times New Roman"/>
                <a:ea typeface="Times New Roman"/>
                <a:cs typeface="Times New Roman"/>
                <a:sym typeface="Times New Roman"/>
              </a:rPr>
              <a:t>Ohm’s Law</a:t>
            </a:r>
            <a:endParaRPr b="0" i="0" sz="2800" u="none" cap="none" strike="noStrike">
              <a:solidFill>
                <a:schemeClr val="dk1"/>
              </a:solidFill>
              <a:latin typeface="Calibri"/>
              <a:ea typeface="Calibri"/>
              <a:cs typeface="Calibri"/>
              <a:sym typeface="Calibri"/>
            </a:endParaRPr>
          </a:p>
        </p:txBody>
      </p:sp>
      <p:pic>
        <p:nvPicPr>
          <p:cNvPr id="163" name="Google Shape;163;p8"/>
          <p:cNvPicPr preferRelativeResize="0"/>
          <p:nvPr/>
        </p:nvPicPr>
        <p:blipFill rotWithShape="1">
          <a:blip r:embed="rId4">
            <a:alphaModFix/>
          </a:blip>
          <a:srcRect b="0" l="0" r="0" t="0"/>
          <a:stretch/>
        </p:blipFill>
        <p:spPr>
          <a:xfrm>
            <a:off x="4772173" y="5560948"/>
            <a:ext cx="1569705" cy="523225"/>
          </a:xfrm>
          <a:prstGeom prst="rect">
            <a:avLst/>
          </a:prstGeom>
          <a:noFill/>
          <a:ln>
            <a:noFill/>
          </a:ln>
        </p:spPr>
      </p:pic>
      <p:sp>
        <p:nvSpPr>
          <p:cNvPr id="164" name="Google Shape;164;p8"/>
          <p:cNvSpPr/>
          <p:nvPr/>
        </p:nvSpPr>
        <p:spPr>
          <a:xfrm flipH="1" rot="10800000">
            <a:off x="6955654" y="2473744"/>
            <a:ext cx="142920" cy="151555"/>
          </a:xfrm>
          <a:prstGeom prst="ellipse">
            <a:avLst/>
          </a:prstGeom>
          <a:solidFill>
            <a:srgbClr val="FFFF00"/>
          </a:solidFill>
          <a:ln cap="flat" cmpd="sng" w="38100">
            <a:solidFill>
              <a:srgbClr val="A65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29f009d034_1_10"/>
          <p:cNvSpPr txBox="1"/>
          <p:nvPr/>
        </p:nvSpPr>
        <p:spPr>
          <a:xfrm>
            <a:off x="5066189" y="551260"/>
            <a:ext cx="20595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Times New Roman"/>
                <a:ea typeface="Times New Roman"/>
                <a:cs typeface="Times New Roman"/>
                <a:sym typeface="Times New Roman"/>
              </a:rPr>
              <a:t>Ohm’s Law</a:t>
            </a:r>
            <a:endParaRPr b="0" i="0" sz="2800" u="none" cap="none" strike="noStrike">
              <a:solidFill>
                <a:schemeClr val="dk1"/>
              </a:solidFill>
              <a:latin typeface="Calibri"/>
              <a:ea typeface="Calibri"/>
              <a:cs typeface="Calibri"/>
              <a:sym typeface="Calibri"/>
            </a:endParaRPr>
          </a:p>
        </p:txBody>
      </p:sp>
      <p:pic>
        <p:nvPicPr>
          <p:cNvPr id="170" name="Google Shape;170;g329f009d034_1_10"/>
          <p:cNvPicPr preferRelativeResize="0"/>
          <p:nvPr/>
        </p:nvPicPr>
        <p:blipFill>
          <a:blip r:embed="rId3">
            <a:alphaModFix/>
          </a:blip>
          <a:stretch>
            <a:fillRect/>
          </a:stretch>
        </p:blipFill>
        <p:spPr>
          <a:xfrm>
            <a:off x="3799775" y="1519775"/>
            <a:ext cx="4592350" cy="4592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txBox="1"/>
          <p:nvPr/>
        </p:nvSpPr>
        <p:spPr>
          <a:xfrm>
            <a:off x="4848702" y="488273"/>
            <a:ext cx="2494594" cy="47705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500"/>
              <a:buFont typeface="Arial"/>
              <a:buNone/>
            </a:pPr>
            <a:r>
              <a:rPr b="1" i="0" lang="en-GB" sz="2500" u="none" cap="none" strike="noStrike">
                <a:solidFill>
                  <a:schemeClr val="dk1"/>
                </a:solidFill>
                <a:latin typeface="Times New Roman"/>
                <a:ea typeface="Times New Roman"/>
                <a:cs typeface="Times New Roman"/>
                <a:sym typeface="Times New Roman"/>
              </a:rPr>
              <a:t>Basic Definitions</a:t>
            </a:r>
            <a:endParaRPr b="1" i="0" sz="2500" u="none" cap="none" strike="noStrike">
              <a:solidFill>
                <a:schemeClr val="dk1"/>
              </a:solidFill>
              <a:latin typeface="Times New Roman"/>
              <a:ea typeface="Times New Roman"/>
              <a:cs typeface="Times New Roman"/>
              <a:sym typeface="Times New Roman"/>
            </a:endParaRPr>
          </a:p>
        </p:txBody>
      </p:sp>
      <p:sp>
        <p:nvSpPr>
          <p:cNvPr id="176" name="Google Shape;176;p7"/>
          <p:cNvSpPr txBox="1"/>
          <p:nvPr/>
        </p:nvSpPr>
        <p:spPr>
          <a:xfrm>
            <a:off x="555974" y="1216240"/>
            <a:ext cx="11080200" cy="2524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Linear Network: </a:t>
            </a:r>
            <a:r>
              <a:rPr b="0" i="0" lang="en-GB" sz="2400" u="none" cap="none" strike="noStrike">
                <a:solidFill>
                  <a:schemeClr val="dk1"/>
                </a:solidFill>
                <a:latin typeface="Times New Roman"/>
                <a:ea typeface="Times New Roman"/>
                <a:cs typeface="Times New Roman"/>
                <a:sym typeface="Times New Roman"/>
              </a:rPr>
              <a:t>A Linear circuit is one whose parameters (R, L &amp; C) are constant with time and they do not change with voltage or current and circuit obeys Ohm's Law.</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Non-Linear Network: </a:t>
            </a:r>
            <a:r>
              <a:rPr b="0" i="0" lang="en-GB" sz="2400" u="none" cap="none" strike="noStrike">
                <a:solidFill>
                  <a:schemeClr val="dk1"/>
                </a:solidFill>
                <a:latin typeface="Times New Roman"/>
                <a:ea typeface="Times New Roman"/>
                <a:cs typeface="Times New Roman"/>
                <a:sym typeface="Times New Roman"/>
              </a:rPr>
              <a:t>A Non Linear circuit is that circuit whose parameters change with voltage or current and circuit does not obey Ohm's Law.</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7"/>
          <p:cNvSpPr txBox="1"/>
          <p:nvPr/>
        </p:nvSpPr>
        <p:spPr>
          <a:xfrm>
            <a:off x="555825" y="3687537"/>
            <a:ext cx="11080199" cy="203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Unilateral Network: </a:t>
            </a:r>
            <a:r>
              <a:rPr b="0" i="0" lang="en-GB" sz="2400" u="none" cap="none" strike="noStrike">
                <a:solidFill>
                  <a:schemeClr val="dk1"/>
                </a:solidFill>
                <a:latin typeface="Times New Roman"/>
                <a:ea typeface="Times New Roman"/>
                <a:cs typeface="Times New Roman"/>
                <a:sym typeface="Times New Roman"/>
              </a:rPr>
              <a:t>A network whose response changes with interchanging of load and source.</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Bilateral Network: </a:t>
            </a:r>
            <a:r>
              <a:rPr b="0" i="0" lang="en-GB" sz="2400" u="none" cap="none" strike="noStrike">
                <a:solidFill>
                  <a:schemeClr val="dk1"/>
                </a:solidFill>
                <a:latin typeface="Times New Roman"/>
                <a:ea typeface="Times New Roman"/>
                <a:cs typeface="Times New Roman"/>
                <a:sym typeface="Times New Roman"/>
              </a:rPr>
              <a:t>A network where the response doesn’t change with interchanging of load and source.</a:t>
            </a:r>
            <a:endParaRPr b="0" i="0" sz="2000" u="none" cap="none" strike="noStrike">
              <a:solidFill>
                <a:srgbClr val="3F3F3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txBox="1"/>
          <p:nvPr/>
        </p:nvSpPr>
        <p:spPr>
          <a:xfrm>
            <a:off x="4848702" y="488273"/>
            <a:ext cx="2494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500"/>
              <a:buFont typeface="Arial"/>
              <a:buNone/>
            </a:pPr>
            <a:r>
              <a:rPr b="1" i="0" lang="en-GB" sz="2400" u="none" cap="none" strike="noStrike">
                <a:solidFill>
                  <a:schemeClr val="dk1"/>
                </a:solidFill>
                <a:latin typeface="Times New Roman"/>
                <a:ea typeface="Times New Roman"/>
                <a:cs typeface="Times New Roman"/>
                <a:sym typeface="Times New Roman"/>
              </a:rPr>
              <a:t>Basic Definitions</a:t>
            </a:r>
            <a:endParaRPr b="1" i="0" sz="2400" u="none" cap="none" strike="noStrike">
              <a:solidFill>
                <a:schemeClr val="dk1"/>
              </a:solidFill>
              <a:latin typeface="Times New Roman"/>
              <a:ea typeface="Times New Roman"/>
              <a:cs typeface="Times New Roman"/>
              <a:sym typeface="Times New Roman"/>
            </a:endParaRPr>
          </a:p>
        </p:txBody>
      </p:sp>
      <p:sp>
        <p:nvSpPr>
          <p:cNvPr id="183" name="Google Shape;183;p6"/>
          <p:cNvSpPr txBox="1"/>
          <p:nvPr/>
        </p:nvSpPr>
        <p:spPr>
          <a:xfrm>
            <a:off x="555899" y="1121767"/>
            <a:ext cx="11080200" cy="2308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Circuit: </a:t>
            </a:r>
            <a:r>
              <a:rPr i="0" lang="en-GB" sz="2400" u="none" cap="none" strike="noStrike">
                <a:solidFill>
                  <a:schemeClr val="dk1"/>
                </a:solidFill>
                <a:latin typeface="Times New Roman"/>
                <a:ea typeface="Times New Roman"/>
                <a:cs typeface="Times New Roman"/>
                <a:sym typeface="Times New Roman"/>
              </a:rPr>
              <a:t>The electrical circuit is a path through which the current flows due to the difference in the potential. </a:t>
            </a:r>
            <a:r>
              <a:rPr i="0" lang="en-GB" sz="2400" u="none" cap="none" strike="noStrike">
                <a:solidFill>
                  <a:srgbClr val="FF0000"/>
                </a:solidFill>
                <a:latin typeface="Times New Roman"/>
                <a:ea typeface="Times New Roman"/>
                <a:cs typeface="Times New Roman"/>
                <a:sym typeface="Times New Roman"/>
              </a:rPr>
              <a:t>In an electrical circuit, all connections should be closed.</a:t>
            </a:r>
            <a:endParaRPr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t/>
            </a:r>
            <a:endParaRPr i="0" sz="2400" u="none" cap="none" strike="noStrike">
              <a:solidFill>
                <a:srgbClr val="FF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Network: </a:t>
            </a:r>
            <a:r>
              <a:rPr i="0" lang="en-GB" sz="2400" u="none" cap="none" strike="noStrike">
                <a:solidFill>
                  <a:schemeClr val="dk1"/>
                </a:solidFill>
                <a:latin typeface="Times New Roman"/>
                <a:ea typeface="Times New Roman"/>
                <a:cs typeface="Times New Roman"/>
                <a:sym typeface="Times New Roman"/>
              </a:rPr>
              <a:t>Electric Network is a network or connection of a number of electrical elements that are connected in any manner, </a:t>
            </a:r>
            <a:r>
              <a:rPr i="0" lang="en-GB" sz="2400" u="none" cap="none" strike="noStrike">
                <a:solidFill>
                  <a:srgbClr val="FF0000"/>
                </a:solidFill>
                <a:latin typeface="Times New Roman"/>
                <a:ea typeface="Times New Roman"/>
                <a:cs typeface="Times New Roman"/>
                <a:sym typeface="Times New Roman"/>
              </a:rPr>
              <a:t>either open or closed.</a:t>
            </a:r>
            <a:endParaRPr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400"/>
              <a:buFont typeface="Arial"/>
              <a:buNone/>
            </a:pPr>
            <a:r>
              <a:t/>
            </a:r>
            <a:endParaRPr i="0" sz="2400" u="none" cap="none" strike="noStrike">
              <a:solidFill>
                <a:schemeClr val="dk1"/>
              </a:solidFill>
              <a:latin typeface="Times New Roman"/>
              <a:ea typeface="Times New Roman"/>
              <a:cs typeface="Times New Roman"/>
              <a:sym typeface="Times New Roman"/>
            </a:endParaRPr>
          </a:p>
        </p:txBody>
      </p:sp>
      <p:sp>
        <p:nvSpPr>
          <p:cNvPr id="184" name="Google Shape;184;p6"/>
          <p:cNvSpPr txBox="1"/>
          <p:nvPr/>
        </p:nvSpPr>
        <p:spPr>
          <a:xfrm>
            <a:off x="555899" y="3430583"/>
            <a:ext cx="11080200" cy="1662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Node: </a:t>
            </a:r>
            <a:r>
              <a:rPr i="0" lang="en-GB" sz="2400" u="none" cap="none" strike="noStrike">
                <a:solidFill>
                  <a:schemeClr val="dk1"/>
                </a:solidFill>
                <a:latin typeface="Times New Roman"/>
                <a:ea typeface="Times New Roman"/>
                <a:cs typeface="Times New Roman"/>
                <a:sym typeface="Times New Roman"/>
              </a:rPr>
              <a:t>A point at which </a:t>
            </a:r>
            <a:r>
              <a:rPr i="0" lang="en-GB" sz="2400" u="none" cap="none" strike="noStrike">
                <a:solidFill>
                  <a:srgbClr val="FF0000"/>
                </a:solidFill>
                <a:latin typeface="Times New Roman"/>
                <a:ea typeface="Times New Roman"/>
                <a:cs typeface="Times New Roman"/>
                <a:sym typeface="Times New Roman"/>
              </a:rPr>
              <a:t>two or more elements</a:t>
            </a:r>
            <a:r>
              <a:rPr i="0" lang="en-GB" sz="2400" u="none" cap="none" strike="noStrike">
                <a:solidFill>
                  <a:schemeClr val="dk1"/>
                </a:solidFill>
                <a:latin typeface="Times New Roman"/>
                <a:ea typeface="Times New Roman"/>
                <a:cs typeface="Times New Roman"/>
                <a:sym typeface="Times New Roman"/>
              </a:rPr>
              <a:t> are joints together is called node.</a:t>
            </a:r>
            <a:endParaRPr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Arial"/>
              <a:buNone/>
            </a:pPr>
            <a:r>
              <a:t/>
            </a:r>
            <a:endParaRPr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Junction: </a:t>
            </a:r>
            <a:r>
              <a:rPr i="0" lang="en-GB" sz="2400" u="none" cap="none" strike="noStrike">
                <a:solidFill>
                  <a:schemeClr val="dk1"/>
                </a:solidFill>
                <a:latin typeface="Times New Roman"/>
                <a:ea typeface="Times New Roman"/>
                <a:cs typeface="Times New Roman"/>
                <a:sym typeface="Times New Roman"/>
              </a:rPr>
              <a:t>A point where </a:t>
            </a:r>
            <a:r>
              <a:rPr i="0" lang="en-GB" sz="2400" u="none" cap="none" strike="noStrike">
                <a:solidFill>
                  <a:srgbClr val="FF0000"/>
                </a:solidFill>
                <a:latin typeface="Times New Roman"/>
                <a:ea typeface="Times New Roman"/>
                <a:cs typeface="Times New Roman"/>
                <a:sym typeface="Times New Roman"/>
              </a:rPr>
              <a:t>three or more branches </a:t>
            </a:r>
            <a:r>
              <a:rPr i="0" lang="en-GB" sz="2400" u="none" cap="none" strike="noStrike">
                <a:solidFill>
                  <a:schemeClr val="dk1"/>
                </a:solidFill>
                <a:latin typeface="Times New Roman"/>
                <a:ea typeface="Times New Roman"/>
                <a:cs typeface="Times New Roman"/>
                <a:sym typeface="Times New Roman"/>
              </a:rPr>
              <a:t>meet together is called a junction.</a:t>
            </a:r>
            <a:endParaRPr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i="0" sz="2400" u="none" cap="none" strike="noStrike">
              <a:solidFill>
                <a:srgbClr val="3F3F3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0ee9510b4f_0_37"/>
          <p:cNvSpPr txBox="1"/>
          <p:nvPr/>
        </p:nvSpPr>
        <p:spPr>
          <a:xfrm>
            <a:off x="996025" y="457200"/>
            <a:ext cx="9405300" cy="1293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Mesh: </a:t>
            </a:r>
            <a:r>
              <a:rPr b="0" i="0" lang="en-GB" sz="2400" u="none" cap="none" strike="noStrike">
                <a:solidFill>
                  <a:schemeClr val="dk1"/>
                </a:solidFill>
                <a:latin typeface="Times New Roman"/>
                <a:ea typeface="Times New Roman"/>
                <a:cs typeface="Times New Roman"/>
                <a:sym typeface="Times New Roman"/>
              </a:rPr>
              <a:t>A mesh is a closed path in a circuit with no other paths inside it.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400"/>
              <a:buFont typeface="Arial"/>
              <a:buNone/>
            </a:pPr>
            <a:r>
              <a:rPr b="1" i="0" lang="en-GB" sz="2400" u="none" cap="none" strike="noStrike">
                <a:solidFill>
                  <a:schemeClr val="dk1"/>
                </a:solidFill>
                <a:latin typeface="Times New Roman"/>
                <a:ea typeface="Times New Roman"/>
                <a:cs typeface="Times New Roman"/>
                <a:sym typeface="Times New Roman"/>
              </a:rPr>
              <a:t>Loop: </a:t>
            </a:r>
            <a:r>
              <a:rPr b="0" i="0" lang="en-GB" sz="2400" u="none" cap="none" strike="noStrike">
                <a:solidFill>
                  <a:schemeClr val="dk1"/>
                </a:solidFill>
                <a:latin typeface="Times New Roman"/>
                <a:ea typeface="Times New Roman"/>
                <a:cs typeface="Times New Roman"/>
                <a:sym typeface="Times New Roman"/>
              </a:rPr>
              <a:t>Any closed path in the circuit.</a:t>
            </a:r>
            <a:endParaRPr b="0" i="0" sz="2000" u="none" cap="none" strike="noStrike">
              <a:solidFill>
                <a:srgbClr val="3F3F3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nvSpPr>
        <p:spPr>
          <a:xfrm>
            <a:off x="915879" y="1420427"/>
            <a:ext cx="10360241"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Times New Roman"/>
                <a:ea typeface="Times New Roman"/>
                <a:cs typeface="Times New Roman"/>
                <a:sym typeface="Times New Roman"/>
              </a:rPr>
              <a:t>Kirchhoff's Voltage Law (KVL) states that for any closed loop in a circuit, the sum of the potential differences across all components is zero.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descr="kirchhoffs voltage law in a single loop" id="195" name="Google Shape;195;p9"/>
          <p:cNvPicPr preferRelativeResize="0"/>
          <p:nvPr/>
        </p:nvPicPr>
        <p:blipFill rotWithShape="1">
          <a:blip r:embed="rId3">
            <a:alphaModFix/>
          </a:blip>
          <a:srcRect b="0" l="0" r="0" t="0"/>
          <a:stretch/>
        </p:blipFill>
        <p:spPr>
          <a:xfrm>
            <a:off x="4171995" y="2769232"/>
            <a:ext cx="3003555" cy="2220019"/>
          </a:xfrm>
          <a:prstGeom prst="rect">
            <a:avLst/>
          </a:prstGeom>
          <a:noFill/>
          <a:ln>
            <a:noFill/>
          </a:ln>
        </p:spPr>
      </p:pic>
      <p:sp>
        <p:nvSpPr>
          <p:cNvPr id="196" name="Google Shape;196;p9"/>
          <p:cNvSpPr txBox="1"/>
          <p:nvPr/>
        </p:nvSpPr>
        <p:spPr>
          <a:xfrm>
            <a:off x="4440926" y="5634258"/>
            <a:ext cx="2465700" cy="4617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-V</a:t>
            </a:r>
            <a:r>
              <a:rPr b="1" baseline="-25000" i="0" lang="en-GB" sz="2400" u="none" cap="none" strike="noStrike">
                <a:solidFill>
                  <a:schemeClr val="dk1"/>
                </a:solidFill>
                <a:latin typeface="Calibri"/>
                <a:ea typeface="Calibri"/>
                <a:cs typeface="Calibri"/>
                <a:sym typeface="Calibri"/>
              </a:rPr>
              <a:t>s</a:t>
            </a:r>
            <a:r>
              <a:rPr b="1" i="0" lang="en-GB" sz="2400" u="none" cap="none" strike="noStrike">
                <a:solidFill>
                  <a:schemeClr val="dk1"/>
                </a:solidFill>
                <a:latin typeface="Calibri"/>
                <a:ea typeface="Calibri"/>
                <a:cs typeface="Calibri"/>
                <a:sym typeface="Calibri"/>
              </a:rPr>
              <a:t>+ IR</a:t>
            </a:r>
            <a:r>
              <a:rPr b="1" baseline="-25000" i="0" lang="en-GB" sz="2400" u="none" cap="none" strike="noStrike">
                <a:solidFill>
                  <a:schemeClr val="dk1"/>
                </a:solidFill>
                <a:latin typeface="Calibri"/>
                <a:ea typeface="Calibri"/>
                <a:cs typeface="Calibri"/>
                <a:sym typeface="Calibri"/>
              </a:rPr>
              <a:t>1</a:t>
            </a:r>
            <a:r>
              <a:rPr b="1" i="0" lang="en-GB" sz="2400" u="none" cap="none" strike="noStrike">
                <a:solidFill>
                  <a:schemeClr val="dk1"/>
                </a:solidFill>
                <a:latin typeface="Calibri"/>
                <a:ea typeface="Calibri"/>
                <a:cs typeface="Calibri"/>
                <a:sym typeface="Calibri"/>
              </a:rPr>
              <a:t> + IR</a:t>
            </a:r>
            <a:r>
              <a:rPr b="1" baseline="-25000" i="0" lang="en-GB" sz="2400" u="none" cap="none" strike="noStrike">
                <a:solidFill>
                  <a:schemeClr val="dk1"/>
                </a:solidFill>
                <a:latin typeface="Calibri"/>
                <a:ea typeface="Calibri"/>
                <a:cs typeface="Calibri"/>
                <a:sym typeface="Calibri"/>
              </a:rPr>
              <a:t>2</a:t>
            </a:r>
            <a:r>
              <a:rPr b="1" i="0" lang="en-GB" sz="2400" u="none" cap="none" strike="noStrike">
                <a:solidFill>
                  <a:schemeClr val="dk1"/>
                </a:solidFill>
                <a:latin typeface="Calibri"/>
                <a:ea typeface="Calibri"/>
                <a:cs typeface="Calibri"/>
                <a:sym typeface="Calibri"/>
              </a:rPr>
              <a:t> = 0</a:t>
            </a:r>
            <a:endParaRPr b="1" i="0" sz="2400" u="none" cap="none" strike="noStrike">
              <a:solidFill>
                <a:schemeClr val="dk1"/>
              </a:solidFill>
              <a:latin typeface="Calibri"/>
              <a:ea typeface="Calibri"/>
              <a:cs typeface="Calibri"/>
              <a:sym typeface="Calibri"/>
            </a:endParaRPr>
          </a:p>
        </p:txBody>
      </p:sp>
      <p:sp>
        <p:nvSpPr>
          <p:cNvPr id="197" name="Google Shape;197;p9"/>
          <p:cNvSpPr txBox="1"/>
          <p:nvPr/>
        </p:nvSpPr>
        <p:spPr>
          <a:xfrm>
            <a:off x="4093164" y="561359"/>
            <a:ext cx="4005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Times New Roman"/>
                <a:ea typeface="Times New Roman"/>
                <a:cs typeface="Times New Roman"/>
                <a:sym typeface="Times New Roman"/>
              </a:rPr>
              <a:t>Kirchhoff’s Voltage Law</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nvSpPr>
        <p:spPr>
          <a:xfrm>
            <a:off x="915877" y="1475344"/>
            <a:ext cx="10360241"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Times New Roman"/>
                <a:ea typeface="Times New Roman"/>
                <a:cs typeface="Times New Roman"/>
                <a:sym typeface="Times New Roman"/>
              </a:rPr>
              <a:t>The algebraic sum of all currents entering and exiting a node must equal zero.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descr="State and explain Kirchhoff's Law." id="203" name="Google Shape;203;p10"/>
          <p:cNvPicPr preferRelativeResize="0"/>
          <p:nvPr/>
        </p:nvPicPr>
        <p:blipFill rotWithShape="1">
          <a:blip r:embed="rId3">
            <a:alphaModFix/>
          </a:blip>
          <a:srcRect b="11567" l="19372" r="24645" t="9264"/>
          <a:stretch/>
        </p:blipFill>
        <p:spPr>
          <a:xfrm>
            <a:off x="1168185" y="2582084"/>
            <a:ext cx="3061317" cy="243511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352"/>
              </a:srgbClr>
            </a:outerShdw>
          </a:effectLst>
        </p:spPr>
      </p:pic>
      <p:pic>
        <p:nvPicPr>
          <p:cNvPr descr="Learn.Digilentinc | Kirchhoff's Current Law" id="204" name="Google Shape;204;p10"/>
          <p:cNvPicPr preferRelativeResize="0"/>
          <p:nvPr/>
        </p:nvPicPr>
        <p:blipFill rotWithShape="1">
          <a:blip r:embed="rId4">
            <a:alphaModFix/>
          </a:blip>
          <a:srcRect b="0" l="0" r="0" t="0"/>
          <a:stretch/>
        </p:blipFill>
        <p:spPr>
          <a:xfrm>
            <a:off x="5636765" y="2460704"/>
            <a:ext cx="4404210" cy="1820552"/>
          </a:xfrm>
          <a:prstGeom prst="rect">
            <a:avLst/>
          </a:prstGeom>
          <a:noFill/>
          <a:ln>
            <a:noFill/>
          </a:ln>
        </p:spPr>
      </p:pic>
      <p:cxnSp>
        <p:nvCxnSpPr>
          <p:cNvPr id="205" name="Google Shape;205;p10"/>
          <p:cNvCxnSpPr/>
          <p:nvPr/>
        </p:nvCxnSpPr>
        <p:spPr>
          <a:xfrm>
            <a:off x="6942338" y="3124939"/>
            <a:ext cx="612560" cy="0"/>
          </a:xfrm>
          <a:prstGeom prst="straightConnector1">
            <a:avLst/>
          </a:prstGeom>
          <a:noFill/>
          <a:ln cap="flat" cmpd="sng" w="12700">
            <a:solidFill>
              <a:schemeClr val="dk1"/>
            </a:solidFill>
            <a:prstDash val="solid"/>
            <a:round/>
            <a:headEnd len="sm" w="sm" type="none"/>
            <a:tailEnd len="med" w="med" type="triangle"/>
          </a:ln>
        </p:spPr>
      </p:cxnSp>
      <p:cxnSp>
        <p:nvCxnSpPr>
          <p:cNvPr id="206" name="Google Shape;206;p10"/>
          <p:cNvCxnSpPr/>
          <p:nvPr/>
        </p:nvCxnSpPr>
        <p:spPr>
          <a:xfrm>
            <a:off x="8469297" y="3213716"/>
            <a:ext cx="0" cy="585927"/>
          </a:xfrm>
          <a:prstGeom prst="straightConnector1">
            <a:avLst/>
          </a:prstGeom>
          <a:noFill/>
          <a:ln cap="flat" cmpd="sng" w="12700">
            <a:solidFill>
              <a:schemeClr val="dk1"/>
            </a:solidFill>
            <a:prstDash val="solid"/>
            <a:round/>
            <a:headEnd len="sm" w="sm" type="none"/>
            <a:tailEnd len="med" w="med" type="triangle"/>
          </a:ln>
        </p:spPr>
      </p:cxnSp>
      <p:cxnSp>
        <p:nvCxnSpPr>
          <p:cNvPr id="207" name="Google Shape;207;p10"/>
          <p:cNvCxnSpPr/>
          <p:nvPr/>
        </p:nvCxnSpPr>
        <p:spPr>
          <a:xfrm>
            <a:off x="10147177" y="3213716"/>
            <a:ext cx="0" cy="656948"/>
          </a:xfrm>
          <a:prstGeom prst="straightConnector1">
            <a:avLst/>
          </a:prstGeom>
          <a:noFill/>
          <a:ln cap="flat" cmpd="sng" w="12700">
            <a:solidFill>
              <a:schemeClr val="dk1"/>
            </a:solidFill>
            <a:prstDash val="solid"/>
            <a:round/>
            <a:headEnd len="sm" w="sm" type="none"/>
            <a:tailEnd len="med" w="med" type="triangle"/>
          </a:ln>
        </p:spPr>
      </p:cxnSp>
      <p:sp>
        <p:nvSpPr>
          <p:cNvPr id="208" name="Google Shape;208;p10"/>
          <p:cNvSpPr txBox="1"/>
          <p:nvPr/>
        </p:nvSpPr>
        <p:spPr>
          <a:xfrm>
            <a:off x="7126616" y="308223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I</a:t>
            </a:r>
            <a:r>
              <a:rPr b="1" baseline="-25000" i="0" lang="en-GB" sz="1800" u="none" cap="none" strike="noStrike">
                <a:solidFill>
                  <a:schemeClr val="dk1"/>
                </a:solidFill>
                <a:latin typeface="Calibri"/>
                <a:ea typeface="Calibri"/>
                <a:cs typeface="Calibri"/>
                <a:sym typeface="Calibri"/>
              </a:rPr>
              <a:t>1</a:t>
            </a:r>
            <a:endParaRPr b="1" baseline="-25000" i="0" sz="1800" u="none" cap="none" strike="noStrike">
              <a:solidFill>
                <a:schemeClr val="dk1"/>
              </a:solidFill>
              <a:latin typeface="Calibri"/>
              <a:ea typeface="Calibri"/>
              <a:cs typeface="Calibri"/>
              <a:sym typeface="Calibri"/>
            </a:endParaRPr>
          </a:p>
        </p:txBody>
      </p:sp>
      <p:sp>
        <p:nvSpPr>
          <p:cNvPr id="209" name="Google Shape;209;p10"/>
          <p:cNvSpPr txBox="1"/>
          <p:nvPr/>
        </p:nvSpPr>
        <p:spPr>
          <a:xfrm>
            <a:off x="8469297" y="3266903"/>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I</a:t>
            </a:r>
            <a:r>
              <a:rPr b="1" baseline="-25000" i="0" lang="en-GB" sz="1800" u="none" cap="none" strike="noStrike">
                <a:solidFill>
                  <a:schemeClr val="dk1"/>
                </a:solidFill>
                <a:latin typeface="Calibri"/>
                <a:ea typeface="Calibri"/>
                <a:cs typeface="Calibri"/>
                <a:sym typeface="Calibri"/>
              </a:rPr>
              <a:t>2</a:t>
            </a:r>
            <a:endParaRPr b="1" baseline="-25000" i="0" sz="1800" u="none" cap="none" strike="noStrike">
              <a:solidFill>
                <a:schemeClr val="dk1"/>
              </a:solidFill>
              <a:latin typeface="Calibri"/>
              <a:ea typeface="Calibri"/>
              <a:cs typeface="Calibri"/>
              <a:sym typeface="Calibri"/>
            </a:endParaRPr>
          </a:p>
        </p:txBody>
      </p:sp>
      <p:sp>
        <p:nvSpPr>
          <p:cNvPr id="210" name="Google Shape;210;p10"/>
          <p:cNvSpPr txBox="1"/>
          <p:nvPr/>
        </p:nvSpPr>
        <p:spPr>
          <a:xfrm>
            <a:off x="10129094" y="3309447"/>
            <a:ext cx="3241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I</a:t>
            </a:r>
            <a:r>
              <a:rPr b="1" baseline="-25000" i="0" lang="en-GB" sz="1800" u="none" cap="none" strike="noStrike">
                <a:solidFill>
                  <a:schemeClr val="dk1"/>
                </a:solidFill>
                <a:latin typeface="Calibri"/>
                <a:ea typeface="Calibri"/>
                <a:cs typeface="Calibri"/>
                <a:sym typeface="Calibri"/>
              </a:rPr>
              <a:t>3</a:t>
            </a:r>
            <a:endParaRPr b="1" baseline="-25000" i="0" sz="1800" u="none" cap="none" strike="noStrike">
              <a:solidFill>
                <a:schemeClr val="dk1"/>
              </a:solidFill>
              <a:latin typeface="Calibri"/>
              <a:ea typeface="Calibri"/>
              <a:cs typeface="Calibri"/>
              <a:sym typeface="Calibri"/>
            </a:endParaRPr>
          </a:p>
        </p:txBody>
      </p:sp>
      <p:sp>
        <p:nvSpPr>
          <p:cNvPr id="211" name="Google Shape;211;p10"/>
          <p:cNvSpPr txBox="1"/>
          <p:nvPr/>
        </p:nvSpPr>
        <p:spPr>
          <a:xfrm>
            <a:off x="7450744" y="4904269"/>
            <a:ext cx="1611300" cy="4617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   I</a:t>
            </a:r>
            <a:r>
              <a:rPr b="1" baseline="-25000" i="0" lang="en-GB" sz="2400" u="none" cap="none" strike="noStrike">
                <a:solidFill>
                  <a:schemeClr val="dk1"/>
                </a:solidFill>
                <a:latin typeface="Calibri"/>
                <a:ea typeface="Calibri"/>
                <a:cs typeface="Calibri"/>
                <a:sym typeface="Calibri"/>
              </a:rPr>
              <a:t>1 </a:t>
            </a:r>
            <a:r>
              <a:rPr b="1" i="0" lang="en-GB" sz="2400" u="none" cap="none" strike="noStrike">
                <a:solidFill>
                  <a:schemeClr val="dk1"/>
                </a:solidFill>
                <a:latin typeface="Calibri"/>
                <a:ea typeface="Calibri"/>
                <a:cs typeface="Calibri"/>
                <a:sym typeface="Calibri"/>
              </a:rPr>
              <a:t>= I</a:t>
            </a:r>
            <a:r>
              <a:rPr b="1" baseline="-25000" i="0" lang="en-GB" sz="2400" u="none" cap="none" strike="noStrike">
                <a:solidFill>
                  <a:schemeClr val="dk1"/>
                </a:solidFill>
                <a:latin typeface="Calibri"/>
                <a:ea typeface="Calibri"/>
                <a:cs typeface="Calibri"/>
                <a:sym typeface="Calibri"/>
              </a:rPr>
              <a:t>2 </a:t>
            </a:r>
            <a:r>
              <a:rPr b="1" i="0" lang="en-GB" sz="2400" u="none" cap="none" strike="noStrike">
                <a:solidFill>
                  <a:schemeClr val="dk1"/>
                </a:solidFill>
                <a:latin typeface="Calibri"/>
                <a:ea typeface="Calibri"/>
                <a:cs typeface="Calibri"/>
                <a:sym typeface="Calibri"/>
              </a:rPr>
              <a:t>+ I</a:t>
            </a:r>
            <a:r>
              <a:rPr b="1" baseline="-25000" i="0" lang="en-GB" sz="2400" u="none" cap="none" strike="noStrike">
                <a:solidFill>
                  <a:schemeClr val="dk1"/>
                </a:solidFill>
                <a:latin typeface="Calibri"/>
                <a:ea typeface="Calibri"/>
                <a:cs typeface="Calibri"/>
                <a:sym typeface="Calibri"/>
              </a:rPr>
              <a:t>3</a:t>
            </a:r>
            <a:endParaRPr b="1" i="0" sz="2400" u="none" cap="none" strike="noStrike">
              <a:solidFill>
                <a:schemeClr val="dk1"/>
              </a:solidFill>
              <a:latin typeface="Calibri"/>
              <a:ea typeface="Calibri"/>
              <a:cs typeface="Calibri"/>
              <a:sym typeface="Calibri"/>
            </a:endParaRPr>
          </a:p>
        </p:txBody>
      </p:sp>
      <p:sp>
        <p:nvSpPr>
          <p:cNvPr id="212" name="Google Shape;212;p10"/>
          <p:cNvSpPr txBox="1"/>
          <p:nvPr/>
        </p:nvSpPr>
        <p:spPr>
          <a:xfrm>
            <a:off x="4063157" y="567398"/>
            <a:ext cx="40656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Times New Roman"/>
                <a:ea typeface="Times New Roman"/>
                <a:cs typeface="Times New Roman"/>
                <a:sym typeface="Times New Roman"/>
              </a:rPr>
              <a:t>Kirchhoff’s Current Law</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g329f009d034_3_0"/>
          <p:cNvPicPr preferRelativeResize="0"/>
          <p:nvPr/>
        </p:nvPicPr>
        <p:blipFill>
          <a:blip r:embed="rId3">
            <a:alphaModFix/>
          </a:blip>
          <a:stretch>
            <a:fillRect/>
          </a:stretch>
        </p:blipFill>
        <p:spPr>
          <a:xfrm>
            <a:off x="6608488" y="567400"/>
            <a:ext cx="4420076" cy="3110425"/>
          </a:xfrm>
          <a:prstGeom prst="rect">
            <a:avLst/>
          </a:prstGeom>
          <a:noFill/>
          <a:ln>
            <a:noFill/>
          </a:ln>
        </p:spPr>
      </p:pic>
      <p:sp>
        <p:nvSpPr>
          <p:cNvPr id="218" name="Google Shape;218;g329f009d034_3_0"/>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g329f009d034_3_4"/>
          <p:cNvPicPr preferRelativeResize="0"/>
          <p:nvPr/>
        </p:nvPicPr>
        <p:blipFill>
          <a:blip r:embed="rId3">
            <a:alphaModFix/>
          </a:blip>
          <a:stretch>
            <a:fillRect/>
          </a:stretch>
        </p:blipFill>
        <p:spPr>
          <a:xfrm>
            <a:off x="5580925" y="264525"/>
            <a:ext cx="5990276" cy="3494325"/>
          </a:xfrm>
          <a:prstGeom prst="rect">
            <a:avLst/>
          </a:prstGeom>
          <a:noFill/>
          <a:ln>
            <a:noFill/>
          </a:ln>
        </p:spPr>
      </p:pic>
      <p:sp>
        <p:nvSpPr>
          <p:cNvPr id="224" name="Google Shape;224;g329f009d034_3_4"/>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29f009d034_3_10"/>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Problem-3</a:t>
            </a:r>
            <a:endParaRPr b="0" i="0" sz="2800" u="none" cap="none" strike="noStrike">
              <a:solidFill>
                <a:schemeClr val="dk1"/>
              </a:solidFill>
              <a:latin typeface="Calibri"/>
              <a:ea typeface="Calibri"/>
              <a:cs typeface="Calibri"/>
              <a:sym typeface="Calibri"/>
            </a:endParaRPr>
          </a:p>
        </p:txBody>
      </p:sp>
      <p:pic>
        <p:nvPicPr>
          <p:cNvPr id="230" name="Google Shape;230;g329f009d034_3_10"/>
          <p:cNvPicPr preferRelativeResize="0"/>
          <p:nvPr/>
        </p:nvPicPr>
        <p:blipFill>
          <a:blip r:embed="rId3">
            <a:alphaModFix/>
          </a:blip>
          <a:stretch>
            <a:fillRect/>
          </a:stretch>
        </p:blipFill>
        <p:spPr>
          <a:xfrm>
            <a:off x="6140500" y="567400"/>
            <a:ext cx="5650701" cy="2973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29f009d034_3_22"/>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Problem-4</a:t>
            </a:r>
            <a:endParaRPr b="0" i="0" sz="2800" u="none" cap="none" strike="noStrike">
              <a:solidFill>
                <a:schemeClr val="dk1"/>
              </a:solidFill>
              <a:latin typeface="Calibri"/>
              <a:ea typeface="Calibri"/>
              <a:cs typeface="Calibri"/>
              <a:sym typeface="Calibri"/>
            </a:endParaRPr>
          </a:p>
        </p:txBody>
      </p:sp>
      <p:pic>
        <p:nvPicPr>
          <p:cNvPr id="236" name="Google Shape;236;g329f009d034_3_22"/>
          <p:cNvPicPr preferRelativeResize="0"/>
          <p:nvPr/>
        </p:nvPicPr>
        <p:blipFill>
          <a:blip r:embed="rId3">
            <a:alphaModFix/>
          </a:blip>
          <a:stretch>
            <a:fillRect/>
          </a:stretch>
        </p:blipFill>
        <p:spPr>
          <a:xfrm>
            <a:off x="5985425" y="691600"/>
            <a:ext cx="5169350" cy="3211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g329f009d034_3_25"/>
          <p:cNvPicPr preferRelativeResize="0"/>
          <p:nvPr/>
        </p:nvPicPr>
        <p:blipFill>
          <a:blip r:embed="rId3">
            <a:alphaModFix/>
          </a:blip>
          <a:stretch>
            <a:fillRect/>
          </a:stretch>
        </p:blipFill>
        <p:spPr>
          <a:xfrm>
            <a:off x="5752550" y="893350"/>
            <a:ext cx="5990675" cy="3065000"/>
          </a:xfrm>
          <a:prstGeom prst="rect">
            <a:avLst/>
          </a:prstGeom>
          <a:noFill/>
          <a:ln>
            <a:noFill/>
          </a:ln>
        </p:spPr>
      </p:pic>
      <p:sp>
        <p:nvSpPr>
          <p:cNvPr id="242" name="Google Shape;242;g329f009d034_3_25"/>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Problem-5</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29f009d034_3_28"/>
          <p:cNvSpPr txBox="1"/>
          <p:nvPr/>
        </p:nvSpPr>
        <p:spPr>
          <a:xfrm>
            <a:off x="685849" y="567400"/>
            <a:ext cx="4076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Equivalent Resistance:</a:t>
            </a:r>
            <a:endParaRPr b="0" i="0" sz="2800" u="none" cap="none" strike="noStrike">
              <a:solidFill>
                <a:schemeClr val="dk1"/>
              </a:solidFill>
              <a:latin typeface="Calibri"/>
              <a:ea typeface="Calibri"/>
              <a:cs typeface="Calibri"/>
              <a:sym typeface="Calibri"/>
            </a:endParaRPr>
          </a:p>
        </p:txBody>
      </p:sp>
      <p:pic>
        <p:nvPicPr>
          <p:cNvPr id="248" name="Google Shape;248;g329f009d034_3_28"/>
          <p:cNvPicPr preferRelativeResize="0"/>
          <p:nvPr/>
        </p:nvPicPr>
        <p:blipFill>
          <a:blip r:embed="rId3">
            <a:alphaModFix/>
          </a:blip>
          <a:stretch>
            <a:fillRect/>
          </a:stretch>
        </p:blipFill>
        <p:spPr>
          <a:xfrm>
            <a:off x="685851" y="1666875"/>
            <a:ext cx="5695874" cy="2947525"/>
          </a:xfrm>
          <a:prstGeom prst="rect">
            <a:avLst/>
          </a:prstGeom>
          <a:noFill/>
          <a:ln>
            <a:noFill/>
          </a:ln>
        </p:spPr>
      </p:pic>
      <p:pic>
        <p:nvPicPr>
          <p:cNvPr id="249" name="Google Shape;249;g329f009d034_3_28"/>
          <p:cNvPicPr preferRelativeResize="0"/>
          <p:nvPr/>
        </p:nvPicPr>
        <p:blipFill>
          <a:blip r:embed="rId4">
            <a:alphaModFix/>
          </a:blip>
          <a:stretch>
            <a:fillRect/>
          </a:stretch>
        </p:blipFill>
        <p:spPr>
          <a:xfrm>
            <a:off x="6381725" y="2426925"/>
            <a:ext cx="4813825" cy="141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29f009d034_4_4"/>
          <p:cNvSpPr txBox="1"/>
          <p:nvPr/>
        </p:nvSpPr>
        <p:spPr>
          <a:xfrm>
            <a:off x="685849" y="567400"/>
            <a:ext cx="4076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Equivalent Resistance:</a:t>
            </a:r>
            <a:endParaRPr b="0" i="0" sz="2800" u="none" cap="none" strike="noStrike">
              <a:solidFill>
                <a:schemeClr val="dk1"/>
              </a:solidFill>
              <a:latin typeface="Calibri"/>
              <a:ea typeface="Calibri"/>
              <a:cs typeface="Calibri"/>
              <a:sym typeface="Calibri"/>
            </a:endParaRPr>
          </a:p>
        </p:txBody>
      </p:sp>
      <p:pic>
        <p:nvPicPr>
          <p:cNvPr id="255" name="Google Shape;255;g329f009d034_4_4"/>
          <p:cNvPicPr preferRelativeResize="0"/>
          <p:nvPr/>
        </p:nvPicPr>
        <p:blipFill>
          <a:blip r:embed="rId3">
            <a:alphaModFix/>
          </a:blip>
          <a:stretch>
            <a:fillRect/>
          </a:stretch>
        </p:blipFill>
        <p:spPr>
          <a:xfrm>
            <a:off x="876125" y="1533525"/>
            <a:ext cx="5317275" cy="3544850"/>
          </a:xfrm>
          <a:prstGeom prst="rect">
            <a:avLst/>
          </a:prstGeom>
          <a:noFill/>
          <a:ln>
            <a:noFill/>
          </a:ln>
        </p:spPr>
      </p:pic>
      <p:pic>
        <p:nvPicPr>
          <p:cNvPr id="256" name="Google Shape;256;g329f009d034_4_4"/>
          <p:cNvPicPr preferRelativeResize="0"/>
          <p:nvPr/>
        </p:nvPicPr>
        <p:blipFill>
          <a:blip r:embed="rId4">
            <a:alphaModFix/>
          </a:blip>
          <a:stretch>
            <a:fillRect/>
          </a:stretch>
        </p:blipFill>
        <p:spPr>
          <a:xfrm>
            <a:off x="6673175" y="3177250"/>
            <a:ext cx="5238750" cy="2876550"/>
          </a:xfrm>
          <a:prstGeom prst="rect">
            <a:avLst/>
          </a:prstGeom>
          <a:noFill/>
          <a:ln>
            <a:noFill/>
          </a:ln>
        </p:spPr>
      </p:pic>
      <p:pic>
        <p:nvPicPr>
          <p:cNvPr id="257" name="Google Shape;257;g329f009d034_4_4"/>
          <p:cNvPicPr preferRelativeResize="0"/>
          <p:nvPr/>
        </p:nvPicPr>
        <p:blipFill>
          <a:blip r:embed="rId5">
            <a:alphaModFix/>
          </a:blip>
          <a:stretch>
            <a:fillRect/>
          </a:stretch>
        </p:blipFill>
        <p:spPr>
          <a:xfrm>
            <a:off x="6896650" y="1208125"/>
            <a:ext cx="4550501" cy="1969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g329f009d034_3_31"/>
          <p:cNvPicPr preferRelativeResize="0"/>
          <p:nvPr/>
        </p:nvPicPr>
        <p:blipFill>
          <a:blip r:embed="rId3">
            <a:alphaModFix/>
          </a:blip>
          <a:stretch>
            <a:fillRect/>
          </a:stretch>
        </p:blipFill>
        <p:spPr>
          <a:xfrm>
            <a:off x="2696950" y="1479200"/>
            <a:ext cx="6798099" cy="3340700"/>
          </a:xfrm>
          <a:prstGeom prst="rect">
            <a:avLst/>
          </a:prstGeom>
          <a:noFill/>
          <a:ln>
            <a:noFill/>
          </a:ln>
        </p:spPr>
      </p:pic>
      <p:sp>
        <p:nvSpPr>
          <p:cNvPr id="263" name="Google Shape;263;g329f009d034_3_31"/>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Problem-6</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g329f009d034_4_14"/>
          <p:cNvPicPr preferRelativeResize="0"/>
          <p:nvPr/>
        </p:nvPicPr>
        <p:blipFill>
          <a:blip r:embed="rId3">
            <a:alphaModFix/>
          </a:blip>
          <a:stretch>
            <a:fillRect/>
          </a:stretch>
        </p:blipFill>
        <p:spPr>
          <a:xfrm>
            <a:off x="642938" y="324725"/>
            <a:ext cx="10906125" cy="5410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g329f009d034_4_19"/>
          <p:cNvPicPr preferRelativeResize="0"/>
          <p:nvPr/>
        </p:nvPicPr>
        <p:blipFill>
          <a:blip r:embed="rId3">
            <a:alphaModFix/>
          </a:blip>
          <a:stretch>
            <a:fillRect/>
          </a:stretch>
        </p:blipFill>
        <p:spPr>
          <a:xfrm>
            <a:off x="866775" y="752475"/>
            <a:ext cx="10458450" cy="5353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g329f009d034_4_25"/>
          <p:cNvPicPr preferRelativeResize="0"/>
          <p:nvPr/>
        </p:nvPicPr>
        <p:blipFill>
          <a:blip r:embed="rId3">
            <a:alphaModFix/>
          </a:blip>
          <a:stretch>
            <a:fillRect/>
          </a:stretch>
        </p:blipFill>
        <p:spPr>
          <a:xfrm>
            <a:off x="600075" y="617825"/>
            <a:ext cx="10991850" cy="5105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g329f009d034_4_34"/>
          <p:cNvPicPr preferRelativeResize="0"/>
          <p:nvPr/>
        </p:nvPicPr>
        <p:blipFill>
          <a:blip r:embed="rId3">
            <a:alphaModFix/>
          </a:blip>
          <a:stretch>
            <a:fillRect/>
          </a:stretch>
        </p:blipFill>
        <p:spPr>
          <a:xfrm>
            <a:off x="6441750" y="807175"/>
            <a:ext cx="5143775" cy="3061075"/>
          </a:xfrm>
          <a:prstGeom prst="rect">
            <a:avLst/>
          </a:prstGeom>
          <a:noFill/>
          <a:ln>
            <a:noFill/>
          </a:ln>
        </p:spPr>
      </p:pic>
      <p:sp>
        <p:nvSpPr>
          <p:cNvPr id="284" name="Google Shape;284;g329f009d034_4_34"/>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Problem-7</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g329f009d034_4_39"/>
          <p:cNvPicPr preferRelativeResize="0"/>
          <p:nvPr/>
        </p:nvPicPr>
        <p:blipFill>
          <a:blip r:embed="rId3">
            <a:alphaModFix/>
          </a:blip>
          <a:stretch>
            <a:fillRect/>
          </a:stretch>
        </p:blipFill>
        <p:spPr>
          <a:xfrm>
            <a:off x="3977725" y="686575"/>
            <a:ext cx="7642274" cy="3264450"/>
          </a:xfrm>
          <a:prstGeom prst="rect">
            <a:avLst/>
          </a:prstGeom>
          <a:noFill/>
          <a:ln>
            <a:noFill/>
          </a:ln>
        </p:spPr>
      </p:pic>
      <p:sp>
        <p:nvSpPr>
          <p:cNvPr id="290" name="Google Shape;290;g329f009d034_4_39"/>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Problem-8</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g329f009d034_4_45"/>
          <p:cNvPicPr preferRelativeResize="0"/>
          <p:nvPr/>
        </p:nvPicPr>
        <p:blipFill>
          <a:blip r:embed="rId3">
            <a:alphaModFix/>
          </a:blip>
          <a:stretch>
            <a:fillRect/>
          </a:stretch>
        </p:blipFill>
        <p:spPr>
          <a:xfrm>
            <a:off x="6011000" y="514275"/>
            <a:ext cx="5591776" cy="3643850"/>
          </a:xfrm>
          <a:prstGeom prst="rect">
            <a:avLst/>
          </a:prstGeom>
          <a:noFill/>
          <a:ln>
            <a:noFill/>
          </a:ln>
        </p:spPr>
      </p:pic>
      <p:sp>
        <p:nvSpPr>
          <p:cNvPr id="296" name="Google Shape;296;g329f009d034_4_45"/>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Problem-9</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g329f009d034_4_96"/>
          <p:cNvPicPr preferRelativeResize="0"/>
          <p:nvPr/>
        </p:nvPicPr>
        <p:blipFill rotWithShape="1">
          <a:blip r:embed="rId3">
            <a:alphaModFix/>
          </a:blip>
          <a:srcRect b="4834" l="0" r="0" t="0"/>
          <a:stretch/>
        </p:blipFill>
        <p:spPr>
          <a:xfrm>
            <a:off x="3366325" y="687275"/>
            <a:ext cx="4669600" cy="5459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29f009d034_4_29"/>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Problem-10</a:t>
            </a:r>
            <a:endParaRPr b="0" i="0" sz="2800" u="none" cap="none" strike="noStrike">
              <a:solidFill>
                <a:schemeClr val="dk1"/>
              </a:solidFill>
              <a:latin typeface="Calibri"/>
              <a:ea typeface="Calibri"/>
              <a:cs typeface="Calibri"/>
              <a:sym typeface="Calibri"/>
            </a:endParaRPr>
          </a:p>
        </p:txBody>
      </p:sp>
      <p:pic>
        <p:nvPicPr>
          <p:cNvPr id="307" name="Google Shape;307;g329f009d034_4_29"/>
          <p:cNvPicPr preferRelativeResize="0"/>
          <p:nvPr/>
        </p:nvPicPr>
        <p:blipFill>
          <a:blip r:embed="rId3">
            <a:alphaModFix/>
          </a:blip>
          <a:stretch>
            <a:fillRect/>
          </a:stretch>
        </p:blipFill>
        <p:spPr>
          <a:xfrm>
            <a:off x="5007399" y="745050"/>
            <a:ext cx="6851924" cy="2868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g329f009d034_4_50"/>
          <p:cNvPicPr preferRelativeResize="0"/>
          <p:nvPr/>
        </p:nvPicPr>
        <p:blipFill>
          <a:blip r:embed="rId3">
            <a:alphaModFix/>
          </a:blip>
          <a:stretch>
            <a:fillRect/>
          </a:stretch>
        </p:blipFill>
        <p:spPr>
          <a:xfrm>
            <a:off x="685850" y="1668750"/>
            <a:ext cx="5208876" cy="4081625"/>
          </a:xfrm>
          <a:prstGeom prst="rect">
            <a:avLst/>
          </a:prstGeom>
          <a:noFill/>
          <a:ln>
            <a:noFill/>
          </a:ln>
        </p:spPr>
      </p:pic>
      <p:sp>
        <p:nvSpPr>
          <p:cNvPr id="313" name="Google Shape;313;g329f009d034_4_50"/>
          <p:cNvSpPr txBox="1"/>
          <p:nvPr/>
        </p:nvSpPr>
        <p:spPr>
          <a:xfrm>
            <a:off x="685850" y="567400"/>
            <a:ext cx="4214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Delta to Wye Conversion:</a:t>
            </a:r>
            <a:endParaRPr b="0" i="0" sz="2800" u="none" cap="none" strike="noStrike">
              <a:solidFill>
                <a:schemeClr val="dk1"/>
              </a:solidFill>
              <a:latin typeface="Calibri"/>
              <a:ea typeface="Calibri"/>
              <a:cs typeface="Calibri"/>
              <a:sym typeface="Calibri"/>
            </a:endParaRPr>
          </a:p>
        </p:txBody>
      </p:sp>
      <p:pic>
        <p:nvPicPr>
          <p:cNvPr id="314" name="Google Shape;314;g329f009d034_4_50"/>
          <p:cNvPicPr preferRelativeResize="0"/>
          <p:nvPr/>
        </p:nvPicPr>
        <p:blipFill>
          <a:blip r:embed="rId4">
            <a:alphaModFix/>
          </a:blip>
          <a:stretch>
            <a:fillRect/>
          </a:stretch>
        </p:blipFill>
        <p:spPr>
          <a:xfrm>
            <a:off x="7287776" y="1169025"/>
            <a:ext cx="3876675" cy="1828800"/>
          </a:xfrm>
          <a:prstGeom prst="rect">
            <a:avLst/>
          </a:prstGeom>
          <a:noFill/>
          <a:ln>
            <a:noFill/>
          </a:ln>
        </p:spPr>
      </p:pic>
      <p:pic>
        <p:nvPicPr>
          <p:cNvPr id="315" name="Google Shape;315;g329f009d034_4_50"/>
          <p:cNvPicPr preferRelativeResize="0"/>
          <p:nvPr/>
        </p:nvPicPr>
        <p:blipFill>
          <a:blip r:embed="rId5">
            <a:alphaModFix/>
          </a:blip>
          <a:stretch>
            <a:fillRect/>
          </a:stretch>
        </p:blipFill>
        <p:spPr>
          <a:xfrm>
            <a:off x="7354451" y="2871363"/>
            <a:ext cx="3743325" cy="1676400"/>
          </a:xfrm>
          <a:prstGeom prst="rect">
            <a:avLst/>
          </a:prstGeom>
          <a:noFill/>
          <a:ln>
            <a:noFill/>
          </a:ln>
        </p:spPr>
      </p:pic>
      <p:pic>
        <p:nvPicPr>
          <p:cNvPr id="316" name="Google Shape;316;g329f009d034_4_50"/>
          <p:cNvPicPr preferRelativeResize="0"/>
          <p:nvPr/>
        </p:nvPicPr>
        <p:blipFill>
          <a:blip r:embed="rId6">
            <a:alphaModFix/>
          </a:blip>
          <a:stretch>
            <a:fillRect/>
          </a:stretch>
        </p:blipFill>
        <p:spPr>
          <a:xfrm>
            <a:off x="7392551" y="4499275"/>
            <a:ext cx="3667125" cy="1600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g329f009d034_4_58"/>
          <p:cNvPicPr preferRelativeResize="0"/>
          <p:nvPr/>
        </p:nvPicPr>
        <p:blipFill>
          <a:blip r:embed="rId3">
            <a:alphaModFix/>
          </a:blip>
          <a:stretch>
            <a:fillRect/>
          </a:stretch>
        </p:blipFill>
        <p:spPr>
          <a:xfrm>
            <a:off x="685850" y="1668750"/>
            <a:ext cx="5208876" cy="4081625"/>
          </a:xfrm>
          <a:prstGeom prst="rect">
            <a:avLst/>
          </a:prstGeom>
          <a:noFill/>
          <a:ln>
            <a:noFill/>
          </a:ln>
        </p:spPr>
      </p:pic>
      <p:sp>
        <p:nvSpPr>
          <p:cNvPr id="322" name="Google Shape;322;g329f009d034_4_58"/>
          <p:cNvSpPr txBox="1"/>
          <p:nvPr/>
        </p:nvSpPr>
        <p:spPr>
          <a:xfrm>
            <a:off x="685850" y="567400"/>
            <a:ext cx="4214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Wye </a:t>
            </a:r>
            <a:r>
              <a:rPr b="1" lang="en-GB" sz="2800">
                <a:solidFill>
                  <a:schemeClr val="dk1"/>
                </a:solidFill>
                <a:latin typeface="Times New Roman"/>
                <a:ea typeface="Times New Roman"/>
                <a:cs typeface="Times New Roman"/>
                <a:sym typeface="Times New Roman"/>
              </a:rPr>
              <a:t>to Delta </a:t>
            </a:r>
            <a:r>
              <a:rPr b="1" lang="en-GB" sz="2800">
                <a:solidFill>
                  <a:schemeClr val="dk1"/>
                </a:solidFill>
                <a:latin typeface="Times New Roman"/>
                <a:ea typeface="Times New Roman"/>
                <a:cs typeface="Times New Roman"/>
                <a:sym typeface="Times New Roman"/>
              </a:rPr>
              <a:t>Conversion:</a:t>
            </a:r>
            <a:endParaRPr b="0" i="0" sz="2800" u="none" cap="none" strike="noStrike">
              <a:solidFill>
                <a:schemeClr val="dk1"/>
              </a:solidFill>
              <a:latin typeface="Calibri"/>
              <a:ea typeface="Calibri"/>
              <a:cs typeface="Calibri"/>
              <a:sym typeface="Calibri"/>
            </a:endParaRPr>
          </a:p>
        </p:txBody>
      </p:sp>
      <p:pic>
        <p:nvPicPr>
          <p:cNvPr id="323" name="Google Shape;323;g329f009d034_4_58"/>
          <p:cNvPicPr preferRelativeResize="0"/>
          <p:nvPr/>
        </p:nvPicPr>
        <p:blipFill>
          <a:blip r:embed="rId4">
            <a:alphaModFix/>
          </a:blip>
          <a:stretch>
            <a:fillRect/>
          </a:stretch>
        </p:blipFill>
        <p:spPr>
          <a:xfrm>
            <a:off x="6150501" y="462575"/>
            <a:ext cx="5286375" cy="56197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g329f009d034_4_64"/>
          <p:cNvPicPr preferRelativeResize="0"/>
          <p:nvPr/>
        </p:nvPicPr>
        <p:blipFill>
          <a:blip r:embed="rId3">
            <a:alphaModFix/>
          </a:blip>
          <a:stretch>
            <a:fillRect/>
          </a:stretch>
        </p:blipFill>
        <p:spPr>
          <a:xfrm>
            <a:off x="6450650" y="393625"/>
            <a:ext cx="4762675" cy="3905849"/>
          </a:xfrm>
          <a:prstGeom prst="rect">
            <a:avLst/>
          </a:prstGeom>
          <a:noFill/>
          <a:ln>
            <a:noFill/>
          </a:ln>
        </p:spPr>
      </p:pic>
      <p:sp>
        <p:nvSpPr>
          <p:cNvPr id="329" name="Google Shape;329;g329f009d034_4_64"/>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Problem-11</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g329f009d034_4_69"/>
          <p:cNvPicPr preferRelativeResize="0"/>
          <p:nvPr/>
        </p:nvPicPr>
        <p:blipFill>
          <a:blip r:embed="rId3">
            <a:alphaModFix/>
          </a:blip>
          <a:stretch>
            <a:fillRect/>
          </a:stretch>
        </p:blipFill>
        <p:spPr>
          <a:xfrm>
            <a:off x="5890375" y="393625"/>
            <a:ext cx="3790450" cy="2266525"/>
          </a:xfrm>
          <a:prstGeom prst="rect">
            <a:avLst/>
          </a:prstGeom>
          <a:noFill/>
          <a:ln>
            <a:noFill/>
          </a:ln>
        </p:spPr>
      </p:pic>
      <p:sp>
        <p:nvSpPr>
          <p:cNvPr id="335" name="Google Shape;335;g329f009d034_4_69"/>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Problem-12</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g329f009d034_4_74"/>
          <p:cNvPicPr preferRelativeResize="0"/>
          <p:nvPr/>
        </p:nvPicPr>
        <p:blipFill>
          <a:blip r:embed="rId3">
            <a:alphaModFix/>
          </a:blip>
          <a:stretch>
            <a:fillRect/>
          </a:stretch>
        </p:blipFill>
        <p:spPr>
          <a:xfrm>
            <a:off x="445325" y="1190013"/>
            <a:ext cx="5744151" cy="4477976"/>
          </a:xfrm>
          <a:prstGeom prst="rect">
            <a:avLst/>
          </a:prstGeom>
          <a:noFill/>
          <a:ln>
            <a:noFill/>
          </a:ln>
        </p:spPr>
      </p:pic>
      <p:sp>
        <p:nvSpPr>
          <p:cNvPr id="341" name="Google Shape;341;g329f009d034_4_74"/>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Problem-13</a:t>
            </a:r>
            <a:endParaRPr b="0" i="0" sz="2800" u="none" cap="none" strike="noStrike">
              <a:solidFill>
                <a:schemeClr val="dk1"/>
              </a:solidFill>
              <a:latin typeface="Calibri"/>
              <a:ea typeface="Calibri"/>
              <a:cs typeface="Calibri"/>
              <a:sym typeface="Calibri"/>
            </a:endParaRPr>
          </a:p>
        </p:txBody>
      </p:sp>
      <p:pic>
        <p:nvPicPr>
          <p:cNvPr id="342" name="Google Shape;342;g329f009d034_4_74"/>
          <p:cNvPicPr preferRelativeResize="0"/>
          <p:nvPr/>
        </p:nvPicPr>
        <p:blipFill>
          <a:blip r:embed="rId4">
            <a:alphaModFix/>
          </a:blip>
          <a:stretch>
            <a:fillRect/>
          </a:stretch>
        </p:blipFill>
        <p:spPr>
          <a:xfrm>
            <a:off x="6775350" y="1922363"/>
            <a:ext cx="5083100" cy="3013301"/>
          </a:xfrm>
          <a:prstGeom prst="rect">
            <a:avLst/>
          </a:prstGeom>
          <a:noFill/>
          <a:ln>
            <a:noFill/>
          </a:ln>
        </p:spPr>
      </p:pic>
      <p:cxnSp>
        <p:nvCxnSpPr>
          <p:cNvPr id="343" name="Google Shape;343;g329f009d034_4_74"/>
          <p:cNvCxnSpPr/>
          <p:nvPr/>
        </p:nvCxnSpPr>
        <p:spPr>
          <a:xfrm>
            <a:off x="6344576" y="3549600"/>
            <a:ext cx="896100" cy="0"/>
          </a:xfrm>
          <a:prstGeom prst="straightConnector1">
            <a:avLst/>
          </a:prstGeom>
          <a:noFill/>
          <a:ln cap="flat" cmpd="sng" w="76200">
            <a:solidFill>
              <a:srgbClr val="FF0000"/>
            </a:solidFill>
            <a:prstDash val="solid"/>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29f009d034_4_81"/>
          <p:cNvSpPr txBox="1"/>
          <p:nvPr/>
        </p:nvSpPr>
        <p:spPr>
          <a:xfrm>
            <a:off x="685849" y="567400"/>
            <a:ext cx="5213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Problem-13 (Alternative way)</a:t>
            </a:r>
            <a:endParaRPr b="0" i="0" sz="2800" u="none" cap="none" strike="noStrike">
              <a:solidFill>
                <a:schemeClr val="dk1"/>
              </a:solidFill>
              <a:latin typeface="Calibri"/>
              <a:ea typeface="Calibri"/>
              <a:cs typeface="Calibri"/>
              <a:sym typeface="Calibri"/>
            </a:endParaRPr>
          </a:p>
        </p:txBody>
      </p:sp>
      <p:pic>
        <p:nvPicPr>
          <p:cNvPr id="349" name="Google Shape;349;g329f009d034_4_81"/>
          <p:cNvPicPr preferRelativeResize="0"/>
          <p:nvPr/>
        </p:nvPicPr>
        <p:blipFill>
          <a:blip r:embed="rId3">
            <a:alphaModFix/>
          </a:blip>
          <a:stretch>
            <a:fillRect/>
          </a:stretch>
        </p:blipFill>
        <p:spPr>
          <a:xfrm>
            <a:off x="445325" y="1190013"/>
            <a:ext cx="5744151" cy="4477976"/>
          </a:xfrm>
          <a:prstGeom prst="rect">
            <a:avLst/>
          </a:prstGeom>
          <a:noFill/>
          <a:ln>
            <a:noFill/>
          </a:ln>
        </p:spPr>
      </p:pic>
      <p:cxnSp>
        <p:nvCxnSpPr>
          <p:cNvPr id="350" name="Google Shape;350;g329f009d034_4_81"/>
          <p:cNvCxnSpPr/>
          <p:nvPr/>
        </p:nvCxnSpPr>
        <p:spPr>
          <a:xfrm>
            <a:off x="6103351" y="3549600"/>
            <a:ext cx="896100" cy="0"/>
          </a:xfrm>
          <a:prstGeom prst="straightConnector1">
            <a:avLst/>
          </a:prstGeom>
          <a:noFill/>
          <a:ln cap="flat" cmpd="sng" w="76200">
            <a:solidFill>
              <a:srgbClr val="FF0000"/>
            </a:solidFill>
            <a:prstDash val="solid"/>
            <a:round/>
            <a:headEnd len="med" w="med" type="none"/>
            <a:tailEnd len="med" w="med" type="triangle"/>
          </a:ln>
        </p:spPr>
      </p:cxnSp>
      <p:pic>
        <p:nvPicPr>
          <p:cNvPr id="351" name="Google Shape;351;g329f009d034_4_81"/>
          <p:cNvPicPr preferRelativeResize="0"/>
          <p:nvPr/>
        </p:nvPicPr>
        <p:blipFill>
          <a:blip r:embed="rId4">
            <a:alphaModFix/>
          </a:blip>
          <a:stretch>
            <a:fillRect/>
          </a:stretch>
        </p:blipFill>
        <p:spPr>
          <a:xfrm>
            <a:off x="7120100" y="1555675"/>
            <a:ext cx="4689274" cy="37466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id="356" name="Google Shape;356;g329f009d034_4_88"/>
          <p:cNvPicPr preferRelativeResize="0"/>
          <p:nvPr/>
        </p:nvPicPr>
        <p:blipFill>
          <a:blip r:embed="rId3">
            <a:alphaModFix/>
          </a:blip>
          <a:stretch>
            <a:fillRect/>
          </a:stretch>
        </p:blipFill>
        <p:spPr>
          <a:xfrm>
            <a:off x="6106025" y="548725"/>
            <a:ext cx="5249100" cy="3652650"/>
          </a:xfrm>
          <a:prstGeom prst="rect">
            <a:avLst/>
          </a:prstGeom>
          <a:noFill/>
          <a:ln>
            <a:noFill/>
          </a:ln>
        </p:spPr>
      </p:pic>
      <p:sp>
        <p:nvSpPr>
          <p:cNvPr id="357" name="Google Shape;357;g329f009d034_4_88"/>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Problem-14</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353871efd4_0_0"/>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Mesh Analysis:</a:t>
            </a:r>
            <a:endParaRPr b="1" i="0" sz="2800" u="none" cap="none" strike="noStrike">
              <a:solidFill>
                <a:schemeClr val="dk1"/>
              </a:solidFill>
              <a:latin typeface="Calibri"/>
              <a:ea typeface="Calibri"/>
              <a:cs typeface="Calibri"/>
              <a:sym typeface="Calibri"/>
            </a:endParaRPr>
          </a:p>
        </p:txBody>
      </p:sp>
      <p:sp>
        <p:nvSpPr>
          <p:cNvPr id="363" name="Google Shape;363;g3353871efd4_0_0"/>
          <p:cNvSpPr txBox="1"/>
          <p:nvPr/>
        </p:nvSpPr>
        <p:spPr>
          <a:xfrm>
            <a:off x="820450" y="1275975"/>
            <a:ext cx="105702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00">
                <a:solidFill>
                  <a:srgbClr val="3F3F3F"/>
                </a:solidFill>
                <a:latin typeface="Calibri"/>
                <a:ea typeface="Calibri"/>
                <a:cs typeface="Calibri"/>
                <a:sym typeface="Calibri"/>
              </a:rPr>
              <a:t>Steps:</a:t>
            </a:r>
            <a:endParaRPr b="1" sz="2400">
              <a:solidFill>
                <a:srgbClr val="3F3F3F"/>
              </a:solidFill>
              <a:latin typeface="Calibri"/>
              <a:ea typeface="Calibri"/>
              <a:cs typeface="Calibri"/>
              <a:sym typeface="Calibri"/>
            </a:endParaRPr>
          </a:p>
          <a:p>
            <a:pPr indent="-381000" lvl="0" marL="457200" rtl="0" algn="l">
              <a:spcBef>
                <a:spcPts val="0"/>
              </a:spcBef>
              <a:spcAft>
                <a:spcPts val="0"/>
              </a:spcAft>
              <a:buClr>
                <a:srgbClr val="3F3F3F"/>
              </a:buClr>
              <a:buSzPts val="2400"/>
              <a:buFont typeface="Calibri"/>
              <a:buAutoNum type="arabicPeriod"/>
            </a:pPr>
            <a:r>
              <a:rPr lang="en-GB" sz="2400">
                <a:solidFill>
                  <a:srgbClr val="3F3F3F"/>
                </a:solidFill>
                <a:latin typeface="Calibri"/>
                <a:ea typeface="Calibri"/>
                <a:cs typeface="Calibri"/>
                <a:sym typeface="Calibri"/>
              </a:rPr>
              <a:t>Identify all the mesh in the existing circuit</a:t>
            </a:r>
            <a:endParaRPr sz="2400">
              <a:solidFill>
                <a:srgbClr val="3F3F3F"/>
              </a:solidFill>
              <a:latin typeface="Calibri"/>
              <a:ea typeface="Calibri"/>
              <a:cs typeface="Calibri"/>
              <a:sym typeface="Calibri"/>
            </a:endParaRPr>
          </a:p>
          <a:p>
            <a:pPr indent="-381000" lvl="0" marL="457200" rtl="0" algn="l">
              <a:spcBef>
                <a:spcPts val="0"/>
              </a:spcBef>
              <a:spcAft>
                <a:spcPts val="0"/>
              </a:spcAft>
              <a:buClr>
                <a:srgbClr val="3F3F3F"/>
              </a:buClr>
              <a:buSzPts val="2400"/>
              <a:buFont typeface="Calibri"/>
              <a:buAutoNum type="arabicPeriod"/>
            </a:pPr>
            <a:r>
              <a:rPr lang="en-GB" sz="2400">
                <a:solidFill>
                  <a:srgbClr val="3F3F3F"/>
                </a:solidFill>
                <a:latin typeface="Calibri"/>
                <a:ea typeface="Calibri"/>
                <a:cs typeface="Calibri"/>
                <a:sym typeface="Calibri"/>
              </a:rPr>
              <a:t>Assign mesh currents in each mesh, i.e, i</a:t>
            </a:r>
            <a:r>
              <a:rPr baseline="-25000" lang="en-GB" sz="2400">
                <a:solidFill>
                  <a:srgbClr val="3F3F3F"/>
                </a:solidFill>
                <a:latin typeface="Calibri"/>
                <a:ea typeface="Calibri"/>
                <a:cs typeface="Calibri"/>
                <a:sym typeface="Calibri"/>
              </a:rPr>
              <a:t>1</a:t>
            </a:r>
            <a:r>
              <a:rPr lang="en-GB" sz="2400">
                <a:solidFill>
                  <a:srgbClr val="3F3F3F"/>
                </a:solidFill>
                <a:latin typeface="Calibri"/>
                <a:ea typeface="Calibri"/>
                <a:cs typeface="Calibri"/>
                <a:sym typeface="Calibri"/>
              </a:rPr>
              <a:t>, i</a:t>
            </a:r>
            <a:r>
              <a:rPr baseline="-25000" lang="en-GB" sz="2400">
                <a:solidFill>
                  <a:srgbClr val="3F3F3F"/>
                </a:solidFill>
                <a:latin typeface="Calibri"/>
                <a:ea typeface="Calibri"/>
                <a:cs typeface="Calibri"/>
                <a:sym typeface="Calibri"/>
              </a:rPr>
              <a:t>2</a:t>
            </a:r>
            <a:r>
              <a:rPr lang="en-GB" sz="2400">
                <a:solidFill>
                  <a:srgbClr val="3F3F3F"/>
                </a:solidFill>
                <a:latin typeface="Calibri"/>
                <a:ea typeface="Calibri"/>
                <a:cs typeface="Calibri"/>
                <a:sym typeface="Calibri"/>
              </a:rPr>
              <a:t>, i</a:t>
            </a:r>
            <a:r>
              <a:rPr baseline="-25000" lang="en-GB" sz="2400">
                <a:solidFill>
                  <a:srgbClr val="3F3F3F"/>
                </a:solidFill>
                <a:latin typeface="Calibri"/>
                <a:ea typeface="Calibri"/>
                <a:cs typeface="Calibri"/>
                <a:sym typeface="Calibri"/>
              </a:rPr>
              <a:t>3</a:t>
            </a:r>
            <a:r>
              <a:rPr lang="en-GB" sz="2400">
                <a:solidFill>
                  <a:srgbClr val="3F3F3F"/>
                </a:solidFill>
                <a:latin typeface="Calibri"/>
                <a:ea typeface="Calibri"/>
                <a:cs typeface="Calibri"/>
                <a:sym typeface="Calibri"/>
              </a:rPr>
              <a:t>…….i</a:t>
            </a:r>
            <a:r>
              <a:rPr baseline="-25000" lang="en-GB" sz="2400">
                <a:solidFill>
                  <a:srgbClr val="3F3F3F"/>
                </a:solidFill>
                <a:latin typeface="Calibri"/>
                <a:ea typeface="Calibri"/>
                <a:cs typeface="Calibri"/>
                <a:sym typeface="Calibri"/>
              </a:rPr>
              <a:t>n</a:t>
            </a:r>
            <a:endParaRPr sz="2400">
              <a:solidFill>
                <a:srgbClr val="3F3F3F"/>
              </a:solidFill>
              <a:latin typeface="Calibri"/>
              <a:ea typeface="Calibri"/>
              <a:cs typeface="Calibri"/>
              <a:sym typeface="Calibri"/>
            </a:endParaRPr>
          </a:p>
          <a:p>
            <a:pPr indent="-381000" lvl="0" marL="457200" rtl="0" algn="l">
              <a:spcBef>
                <a:spcPts val="0"/>
              </a:spcBef>
              <a:spcAft>
                <a:spcPts val="0"/>
              </a:spcAft>
              <a:buClr>
                <a:srgbClr val="3F3F3F"/>
              </a:buClr>
              <a:buSzPts val="2400"/>
              <a:buFont typeface="Calibri"/>
              <a:buAutoNum type="arabicPeriod"/>
            </a:pPr>
            <a:r>
              <a:rPr lang="en-GB" sz="2400">
                <a:solidFill>
                  <a:srgbClr val="3F3F3F"/>
                </a:solidFill>
                <a:latin typeface="Calibri"/>
                <a:ea typeface="Calibri"/>
                <a:cs typeface="Calibri"/>
                <a:sym typeface="Calibri"/>
              </a:rPr>
              <a:t>Apply KVL in each mesh</a:t>
            </a:r>
            <a:endParaRPr sz="2400">
              <a:solidFill>
                <a:srgbClr val="3F3F3F"/>
              </a:solidFill>
              <a:latin typeface="Calibri"/>
              <a:ea typeface="Calibri"/>
              <a:cs typeface="Calibri"/>
              <a:sym typeface="Calibri"/>
            </a:endParaRPr>
          </a:p>
          <a:p>
            <a:pPr indent="-381000" lvl="0" marL="457200" rtl="0" algn="l">
              <a:spcBef>
                <a:spcPts val="0"/>
              </a:spcBef>
              <a:spcAft>
                <a:spcPts val="0"/>
              </a:spcAft>
              <a:buClr>
                <a:srgbClr val="3F3F3F"/>
              </a:buClr>
              <a:buSzPts val="2400"/>
              <a:buFont typeface="Calibri"/>
              <a:buAutoNum type="arabicPeriod"/>
            </a:pPr>
            <a:r>
              <a:rPr lang="en-GB" sz="2400">
                <a:solidFill>
                  <a:srgbClr val="3F3F3F"/>
                </a:solidFill>
                <a:latin typeface="Calibri"/>
                <a:ea typeface="Calibri"/>
                <a:cs typeface="Calibri"/>
                <a:sym typeface="Calibri"/>
              </a:rPr>
              <a:t>Solve the equations</a:t>
            </a:r>
            <a:endParaRPr sz="2400">
              <a:solidFill>
                <a:srgbClr val="3F3F3F"/>
              </a:solidFill>
              <a:latin typeface="Calibri"/>
              <a:ea typeface="Calibri"/>
              <a:cs typeface="Calibri"/>
              <a:sym typeface="Calibri"/>
            </a:endParaRPr>
          </a:p>
          <a:p>
            <a:pPr indent="0" lvl="0" marL="0" rtl="0" algn="l">
              <a:spcBef>
                <a:spcPts val="0"/>
              </a:spcBef>
              <a:spcAft>
                <a:spcPts val="0"/>
              </a:spcAft>
              <a:buNone/>
            </a:pPr>
            <a:r>
              <a:t/>
            </a:r>
            <a:endParaRPr sz="2400">
              <a:solidFill>
                <a:srgbClr val="3F3F3F"/>
              </a:solidFill>
              <a:latin typeface="Calibri"/>
              <a:ea typeface="Calibri"/>
              <a:cs typeface="Calibri"/>
              <a:sym typeface="Calibri"/>
            </a:endParaRPr>
          </a:p>
          <a:p>
            <a:pPr indent="0" lvl="0" marL="0" rtl="0" algn="l">
              <a:spcBef>
                <a:spcPts val="0"/>
              </a:spcBef>
              <a:spcAft>
                <a:spcPts val="0"/>
              </a:spcAft>
              <a:buNone/>
            </a:pPr>
            <a:r>
              <a:t/>
            </a:r>
            <a:endParaRPr sz="2400">
              <a:solidFill>
                <a:srgbClr val="3F3F3F"/>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353871efd4_0_6"/>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Problem-15</a:t>
            </a:r>
            <a:endParaRPr b="0" i="0" sz="2800" u="none" cap="none" strike="noStrike">
              <a:solidFill>
                <a:schemeClr val="dk1"/>
              </a:solidFill>
              <a:latin typeface="Calibri"/>
              <a:ea typeface="Calibri"/>
              <a:cs typeface="Calibri"/>
              <a:sym typeface="Calibri"/>
            </a:endParaRPr>
          </a:p>
        </p:txBody>
      </p:sp>
      <p:pic>
        <p:nvPicPr>
          <p:cNvPr id="369" name="Google Shape;369;g3353871efd4_0_6"/>
          <p:cNvPicPr preferRelativeResize="0"/>
          <p:nvPr/>
        </p:nvPicPr>
        <p:blipFill>
          <a:blip r:embed="rId3">
            <a:alphaModFix/>
          </a:blip>
          <a:stretch>
            <a:fillRect/>
          </a:stretch>
        </p:blipFill>
        <p:spPr>
          <a:xfrm>
            <a:off x="6711750" y="915825"/>
            <a:ext cx="4392401" cy="33298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353871efd4_0_3"/>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Problem-16</a:t>
            </a:r>
            <a:endParaRPr b="0" i="0" sz="2800" u="none" cap="none" strike="noStrike">
              <a:solidFill>
                <a:schemeClr val="dk1"/>
              </a:solidFill>
              <a:latin typeface="Calibri"/>
              <a:ea typeface="Calibri"/>
              <a:cs typeface="Calibri"/>
              <a:sym typeface="Calibri"/>
            </a:endParaRPr>
          </a:p>
        </p:txBody>
      </p:sp>
      <p:pic>
        <p:nvPicPr>
          <p:cNvPr id="375" name="Google Shape;375;g3353871efd4_0_3"/>
          <p:cNvPicPr preferRelativeResize="0"/>
          <p:nvPr/>
        </p:nvPicPr>
        <p:blipFill>
          <a:blip r:embed="rId3">
            <a:alphaModFix/>
          </a:blip>
          <a:stretch>
            <a:fillRect/>
          </a:stretch>
        </p:blipFill>
        <p:spPr>
          <a:xfrm>
            <a:off x="5979675" y="1016525"/>
            <a:ext cx="4929175" cy="26213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g3353871efd4_0_17"/>
          <p:cNvPicPr preferRelativeResize="0"/>
          <p:nvPr/>
        </p:nvPicPr>
        <p:blipFill>
          <a:blip r:embed="rId3">
            <a:alphaModFix/>
          </a:blip>
          <a:stretch>
            <a:fillRect/>
          </a:stretch>
        </p:blipFill>
        <p:spPr>
          <a:xfrm>
            <a:off x="6130675" y="1133900"/>
            <a:ext cx="4902401" cy="3599425"/>
          </a:xfrm>
          <a:prstGeom prst="rect">
            <a:avLst/>
          </a:prstGeom>
          <a:noFill/>
          <a:ln>
            <a:noFill/>
          </a:ln>
        </p:spPr>
      </p:pic>
      <p:sp>
        <p:nvSpPr>
          <p:cNvPr id="381" name="Google Shape;381;g3353871efd4_0_17"/>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Problem-17</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g3353871efd4_0_23"/>
          <p:cNvPicPr preferRelativeResize="0"/>
          <p:nvPr/>
        </p:nvPicPr>
        <p:blipFill>
          <a:blip r:embed="rId3">
            <a:alphaModFix/>
          </a:blip>
          <a:stretch>
            <a:fillRect/>
          </a:stretch>
        </p:blipFill>
        <p:spPr>
          <a:xfrm>
            <a:off x="6003725" y="1297475"/>
            <a:ext cx="4886325" cy="2028825"/>
          </a:xfrm>
          <a:prstGeom prst="rect">
            <a:avLst/>
          </a:prstGeom>
          <a:noFill/>
          <a:ln>
            <a:noFill/>
          </a:ln>
        </p:spPr>
      </p:pic>
      <p:sp>
        <p:nvSpPr>
          <p:cNvPr id="387" name="Google Shape;387;g3353871efd4_0_23"/>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Problem-18</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g3353871efd4_0_28"/>
          <p:cNvPicPr preferRelativeResize="0"/>
          <p:nvPr/>
        </p:nvPicPr>
        <p:blipFill>
          <a:blip r:embed="rId3">
            <a:alphaModFix/>
          </a:blip>
          <a:stretch>
            <a:fillRect/>
          </a:stretch>
        </p:blipFill>
        <p:spPr>
          <a:xfrm>
            <a:off x="6382350" y="1335225"/>
            <a:ext cx="4812324" cy="3051725"/>
          </a:xfrm>
          <a:prstGeom prst="rect">
            <a:avLst/>
          </a:prstGeom>
          <a:noFill/>
          <a:ln>
            <a:noFill/>
          </a:ln>
        </p:spPr>
      </p:pic>
      <p:sp>
        <p:nvSpPr>
          <p:cNvPr id="393" name="Google Shape;393;g3353871efd4_0_28"/>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Problem-19</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353871efd4_0_33"/>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Nodal </a:t>
            </a:r>
            <a:r>
              <a:rPr b="1" lang="en-GB" sz="2800">
                <a:solidFill>
                  <a:schemeClr val="dk1"/>
                </a:solidFill>
                <a:latin typeface="Times New Roman"/>
                <a:ea typeface="Times New Roman"/>
                <a:cs typeface="Times New Roman"/>
                <a:sym typeface="Times New Roman"/>
              </a:rPr>
              <a:t>Analysis:</a:t>
            </a:r>
            <a:endParaRPr b="1" i="0" sz="2800" u="none" cap="none" strike="noStrike">
              <a:solidFill>
                <a:schemeClr val="dk1"/>
              </a:solidFill>
              <a:latin typeface="Calibri"/>
              <a:ea typeface="Calibri"/>
              <a:cs typeface="Calibri"/>
              <a:sym typeface="Calibri"/>
            </a:endParaRPr>
          </a:p>
        </p:txBody>
      </p:sp>
      <p:pic>
        <p:nvPicPr>
          <p:cNvPr id="399" name="Google Shape;399;g3353871efd4_0_33"/>
          <p:cNvPicPr preferRelativeResize="0"/>
          <p:nvPr/>
        </p:nvPicPr>
        <p:blipFill>
          <a:blip r:embed="rId3">
            <a:alphaModFix/>
          </a:blip>
          <a:stretch>
            <a:fillRect/>
          </a:stretch>
        </p:blipFill>
        <p:spPr>
          <a:xfrm>
            <a:off x="685850" y="1142325"/>
            <a:ext cx="7174225" cy="31033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353871efd4_0_36"/>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Problem-20</a:t>
            </a:r>
            <a:endParaRPr b="0" i="0" sz="2800" u="none" cap="none" strike="noStrike">
              <a:solidFill>
                <a:schemeClr val="dk1"/>
              </a:solidFill>
              <a:latin typeface="Calibri"/>
              <a:ea typeface="Calibri"/>
              <a:cs typeface="Calibri"/>
              <a:sym typeface="Calibri"/>
            </a:endParaRPr>
          </a:p>
        </p:txBody>
      </p:sp>
      <p:pic>
        <p:nvPicPr>
          <p:cNvPr id="405" name="Google Shape;405;g3353871efd4_0_36"/>
          <p:cNvPicPr preferRelativeResize="0"/>
          <p:nvPr/>
        </p:nvPicPr>
        <p:blipFill>
          <a:blip r:embed="rId3">
            <a:alphaModFix/>
          </a:blip>
          <a:stretch>
            <a:fillRect/>
          </a:stretch>
        </p:blipFill>
        <p:spPr>
          <a:xfrm>
            <a:off x="6936025" y="932325"/>
            <a:ext cx="4265550" cy="35352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353871efd4_0_39"/>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Problem-21</a:t>
            </a:r>
            <a:endParaRPr b="0" i="0" sz="2800" u="none" cap="none" strike="noStrike">
              <a:solidFill>
                <a:schemeClr val="dk1"/>
              </a:solidFill>
              <a:latin typeface="Calibri"/>
              <a:ea typeface="Calibri"/>
              <a:cs typeface="Calibri"/>
              <a:sym typeface="Calibri"/>
            </a:endParaRPr>
          </a:p>
        </p:txBody>
      </p:sp>
      <p:pic>
        <p:nvPicPr>
          <p:cNvPr id="411" name="Google Shape;411;g3353871efd4_0_39"/>
          <p:cNvPicPr preferRelativeResize="0"/>
          <p:nvPr/>
        </p:nvPicPr>
        <p:blipFill>
          <a:blip r:embed="rId3">
            <a:alphaModFix/>
          </a:blip>
          <a:stretch>
            <a:fillRect/>
          </a:stretch>
        </p:blipFill>
        <p:spPr>
          <a:xfrm>
            <a:off x="6231350" y="777425"/>
            <a:ext cx="4980375" cy="24269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353871efd4_0_48"/>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Problem-22</a:t>
            </a:r>
            <a:endParaRPr b="0" i="0" sz="2800" u="none" cap="none" strike="noStrike">
              <a:solidFill>
                <a:schemeClr val="dk1"/>
              </a:solidFill>
              <a:latin typeface="Calibri"/>
              <a:ea typeface="Calibri"/>
              <a:cs typeface="Calibri"/>
              <a:sym typeface="Calibri"/>
            </a:endParaRPr>
          </a:p>
        </p:txBody>
      </p:sp>
      <p:pic>
        <p:nvPicPr>
          <p:cNvPr id="417" name="Google Shape;417;g3353871efd4_0_48"/>
          <p:cNvPicPr preferRelativeResize="0"/>
          <p:nvPr/>
        </p:nvPicPr>
        <p:blipFill>
          <a:blip r:embed="rId3">
            <a:alphaModFix/>
          </a:blip>
          <a:stretch>
            <a:fillRect/>
          </a:stretch>
        </p:blipFill>
        <p:spPr>
          <a:xfrm>
            <a:off x="6218750" y="1090600"/>
            <a:ext cx="5178125" cy="32316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353871efd4_0_53"/>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Problem-23</a:t>
            </a:r>
            <a:endParaRPr b="0" i="0" sz="2800" u="none" cap="none" strike="noStrike">
              <a:solidFill>
                <a:schemeClr val="dk1"/>
              </a:solidFill>
              <a:latin typeface="Calibri"/>
              <a:ea typeface="Calibri"/>
              <a:cs typeface="Calibri"/>
              <a:sym typeface="Calibri"/>
            </a:endParaRPr>
          </a:p>
        </p:txBody>
      </p:sp>
      <p:pic>
        <p:nvPicPr>
          <p:cNvPr id="423" name="Google Shape;423;g3353871efd4_0_53"/>
          <p:cNvPicPr preferRelativeResize="0"/>
          <p:nvPr/>
        </p:nvPicPr>
        <p:blipFill>
          <a:blip r:embed="rId3">
            <a:alphaModFix/>
          </a:blip>
          <a:stretch>
            <a:fillRect/>
          </a:stretch>
        </p:blipFill>
        <p:spPr>
          <a:xfrm>
            <a:off x="7074425" y="915850"/>
            <a:ext cx="4467150" cy="30326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353871efd4_0_58"/>
          <p:cNvSpPr txBox="1"/>
          <p:nvPr/>
        </p:nvSpPr>
        <p:spPr>
          <a:xfrm>
            <a:off x="685849" y="567400"/>
            <a:ext cx="3922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Superposition Theorem:</a:t>
            </a:r>
            <a:endParaRPr b="1" i="0" sz="2800" u="none" cap="none" strike="noStrike">
              <a:solidFill>
                <a:schemeClr val="dk1"/>
              </a:solidFill>
              <a:latin typeface="Calibri"/>
              <a:ea typeface="Calibri"/>
              <a:cs typeface="Calibri"/>
              <a:sym typeface="Calibri"/>
            </a:endParaRPr>
          </a:p>
        </p:txBody>
      </p:sp>
      <p:sp>
        <p:nvSpPr>
          <p:cNvPr id="429" name="Google Shape;429;g3353871efd4_0_58"/>
          <p:cNvSpPr txBox="1"/>
          <p:nvPr/>
        </p:nvSpPr>
        <p:spPr>
          <a:xfrm>
            <a:off x="744925" y="1351475"/>
            <a:ext cx="10721100" cy="1293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2400">
                <a:solidFill>
                  <a:srgbClr val="3F3F3F"/>
                </a:solidFill>
                <a:latin typeface="Calibri"/>
                <a:ea typeface="Calibri"/>
                <a:cs typeface="Calibri"/>
                <a:sym typeface="Calibri"/>
              </a:rPr>
              <a:t>The superposition principle states that the voltage across (or current through) an element in a linear circuit is the algebraic sum of the voltages across (or currents through) that element due to each independent source acting alone.</a:t>
            </a:r>
            <a:endParaRPr sz="2400">
              <a:solidFill>
                <a:srgbClr val="3F3F3F"/>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g3353871efd4_0_64"/>
          <p:cNvPicPr preferRelativeResize="0"/>
          <p:nvPr/>
        </p:nvPicPr>
        <p:blipFill>
          <a:blip r:embed="rId3">
            <a:alphaModFix/>
          </a:blip>
          <a:stretch>
            <a:fillRect/>
          </a:stretch>
        </p:blipFill>
        <p:spPr>
          <a:xfrm>
            <a:off x="5979675" y="1016525"/>
            <a:ext cx="4929175" cy="2621300"/>
          </a:xfrm>
          <a:prstGeom prst="rect">
            <a:avLst/>
          </a:prstGeom>
          <a:noFill/>
          <a:ln>
            <a:noFill/>
          </a:ln>
        </p:spPr>
      </p:pic>
      <p:sp>
        <p:nvSpPr>
          <p:cNvPr id="435" name="Google Shape;435;g3353871efd4_0_64"/>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Problem-24</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353871efd4_0_69"/>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Problem-25</a:t>
            </a:r>
            <a:endParaRPr b="0" i="0" sz="2800" u="none" cap="none" strike="noStrike">
              <a:solidFill>
                <a:schemeClr val="dk1"/>
              </a:solidFill>
              <a:latin typeface="Calibri"/>
              <a:ea typeface="Calibri"/>
              <a:cs typeface="Calibri"/>
              <a:sym typeface="Calibri"/>
            </a:endParaRPr>
          </a:p>
        </p:txBody>
      </p:sp>
      <p:pic>
        <p:nvPicPr>
          <p:cNvPr id="441" name="Google Shape;441;g3353871efd4_0_69"/>
          <p:cNvPicPr preferRelativeResize="0"/>
          <p:nvPr/>
        </p:nvPicPr>
        <p:blipFill>
          <a:blip r:embed="rId3">
            <a:alphaModFix/>
          </a:blip>
          <a:stretch>
            <a:fillRect/>
          </a:stretch>
        </p:blipFill>
        <p:spPr>
          <a:xfrm>
            <a:off x="6986350" y="1090600"/>
            <a:ext cx="4711924" cy="20969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g3353871efd4_0_74"/>
          <p:cNvPicPr preferRelativeResize="0"/>
          <p:nvPr/>
        </p:nvPicPr>
        <p:blipFill>
          <a:blip r:embed="rId3">
            <a:alphaModFix/>
          </a:blip>
          <a:stretch>
            <a:fillRect/>
          </a:stretch>
        </p:blipFill>
        <p:spPr>
          <a:xfrm>
            <a:off x="6256500" y="769000"/>
            <a:ext cx="5334199" cy="2288325"/>
          </a:xfrm>
          <a:prstGeom prst="rect">
            <a:avLst/>
          </a:prstGeom>
          <a:noFill/>
          <a:ln>
            <a:noFill/>
          </a:ln>
        </p:spPr>
      </p:pic>
      <p:sp>
        <p:nvSpPr>
          <p:cNvPr id="447" name="Google Shape;447;g3353871efd4_0_74"/>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Problem-26</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g3353871efd4_0_79"/>
          <p:cNvPicPr preferRelativeResize="0"/>
          <p:nvPr/>
        </p:nvPicPr>
        <p:blipFill>
          <a:blip r:embed="rId3">
            <a:alphaModFix/>
          </a:blip>
          <a:stretch>
            <a:fillRect/>
          </a:stretch>
        </p:blipFill>
        <p:spPr>
          <a:xfrm>
            <a:off x="7153750" y="1096150"/>
            <a:ext cx="4014600" cy="3262750"/>
          </a:xfrm>
          <a:prstGeom prst="rect">
            <a:avLst/>
          </a:prstGeom>
          <a:noFill/>
          <a:ln>
            <a:noFill/>
          </a:ln>
        </p:spPr>
      </p:pic>
      <p:sp>
        <p:nvSpPr>
          <p:cNvPr id="453" name="Google Shape;453;g3353871efd4_0_79"/>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Problem-27</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311a166263_0_0"/>
          <p:cNvSpPr txBox="1"/>
          <p:nvPr/>
        </p:nvSpPr>
        <p:spPr>
          <a:xfrm>
            <a:off x="537600" y="567400"/>
            <a:ext cx="11116800" cy="169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Source Transformation Theorem:</a:t>
            </a:r>
            <a:endParaRPr b="1" sz="2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lang="en-GB" sz="2400">
                <a:solidFill>
                  <a:schemeClr val="dk1"/>
                </a:solidFill>
                <a:latin typeface="Times New Roman"/>
                <a:ea typeface="Times New Roman"/>
                <a:cs typeface="Times New Roman"/>
                <a:sym typeface="Times New Roman"/>
              </a:rPr>
              <a:t>Any circuit consisting a voltage source with a series resistor can be converted into a current source with a parallel resistor and vice versa. </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1" sz="2800">
              <a:solidFill>
                <a:schemeClr val="dk1"/>
              </a:solidFill>
              <a:latin typeface="Times New Roman"/>
              <a:ea typeface="Times New Roman"/>
              <a:cs typeface="Times New Roman"/>
              <a:sym typeface="Times New Roman"/>
            </a:endParaRPr>
          </a:p>
        </p:txBody>
      </p:sp>
      <p:pic>
        <p:nvPicPr>
          <p:cNvPr id="459" name="Google Shape;459;g3311a166263_0_0"/>
          <p:cNvPicPr preferRelativeResize="0"/>
          <p:nvPr/>
        </p:nvPicPr>
        <p:blipFill>
          <a:blip r:embed="rId3">
            <a:alphaModFix/>
          </a:blip>
          <a:stretch>
            <a:fillRect/>
          </a:stretch>
        </p:blipFill>
        <p:spPr>
          <a:xfrm>
            <a:off x="2750650" y="2189050"/>
            <a:ext cx="6142425" cy="1783275"/>
          </a:xfrm>
          <a:prstGeom prst="rect">
            <a:avLst/>
          </a:prstGeom>
          <a:noFill/>
          <a:ln>
            <a:noFill/>
          </a:ln>
        </p:spPr>
      </p:pic>
      <p:pic>
        <p:nvPicPr>
          <p:cNvPr id="460" name="Google Shape;460;g3311a166263_0_0"/>
          <p:cNvPicPr preferRelativeResize="0"/>
          <p:nvPr/>
        </p:nvPicPr>
        <p:blipFill>
          <a:blip r:embed="rId4">
            <a:alphaModFix/>
          </a:blip>
          <a:stretch>
            <a:fillRect/>
          </a:stretch>
        </p:blipFill>
        <p:spPr>
          <a:xfrm>
            <a:off x="2654440" y="4285801"/>
            <a:ext cx="6238636" cy="16932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g3311a166263_0_5"/>
          <p:cNvPicPr preferRelativeResize="0"/>
          <p:nvPr/>
        </p:nvPicPr>
        <p:blipFill>
          <a:blip r:embed="rId3">
            <a:alphaModFix/>
          </a:blip>
          <a:stretch>
            <a:fillRect/>
          </a:stretch>
        </p:blipFill>
        <p:spPr>
          <a:xfrm>
            <a:off x="6312600" y="703475"/>
            <a:ext cx="5387851" cy="2312200"/>
          </a:xfrm>
          <a:prstGeom prst="rect">
            <a:avLst/>
          </a:prstGeom>
          <a:noFill/>
          <a:ln>
            <a:noFill/>
          </a:ln>
        </p:spPr>
      </p:pic>
      <p:sp>
        <p:nvSpPr>
          <p:cNvPr id="466" name="Google Shape;466;g3311a166263_0_5"/>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Problem-28</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311a166263_0_8"/>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Problem-29</a:t>
            </a:r>
            <a:endParaRPr b="0" i="0" sz="2800" u="none" cap="none" strike="noStrike">
              <a:solidFill>
                <a:schemeClr val="dk1"/>
              </a:solidFill>
              <a:latin typeface="Calibri"/>
              <a:ea typeface="Calibri"/>
              <a:cs typeface="Calibri"/>
              <a:sym typeface="Calibri"/>
            </a:endParaRPr>
          </a:p>
        </p:txBody>
      </p:sp>
      <p:pic>
        <p:nvPicPr>
          <p:cNvPr id="472" name="Google Shape;472;g3311a166263_0_8"/>
          <p:cNvPicPr preferRelativeResize="0"/>
          <p:nvPr/>
        </p:nvPicPr>
        <p:blipFill>
          <a:blip r:embed="rId3">
            <a:alphaModFix/>
          </a:blip>
          <a:stretch>
            <a:fillRect/>
          </a:stretch>
        </p:blipFill>
        <p:spPr>
          <a:xfrm>
            <a:off x="2739475" y="646000"/>
            <a:ext cx="7115175" cy="20669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3311a166263_0_16"/>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Problem-30</a:t>
            </a:r>
            <a:endParaRPr b="0" i="0" sz="2800" u="none" cap="none" strike="noStrike">
              <a:solidFill>
                <a:schemeClr val="dk1"/>
              </a:solidFill>
              <a:latin typeface="Calibri"/>
              <a:ea typeface="Calibri"/>
              <a:cs typeface="Calibri"/>
              <a:sym typeface="Calibri"/>
            </a:endParaRPr>
          </a:p>
        </p:txBody>
      </p:sp>
      <p:pic>
        <p:nvPicPr>
          <p:cNvPr id="478" name="Google Shape;478;g3311a166263_0_16"/>
          <p:cNvPicPr preferRelativeResize="0"/>
          <p:nvPr/>
        </p:nvPicPr>
        <p:blipFill>
          <a:blip r:embed="rId3">
            <a:alphaModFix/>
          </a:blip>
          <a:stretch>
            <a:fillRect/>
          </a:stretch>
        </p:blipFill>
        <p:spPr>
          <a:xfrm>
            <a:off x="6607850" y="645975"/>
            <a:ext cx="4638925" cy="29208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3311a166263_0_21"/>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Problem-31</a:t>
            </a:r>
            <a:endParaRPr b="0" i="0" sz="2800" u="none" cap="none" strike="noStrike">
              <a:solidFill>
                <a:schemeClr val="dk1"/>
              </a:solidFill>
              <a:latin typeface="Calibri"/>
              <a:ea typeface="Calibri"/>
              <a:cs typeface="Calibri"/>
              <a:sym typeface="Calibri"/>
            </a:endParaRPr>
          </a:p>
        </p:txBody>
      </p:sp>
      <p:pic>
        <p:nvPicPr>
          <p:cNvPr id="484" name="Google Shape;484;g3311a166263_0_21"/>
          <p:cNvPicPr preferRelativeResize="0"/>
          <p:nvPr/>
        </p:nvPicPr>
        <p:blipFill>
          <a:blip r:embed="rId3">
            <a:alphaModFix/>
          </a:blip>
          <a:stretch>
            <a:fillRect/>
          </a:stretch>
        </p:blipFill>
        <p:spPr>
          <a:xfrm>
            <a:off x="6260975" y="1090600"/>
            <a:ext cx="5195751" cy="20297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3311a166263_1_0"/>
          <p:cNvSpPr txBox="1"/>
          <p:nvPr/>
        </p:nvSpPr>
        <p:spPr>
          <a:xfrm>
            <a:off x="537600" y="567400"/>
            <a:ext cx="111168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Thevenin’s Theorem:</a:t>
            </a:r>
            <a:endParaRPr b="1" sz="2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1" sz="2800">
              <a:solidFill>
                <a:schemeClr val="dk1"/>
              </a:solidFill>
              <a:latin typeface="Times New Roman"/>
              <a:ea typeface="Times New Roman"/>
              <a:cs typeface="Times New Roman"/>
              <a:sym typeface="Times New Roman"/>
            </a:endParaRPr>
          </a:p>
        </p:txBody>
      </p:sp>
      <p:pic>
        <p:nvPicPr>
          <p:cNvPr id="490" name="Google Shape;490;g3311a166263_1_0"/>
          <p:cNvPicPr preferRelativeResize="0"/>
          <p:nvPr/>
        </p:nvPicPr>
        <p:blipFill>
          <a:blip r:embed="rId3">
            <a:alphaModFix/>
          </a:blip>
          <a:stretch>
            <a:fillRect/>
          </a:stretch>
        </p:blipFill>
        <p:spPr>
          <a:xfrm>
            <a:off x="1289275" y="1385150"/>
            <a:ext cx="9613451" cy="2096850"/>
          </a:xfrm>
          <a:prstGeom prst="rect">
            <a:avLst/>
          </a:prstGeom>
          <a:noFill/>
          <a:ln>
            <a:noFill/>
          </a:ln>
        </p:spPr>
      </p:pic>
      <p:pic>
        <p:nvPicPr>
          <p:cNvPr id="491" name="Google Shape;491;g3311a166263_1_0"/>
          <p:cNvPicPr preferRelativeResize="0"/>
          <p:nvPr/>
        </p:nvPicPr>
        <p:blipFill>
          <a:blip r:embed="rId4">
            <a:alphaModFix/>
          </a:blip>
          <a:stretch>
            <a:fillRect/>
          </a:stretch>
        </p:blipFill>
        <p:spPr>
          <a:xfrm>
            <a:off x="2617675" y="3893275"/>
            <a:ext cx="3387475" cy="1929825"/>
          </a:xfrm>
          <a:prstGeom prst="rect">
            <a:avLst/>
          </a:prstGeom>
          <a:noFill/>
          <a:ln>
            <a:noFill/>
          </a:ln>
        </p:spPr>
      </p:pic>
      <p:pic>
        <p:nvPicPr>
          <p:cNvPr id="492" name="Google Shape;492;g3311a166263_1_0"/>
          <p:cNvPicPr preferRelativeResize="0"/>
          <p:nvPr/>
        </p:nvPicPr>
        <p:blipFill>
          <a:blip r:embed="rId5">
            <a:alphaModFix/>
          </a:blip>
          <a:stretch>
            <a:fillRect/>
          </a:stretch>
        </p:blipFill>
        <p:spPr>
          <a:xfrm>
            <a:off x="6785175" y="3773875"/>
            <a:ext cx="3071144" cy="20968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g3311a166263_1_7"/>
          <p:cNvPicPr preferRelativeResize="0"/>
          <p:nvPr/>
        </p:nvPicPr>
        <p:blipFill>
          <a:blip r:embed="rId3">
            <a:alphaModFix/>
          </a:blip>
          <a:stretch>
            <a:fillRect/>
          </a:stretch>
        </p:blipFill>
        <p:spPr>
          <a:xfrm>
            <a:off x="6214375" y="795350"/>
            <a:ext cx="5134500" cy="2220325"/>
          </a:xfrm>
          <a:prstGeom prst="rect">
            <a:avLst/>
          </a:prstGeom>
          <a:noFill/>
          <a:ln>
            <a:noFill/>
          </a:ln>
        </p:spPr>
      </p:pic>
      <p:sp>
        <p:nvSpPr>
          <p:cNvPr id="498" name="Google Shape;498;g3311a166263_1_7"/>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Problem-32</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g3311a166263_1_10"/>
          <p:cNvPicPr preferRelativeResize="0"/>
          <p:nvPr/>
        </p:nvPicPr>
        <p:blipFill>
          <a:blip r:embed="rId3">
            <a:alphaModFix/>
          </a:blip>
          <a:stretch>
            <a:fillRect/>
          </a:stretch>
        </p:blipFill>
        <p:spPr>
          <a:xfrm>
            <a:off x="6122525" y="1090600"/>
            <a:ext cx="5305425" cy="2047875"/>
          </a:xfrm>
          <a:prstGeom prst="rect">
            <a:avLst/>
          </a:prstGeom>
          <a:noFill/>
          <a:ln>
            <a:noFill/>
          </a:ln>
        </p:spPr>
      </p:pic>
      <p:sp>
        <p:nvSpPr>
          <p:cNvPr id="504" name="Google Shape;504;g3311a166263_1_10"/>
          <p:cNvSpPr txBox="1"/>
          <p:nvPr/>
        </p:nvSpPr>
        <p:spPr>
          <a:xfrm>
            <a:off x="685852" y="567400"/>
            <a:ext cx="2956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Problem-33</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3311a166263_1_13"/>
          <p:cNvSpPr txBox="1"/>
          <p:nvPr/>
        </p:nvSpPr>
        <p:spPr>
          <a:xfrm>
            <a:off x="537600" y="567400"/>
            <a:ext cx="111168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chemeClr val="dk1"/>
                </a:solidFill>
                <a:latin typeface="Times New Roman"/>
                <a:ea typeface="Times New Roman"/>
                <a:cs typeface="Times New Roman"/>
                <a:sym typeface="Times New Roman"/>
              </a:rPr>
              <a:t>Maximum Power Transfer</a:t>
            </a:r>
            <a:r>
              <a:rPr b="1" lang="en-GB" sz="2800">
                <a:solidFill>
                  <a:schemeClr val="dk1"/>
                </a:solidFill>
                <a:latin typeface="Times New Roman"/>
                <a:ea typeface="Times New Roman"/>
                <a:cs typeface="Times New Roman"/>
                <a:sym typeface="Times New Roman"/>
              </a:rPr>
              <a:t> Theorem:</a:t>
            </a:r>
            <a:endParaRPr b="1" sz="28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1" sz="2800">
              <a:solidFill>
                <a:schemeClr val="dk1"/>
              </a:solidFill>
              <a:latin typeface="Times New Roman"/>
              <a:ea typeface="Times New Roman"/>
              <a:cs typeface="Times New Roman"/>
              <a:sym typeface="Times New Roman"/>
            </a:endParaRPr>
          </a:p>
        </p:txBody>
      </p:sp>
      <p:pic>
        <p:nvPicPr>
          <p:cNvPr id="510" name="Google Shape;510;g3311a166263_1_13"/>
          <p:cNvPicPr preferRelativeResize="0"/>
          <p:nvPr/>
        </p:nvPicPr>
        <p:blipFill>
          <a:blip r:embed="rId3">
            <a:alphaModFix/>
          </a:blip>
          <a:stretch>
            <a:fillRect/>
          </a:stretch>
        </p:blipFill>
        <p:spPr>
          <a:xfrm>
            <a:off x="957313" y="1201450"/>
            <a:ext cx="10277375" cy="1046279"/>
          </a:xfrm>
          <a:prstGeom prst="rect">
            <a:avLst/>
          </a:prstGeom>
          <a:noFill/>
          <a:ln>
            <a:noFill/>
          </a:ln>
        </p:spPr>
      </p:pic>
      <p:pic>
        <p:nvPicPr>
          <p:cNvPr id="511" name="Google Shape;511;g3311a166263_1_13"/>
          <p:cNvPicPr preferRelativeResize="0"/>
          <p:nvPr/>
        </p:nvPicPr>
        <p:blipFill>
          <a:blip r:embed="rId4">
            <a:alphaModFix/>
          </a:blip>
          <a:stretch>
            <a:fillRect/>
          </a:stretch>
        </p:blipFill>
        <p:spPr>
          <a:xfrm>
            <a:off x="4064053" y="2798149"/>
            <a:ext cx="4063925" cy="25596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id="516" name="Google Shape;516;g3311a166263_1_23"/>
          <p:cNvPicPr preferRelativeResize="0"/>
          <p:nvPr/>
        </p:nvPicPr>
        <p:blipFill>
          <a:blip r:embed="rId3">
            <a:alphaModFix/>
          </a:blip>
          <a:stretch>
            <a:fillRect/>
          </a:stretch>
        </p:blipFill>
        <p:spPr>
          <a:xfrm>
            <a:off x="5568400" y="611650"/>
            <a:ext cx="4228750" cy="1060300"/>
          </a:xfrm>
          <a:prstGeom prst="rect">
            <a:avLst/>
          </a:prstGeom>
          <a:noFill/>
          <a:ln>
            <a:noFill/>
          </a:ln>
        </p:spPr>
      </p:pic>
      <p:pic>
        <p:nvPicPr>
          <p:cNvPr id="517" name="Google Shape;517;g3311a166263_1_23"/>
          <p:cNvPicPr preferRelativeResize="0"/>
          <p:nvPr/>
        </p:nvPicPr>
        <p:blipFill>
          <a:blip r:embed="rId4">
            <a:alphaModFix/>
          </a:blip>
          <a:stretch>
            <a:fillRect/>
          </a:stretch>
        </p:blipFill>
        <p:spPr>
          <a:xfrm>
            <a:off x="5372978" y="1946800"/>
            <a:ext cx="5603925" cy="1987375"/>
          </a:xfrm>
          <a:prstGeom prst="rect">
            <a:avLst/>
          </a:prstGeom>
          <a:noFill/>
          <a:ln>
            <a:noFill/>
          </a:ln>
        </p:spPr>
      </p:pic>
      <p:pic>
        <p:nvPicPr>
          <p:cNvPr id="518" name="Google Shape;518;g3311a166263_1_23"/>
          <p:cNvPicPr preferRelativeResize="0"/>
          <p:nvPr/>
        </p:nvPicPr>
        <p:blipFill>
          <a:blip r:embed="rId5">
            <a:alphaModFix/>
          </a:blip>
          <a:stretch>
            <a:fillRect/>
          </a:stretch>
        </p:blipFill>
        <p:spPr>
          <a:xfrm>
            <a:off x="5372975" y="4071250"/>
            <a:ext cx="5526350" cy="580400"/>
          </a:xfrm>
          <a:prstGeom prst="rect">
            <a:avLst/>
          </a:prstGeom>
          <a:noFill/>
          <a:ln>
            <a:noFill/>
          </a:ln>
        </p:spPr>
      </p:pic>
      <p:pic>
        <p:nvPicPr>
          <p:cNvPr id="519" name="Google Shape;519;g3311a166263_1_23"/>
          <p:cNvPicPr preferRelativeResize="0"/>
          <p:nvPr/>
        </p:nvPicPr>
        <p:blipFill>
          <a:blip r:embed="rId6">
            <a:alphaModFix/>
          </a:blip>
          <a:stretch>
            <a:fillRect/>
          </a:stretch>
        </p:blipFill>
        <p:spPr>
          <a:xfrm>
            <a:off x="6711450" y="4651650"/>
            <a:ext cx="2381175" cy="1273650"/>
          </a:xfrm>
          <a:prstGeom prst="rect">
            <a:avLst/>
          </a:prstGeom>
          <a:noFill/>
          <a:ln>
            <a:noFill/>
          </a:ln>
        </p:spPr>
      </p:pic>
      <p:pic>
        <p:nvPicPr>
          <p:cNvPr id="520" name="Google Shape;520;g3311a166263_1_23"/>
          <p:cNvPicPr preferRelativeResize="0"/>
          <p:nvPr/>
        </p:nvPicPr>
        <p:blipFill>
          <a:blip r:embed="rId7">
            <a:alphaModFix/>
          </a:blip>
          <a:stretch>
            <a:fillRect/>
          </a:stretch>
        </p:blipFill>
        <p:spPr>
          <a:xfrm>
            <a:off x="1161575" y="2209800"/>
            <a:ext cx="3905250" cy="24384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524" name="Shape 524"/>
        <p:cNvGrpSpPr/>
        <p:nvPr/>
      </p:nvGrpSpPr>
      <p:grpSpPr>
        <a:xfrm>
          <a:off x="0" y="0"/>
          <a:ext cx="0" cy="0"/>
          <a:chOff x="0" y="0"/>
          <a:chExt cx="0" cy="0"/>
        </a:xfrm>
      </p:grpSpPr>
      <p:pic>
        <p:nvPicPr>
          <p:cNvPr descr="The Full Guide To Ending Your Presentation With Impact" id="525" name="Google Shape;525;p34"/>
          <p:cNvPicPr preferRelativeResize="0"/>
          <p:nvPr/>
        </p:nvPicPr>
        <p:blipFill rotWithShape="1">
          <a:blip r:embed="rId3">
            <a:alphaModFix/>
          </a:blip>
          <a:srcRect b="0" l="0" r="0" t="0"/>
          <a:stretch/>
        </p:blipFill>
        <p:spPr>
          <a:xfrm>
            <a:off x="1552606" y="873341"/>
            <a:ext cx="9086788" cy="511131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2023-09-20T17:45:06Z</dcterms:created>
  <dc:creator>Ferdous Islam Tanzid</dc:creator>
</cp:coreProperties>
</file>